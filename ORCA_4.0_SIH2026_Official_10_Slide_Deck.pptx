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ih_logo_extracted.png"/>
          <p:cNvPicPr>
            <a:picLocks noChangeAspect="1"/>
          </p:cNvPicPr>
          <p:nvPr/>
        </p:nvPicPr>
        <p:blipFill>
          <a:blip r:embed="rId2"/>
          <a:stretch>
            <a:fillRect/>
          </a:stretch>
        </p:blipFill>
        <p:spPr>
          <a:xfrm>
            <a:off x="9784080" y="18288"/>
            <a:ext cx="2249424" cy="1005840"/>
          </a:xfrm>
          <a:prstGeom prst="rect">
            <a:avLst/>
          </a:prstGeom>
        </p:spPr>
      </p:pic>
      <p:sp>
        <p:nvSpPr>
          <p:cNvPr id="4" name="TextBox 3"/>
          <p:cNvSpPr txBox="1"/>
          <p:nvPr/>
        </p:nvSpPr>
        <p:spPr>
          <a:xfrm>
            <a:off x="548640" y="137160"/>
            <a:ext cx="8961120" cy="777240"/>
          </a:xfrm>
          <a:prstGeom prst="rect">
            <a:avLst/>
          </a:prstGeom>
          <a:noFill/>
        </p:spPr>
        <p:txBody>
          <a:bodyPr wrap="none" lIns="0" rIns="0" tIns="0" bIns="0">
            <a:spAutoFit/>
          </a:bodyPr>
          <a:lstStyle/>
          <a:p>
            <a:pPr>
              <a:defRPr sz="2000" b="1">
                <a:solidFill>
                  <a:srgbClr val="0A2540"/>
                </a:solidFill>
                <a:latin typeface="Arial"/>
              </a:defRPr>
            </a:pPr>
            <a:r>
              <a:t>SMART INDIA HACKATHON 2026</a:t>
            </a:r>
          </a:p>
          <a:p>
            <a:pPr>
              <a:defRPr sz="1000" b="1">
                <a:solidFill>
                  <a:srgbClr val="0284C7"/>
                </a:solidFill>
                <a:latin typeface="Arial"/>
              </a:defRPr>
            </a:pPr>
            <a:r>
              <a:t>OFFICIAL IDEA PRESENTATION  ·  NATIONAL FINALS</a:t>
            </a:r>
          </a:p>
        </p:txBody>
      </p:sp>
      <p:sp>
        <p:nvSpPr>
          <p:cNvPr id="5" name="Rounded Rectangle 4"/>
          <p:cNvSpPr/>
          <p:nvPr/>
        </p:nvSpPr>
        <p:spPr>
          <a:xfrm>
            <a:off x="548640" y="1188720"/>
            <a:ext cx="53035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800"/>
              </a:spcAft>
              <a:defRPr b="1" sz="1050">
                <a:solidFill>
                  <a:srgbClr val="0A2540"/>
                </a:solidFill>
                <a:latin typeface="Arial"/>
              </a:defRPr>
            </a:pPr>
            <a:r>
              <a:t>PROPOSAL METADATA &amp; TEAM REGISTRATION</a:t>
            </a:r>
          </a:p>
          <a:p>
            <a:pPr>
              <a:spcAft>
                <a:spcPts val="500"/>
              </a:spcAft>
            </a:pPr>
            <a:r>
              <a:rPr b="1" sz="850">
                <a:solidFill>
                  <a:srgbClr val="0A2540"/>
                </a:solidFill>
                <a:latin typeface="Arial"/>
              </a:rPr>
              <a:t>Problem Statement ID:
</a:t>
            </a:r>
            <a:r>
              <a:rPr sz="950">
                <a:solidFill>
                  <a:srgbClr val="334155"/>
                </a:solidFill>
                <a:latin typeface="Arial"/>
              </a:rPr>
              <a:t>SIH26176</a:t>
            </a:r>
          </a:p>
          <a:p>
            <a:pPr>
              <a:spcAft>
                <a:spcPts val="500"/>
              </a:spcAft>
            </a:pPr>
            <a:r>
              <a:rPr b="1" sz="850">
                <a:solidFill>
                  <a:srgbClr val="0A2540"/>
                </a:solidFill>
                <a:latin typeface="Arial"/>
              </a:rPr>
              <a:t>Problem Statement Title:
</a:t>
            </a:r>
            <a:r>
              <a:rPr sz="950">
                <a:solidFill>
                  <a:srgbClr val="334155"/>
                </a:solidFill>
                <a:latin typeface="Arial"/>
              </a:rPr>
              <a:t>AI-Assisted Maritime Decision Intelligence &amp; Bio-Physical Safety Platform for Artisanal Fishermen &amp; Coastal Fleets</a:t>
            </a:r>
          </a:p>
          <a:p>
            <a:pPr>
              <a:spcAft>
                <a:spcPts val="500"/>
              </a:spcAft>
            </a:pPr>
            <a:r>
              <a:rPr b="1" sz="850">
                <a:solidFill>
                  <a:srgbClr val="0A2540"/>
                </a:solidFill>
                <a:latin typeface="Arial"/>
              </a:rPr>
              <a:t>Sponsoring Ministry:
</a:t>
            </a:r>
            <a:r>
              <a:rPr sz="950">
                <a:solidFill>
                  <a:srgbClr val="334155"/>
                </a:solidFill>
                <a:latin typeface="Arial"/>
              </a:rPr>
              <a:t>ISRO / Department of Space &amp; INCOIS</a:t>
            </a:r>
          </a:p>
          <a:p>
            <a:pPr>
              <a:spcAft>
                <a:spcPts val="500"/>
              </a:spcAft>
            </a:pPr>
            <a:r>
              <a:rPr b="1" sz="850">
                <a:solidFill>
                  <a:srgbClr val="0A2540"/>
                </a:solidFill>
                <a:latin typeface="Arial"/>
              </a:rPr>
              <a:t>Theme:
</a:t>
            </a:r>
            <a:r>
              <a:rPr sz="950">
                <a:solidFill>
                  <a:srgbClr val="334155"/>
                </a:solidFill>
                <a:latin typeface="Arial"/>
              </a:rPr>
              <a:t>Space Technology / Blue Economy / Disaster Management</a:t>
            </a:r>
          </a:p>
          <a:p>
            <a:pPr>
              <a:spcAft>
                <a:spcPts val="500"/>
              </a:spcAft>
            </a:pPr>
            <a:r>
              <a:rPr b="1" sz="850">
                <a:solidFill>
                  <a:srgbClr val="0A2540"/>
                </a:solidFill>
                <a:latin typeface="Arial"/>
              </a:rPr>
              <a:t>PS Category:
</a:t>
            </a:r>
            <a:r>
              <a:rPr sz="950">
                <a:solidFill>
                  <a:srgbClr val="334155"/>
                </a:solidFill>
                <a:latin typeface="Arial"/>
              </a:rPr>
              <a:t>Software (with Edge Hardware compatibility)</a:t>
            </a:r>
          </a:p>
          <a:p>
            <a:pPr>
              <a:spcAft>
                <a:spcPts val="500"/>
              </a:spcAft>
            </a:pPr>
            <a:r>
              <a:rPr b="1" sz="850">
                <a:solidFill>
                  <a:srgbClr val="0A2540"/>
                </a:solidFill>
                <a:latin typeface="Arial"/>
              </a:rPr>
              <a:t>Team ID / Registered Name:
</a:t>
            </a:r>
            <a:r>
              <a:rPr sz="950">
                <a:solidFill>
                  <a:srgbClr val="334155"/>
                </a:solidFill>
                <a:latin typeface="Arial"/>
              </a:rPr>
              <a:t>ORCA 4.0</a:t>
            </a:r>
          </a:p>
        </p:txBody>
      </p:sp>
      <p:sp>
        <p:nvSpPr>
          <p:cNvPr id="6" name="Rounded Rectangle 5"/>
          <p:cNvSpPr/>
          <p:nvPr/>
        </p:nvSpPr>
        <p:spPr>
          <a:xfrm>
            <a:off x="6035040" y="1188720"/>
            <a:ext cx="5605272" cy="5029200"/>
          </a:xfrm>
          <a:prstGeom prst="roundRect">
            <a:avLst/>
          </a:prstGeom>
          <a:solidFill>
            <a:srgbClr val="0A254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defRPr sz="950" b="1">
                <a:solidFill>
                  <a:srgbClr val="06B6D4"/>
                </a:solidFill>
                <a:latin typeface="Arial"/>
              </a:defRPr>
            </a:pPr>
            <a:r>
              <a:t>MARITIME DECISION OPERATING SYSTEM</a:t>
            </a:r>
          </a:p>
          <a:p>
            <a:pPr>
              <a:spcAft>
                <a:spcPts val="200"/>
              </a:spcAft>
              <a:defRPr sz="3600" b="1">
                <a:solidFill>
                  <a:srgbClr val="FFFFFF"/>
                </a:solidFill>
                <a:latin typeface="Arial"/>
              </a:defRPr>
            </a:pPr>
            <a:r>
              <a:t>ORCA 4.0</a:t>
            </a:r>
          </a:p>
          <a:p>
            <a:pPr>
              <a:spcAft>
                <a:spcPts val="600"/>
              </a:spcAft>
              <a:defRPr sz="1300" b="1">
                <a:solidFill>
                  <a:srgbClr val="38BDF8"/>
                </a:solidFill>
                <a:latin typeface="Arial"/>
              </a:defRPr>
            </a:pPr>
            <a:r>
              <a:t>“FROM OCEAN DATA TO SAFER DECISIONS”</a:t>
            </a:r>
          </a:p>
          <a:p>
            <a:pPr>
              <a:spcAft>
                <a:spcPts val="1000"/>
              </a:spcAft>
              <a:defRPr sz="950">
                <a:solidFill>
                  <a:srgbClr val="CBD5E1"/>
                </a:solidFill>
                <a:latin typeface="Arial"/>
              </a:defRPr>
            </a:pPr>
            <a:r>
              <a:t>Transforming fragmented satellite, wave &amp; atmospheric telemetry into deterministic, vessel-aware voyage safety decisions.</a:t>
            </a:r>
          </a:p>
          <a:p>
            <a:pPr>
              <a:defRPr sz="850" b="1">
                <a:solidFill>
                  <a:srgbClr val="10B981"/>
                </a:solidFill>
                <a:latin typeface="Arial"/>
              </a:defRPr>
            </a:pPr>
            <a:r>
              <a:t>CORE DECISION CHAIN:</a:t>
            </a:r>
          </a:p>
          <a:p>
            <a:pPr>
              <a:spcAft>
                <a:spcPts val="1000"/>
              </a:spcAft>
              <a:defRPr sz="800" b="1">
                <a:solidFill>
                  <a:srgbClr val="FFFFFF"/>
                </a:solidFill>
                <a:latin typeface="Arial"/>
              </a:defRPr>
            </a:pPr>
            <a:r>
              <a:t>OCEAN  ➔  WEATHER  ➔  VESSEL  ➔  ROUTE  ➔  ORCA  ➔  RISK  ➔  DECISION</a:t>
            </a:r>
          </a:p>
          <a:p>
            <a:pPr>
              <a:spcAft>
                <a:spcPts val="400"/>
              </a:spcAft>
            </a:pPr>
            <a:r>
              <a:rPr b="1" sz="900">
                <a:solidFill>
                  <a:srgbClr val="10B981"/>
                </a:solidFill>
                <a:latin typeface="Arial"/>
              </a:rPr>
              <a:t>🛡️ Deterministic Safety Shield: </a:t>
            </a:r>
            <a:r>
              <a:rPr sz="800">
                <a:solidFill>
                  <a:srgbClr val="CBD5E1"/>
                </a:solidFill>
                <a:latin typeface="Arial"/>
              </a:rPr>
              <a:t>Hard physical capsizing rules (Hcrit = 0.6·L) with zero AI hallucination risk</a:t>
            </a:r>
          </a:p>
          <a:p>
            <a:pPr>
              <a:spcAft>
                <a:spcPts val="400"/>
              </a:spcAft>
            </a:pPr>
            <a:r>
              <a:rPr b="1" sz="900">
                <a:solidFill>
                  <a:srgbClr val="38BDF8"/>
                </a:solidFill>
                <a:latin typeface="Arial"/>
              </a:rPr>
              <a:t>🚢 Parametric Vessel Twin: </a:t>
            </a:r>
            <a:r>
              <a:rPr sz="800">
                <a:solidFill>
                  <a:srgbClr val="CBD5E1"/>
                </a:solidFill>
                <a:latin typeface="Arial"/>
              </a:rPr>
              <a:t>Dynamic wave-vessel encounter physics tailored to hull length, draft &amp; beam</a:t>
            </a:r>
          </a:p>
          <a:p>
            <a:pPr>
              <a:spcAft>
                <a:spcPts val="400"/>
              </a:spcAft>
            </a:pPr>
            <a:r>
              <a:rPr b="1" sz="900">
                <a:solidFill>
                  <a:srgbClr val="D97706"/>
                </a:solidFill>
                <a:latin typeface="Arial"/>
              </a:rPr>
              <a:t>📻 Multi-Hop LoRa Mesh: </a:t>
            </a:r>
            <a:r>
              <a:rPr sz="800">
                <a:solidFill>
                  <a:srgbClr val="CBD5E1"/>
                </a:solidFill>
                <a:latin typeface="Arial"/>
              </a:rPr>
              <a:t>Overcomes 12 NM 4G blackout for zero-cost offshore telemetry up to 50 km</a:t>
            </a:r>
          </a:p>
        </p:txBody>
      </p:sp>
      <p:sp>
        <p:nvSpPr>
          <p:cNvPr id="7" name="Rectangle 6"/>
          <p:cNvSpPr/>
          <p:nvPr/>
        </p:nvSpPr>
        <p:spPr>
          <a:xfrm>
            <a:off x="0" y="6355080"/>
            <a:ext cx="12191695" cy="5029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0" y="6419088"/>
            <a:ext cx="3959352" cy="320040"/>
          </a:xfrm>
          <a:prstGeom prst="rect">
            <a:avLst/>
          </a:prstGeom>
          <a:noFill/>
        </p:spPr>
        <p:txBody>
          <a:bodyPr wrap="none">
            <a:spAutoFit/>
          </a:bodyPr>
          <a:lstStyle/>
          <a:p>
            <a:pPr algn="ctr">
              <a:defRPr sz="850">
                <a:solidFill>
                  <a:srgbClr val="64748B"/>
                </a:solidFill>
                <a:latin typeface="Arial"/>
              </a:defRPr>
            </a:pPr>
            <a:r>
              <a:t>@SIH Idea submission- Template  ·  ORCA 4.0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329184" y="164592"/>
            <a:ext cx="1234440" cy="658368"/>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sz="1100" b="1">
                <a:solidFill>
                  <a:srgbClr val="FFFFFF"/>
                </a:solidFill>
                <a:latin typeface="Arial"/>
              </a:defRPr>
            </a:pPr>
            <a:r>
              <a:t>ORCA 4.0</a:t>
            </a:r>
          </a:p>
        </p:txBody>
      </p:sp>
      <p:pic>
        <p:nvPicPr>
          <p:cNvPr id="3" name="Picture 2" descr="sih_logo_extracted.png"/>
          <p:cNvPicPr>
            <a:picLocks noChangeAspect="1"/>
          </p:cNvPicPr>
          <p:nvPr/>
        </p:nvPicPr>
        <p:blipFill>
          <a:blip r:embed="rId2"/>
          <a:stretch>
            <a:fillRect/>
          </a:stretch>
        </p:blipFill>
        <p:spPr>
          <a:xfrm>
            <a:off x="9784080" y="18288"/>
            <a:ext cx="2249424" cy="1005840"/>
          </a:xfrm>
          <a:prstGeom prst="rect">
            <a:avLst/>
          </a:prstGeom>
        </p:spPr>
      </p:pic>
      <p:sp>
        <p:nvSpPr>
          <p:cNvPr id="4" name="TextBox 3"/>
          <p:cNvSpPr txBox="1"/>
          <p:nvPr/>
        </p:nvSpPr>
        <p:spPr>
          <a:xfrm>
            <a:off x="1691640" y="91440"/>
            <a:ext cx="8001000" cy="777240"/>
          </a:xfrm>
          <a:prstGeom prst="rect">
            <a:avLst/>
          </a:prstGeom>
          <a:noFill/>
        </p:spPr>
        <p:txBody>
          <a:bodyPr wrap="square" lIns="0" rIns="0" tIns="0" bIns="0">
            <a:spAutoFit/>
          </a:bodyPr>
          <a:lstStyle/>
          <a:p>
            <a:pPr>
              <a:defRPr sz="1700" b="1">
                <a:solidFill>
                  <a:srgbClr val="0A2540"/>
                </a:solidFill>
                <a:latin typeface="Arial"/>
              </a:defRPr>
            </a:pPr>
            <a:r>
              <a:t>“THE OCEAN IS FORECAST. THE VOYAGE IS NOT.”</a:t>
            </a:r>
          </a:p>
          <a:p>
            <a:pPr>
              <a:defRPr sz="900">
                <a:solidFill>
                  <a:srgbClr val="64748B"/>
                </a:solidFill>
                <a:latin typeface="Arial"/>
              </a:defRPr>
            </a:pPr>
            <a:r>
              <a:t>Marine data is heavily fragmented across agencies. Regional weather forecasts fail to answer: What should THIS vessel do right now?</a:t>
            </a:r>
          </a:p>
        </p:txBody>
      </p:sp>
      <p:sp>
        <p:nvSpPr>
          <p:cNvPr id="5" name="Rounded Rectangle 4"/>
          <p:cNvSpPr/>
          <p:nvPr/>
        </p:nvSpPr>
        <p:spPr>
          <a:xfrm>
            <a:off x="548640" y="877824"/>
            <a:ext cx="11091672" cy="25603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800" b="1">
                <a:solidFill>
                  <a:srgbClr val="0284C7"/>
                </a:solidFill>
                <a:latin typeface="Arial"/>
              </a:rPr>
              <a:t>02/10  ·  PROBLEM DISCOVERY    |    </a:t>
            </a:r>
            <a:r>
              <a:rPr sz="750" b="1">
                <a:solidFill>
                  <a:srgbClr val="64748B"/>
                </a:solidFill>
                <a:latin typeface="Arial"/>
              </a:rPr>
              <a:t>FLOW: </a:t>
            </a:r>
            <a:r>
              <a:rPr sz="750" b="0">
                <a:solidFill>
                  <a:srgbClr val="64748B"/>
                </a:solidFill>
                <a:latin typeface="Arial"/>
              </a:rPr>
              <a:t>OCEAN</a:t>
            </a:r>
            <a:r>
              <a:rPr sz="700">
                <a:solidFill>
                  <a:srgbClr val="64748B"/>
                </a:solidFill>
                <a:latin typeface="Arial"/>
              </a:rPr>
              <a:t> ➔ </a:t>
            </a:r>
            <a:r>
              <a:rPr sz="750" b="1">
                <a:solidFill>
                  <a:srgbClr val="0284C7"/>
                </a:solidFill>
                <a:latin typeface="Arial"/>
              </a:rPr>
              <a:t>WEATHER</a:t>
            </a:r>
            <a:r>
              <a:rPr sz="700">
                <a:solidFill>
                  <a:srgbClr val="64748B"/>
                </a:solidFill>
                <a:latin typeface="Arial"/>
              </a:rPr>
              <a:t> ➔ </a:t>
            </a:r>
            <a:r>
              <a:rPr sz="750" b="0">
                <a:solidFill>
                  <a:srgbClr val="64748B"/>
                </a:solidFill>
                <a:latin typeface="Arial"/>
              </a:rPr>
              <a:t>VESSEL</a:t>
            </a:r>
            <a:r>
              <a:rPr sz="700">
                <a:solidFill>
                  <a:srgbClr val="64748B"/>
                </a:solidFill>
                <a:latin typeface="Arial"/>
              </a:rPr>
              <a:t> ➔ </a:t>
            </a:r>
            <a:r>
              <a:rPr sz="750" b="0">
                <a:solidFill>
                  <a:srgbClr val="64748B"/>
                </a:solidFill>
                <a:latin typeface="Arial"/>
              </a:rPr>
              <a:t>ROUTE</a:t>
            </a:r>
            <a:r>
              <a:rPr sz="700">
                <a:solidFill>
                  <a:srgbClr val="64748B"/>
                </a:solidFill>
                <a:latin typeface="Arial"/>
              </a:rPr>
              <a:t> ➔ </a:t>
            </a:r>
            <a:r>
              <a:rPr sz="750" b="0">
                <a:solidFill>
                  <a:srgbClr val="64748B"/>
                </a:solidFill>
                <a:latin typeface="Arial"/>
              </a:rPr>
              <a:t>ORCA</a:t>
            </a:r>
            <a:r>
              <a:rPr sz="700">
                <a:solidFill>
                  <a:srgbClr val="64748B"/>
                </a:solidFill>
                <a:latin typeface="Arial"/>
              </a:rPr>
              <a:t> ➔ </a:t>
            </a:r>
            <a:r>
              <a:rPr sz="750" b="0">
                <a:solidFill>
                  <a:srgbClr val="64748B"/>
                </a:solidFill>
                <a:latin typeface="Arial"/>
              </a:rPr>
              <a:t>RISK</a:t>
            </a:r>
            <a:r>
              <a:rPr sz="700">
                <a:solidFill>
                  <a:srgbClr val="64748B"/>
                </a:solidFill>
                <a:latin typeface="Arial"/>
              </a:rPr>
              <a:t> ➔ </a:t>
            </a:r>
            <a:r>
              <a:rPr sz="750" b="0">
                <a:solidFill>
                  <a:srgbClr val="64748B"/>
                </a:solidFill>
                <a:latin typeface="Arial"/>
              </a:rPr>
              <a:t>DECISION</a:t>
            </a:r>
          </a:p>
        </p:txBody>
      </p:sp>
      <p:sp>
        <p:nvSpPr>
          <p:cNvPr id="6" name="Rectangle 5"/>
          <p:cNvSpPr/>
          <p:nvPr/>
        </p:nvSpPr>
        <p:spPr>
          <a:xfrm>
            <a:off x="0" y="6355080"/>
            <a:ext cx="12191695" cy="5029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0" y="6419088"/>
            <a:ext cx="3959352" cy="320040"/>
          </a:xfrm>
          <a:prstGeom prst="rect">
            <a:avLst/>
          </a:prstGeom>
          <a:noFill/>
        </p:spPr>
        <p:txBody>
          <a:bodyPr wrap="none" lIns="0" rIns="0" tIns="0" bIns="0">
            <a:spAutoFit/>
          </a:bodyPr>
          <a:lstStyle/>
          <a:p>
            <a:pPr algn="ctr">
              <a:defRPr sz="850">
                <a:solidFill>
                  <a:srgbClr val="64748B"/>
                </a:solidFill>
                <a:latin typeface="Arial"/>
              </a:defRPr>
            </a:pPr>
            <a:r>
              <a:t>@SIH Idea submission- Template  ·  ORCA 4.0</a:t>
            </a:r>
          </a:p>
        </p:txBody>
      </p:sp>
      <p:sp>
        <p:nvSpPr>
          <p:cNvPr id="8" name="TextBox 7"/>
          <p:cNvSpPr txBox="1"/>
          <p:nvPr/>
        </p:nvSpPr>
        <p:spPr>
          <a:xfrm>
            <a:off x="10058400" y="6419088"/>
            <a:ext cx="1554480" cy="320040"/>
          </a:xfrm>
          <a:prstGeom prst="rect">
            <a:avLst/>
          </a:prstGeom>
          <a:noFill/>
        </p:spPr>
        <p:txBody>
          <a:bodyPr wrap="none" lIns="0" rIns="0" tIns="0" bIns="0">
            <a:spAutoFit/>
          </a:bodyPr>
          <a:lstStyle/>
          <a:p>
            <a:pPr algn="r">
              <a:defRPr sz="900" b="1">
                <a:solidFill>
                  <a:srgbClr val="0A2540"/>
                </a:solidFill>
                <a:latin typeface="Arial"/>
              </a:defRPr>
            </a:pPr>
            <a:r>
              <a:t>2</a:t>
            </a:r>
          </a:p>
        </p:txBody>
      </p:sp>
      <p:sp>
        <p:nvSpPr>
          <p:cNvPr id="9" name="Rounded Rectangle 8"/>
          <p:cNvSpPr/>
          <p:nvPr/>
        </p:nvSpPr>
        <p:spPr>
          <a:xfrm>
            <a:off x="548640" y="1188720"/>
            <a:ext cx="11091672" cy="475488"/>
          </a:xfrm>
          <a:prstGeom prst="roundRect">
            <a:avLst/>
          </a:prstGeom>
          <a:solidFill>
            <a:srgbClr val="FFF1F2"/>
          </a:solidFill>
          <a:ln w="1270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b="1" sz="950">
                <a:solidFill>
                  <a:srgbClr val="E11D48"/>
                </a:solidFill>
                <a:latin typeface="Arial"/>
              </a:rPr>
              <a:t>THE FATAL DECISION GAP:  FORECAST ≠ OPERATIONAL RISK.  </a:t>
            </a:r>
            <a:r>
              <a:rPr sz="850">
                <a:solidFill>
                  <a:srgbClr val="0F172A"/>
                </a:solidFill>
                <a:latin typeface="Arial"/>
              </a:rPr>
              <a:t>General weather reports broadcast broad regional numbers (e.g. 'Waves 2.5m in South Arabian Sea'). They cannot calculate whether a 9m artisanal craft will capsize under beam-sea resonance on its specific waypoint track.</a:t>
            </a:r>
          </a:p>
        </p:txBody>
      </p:sp>
      <p:sp>
        <p:nvSpPr>
          <p:cNvPr id="10" name="Rounded Rectangle 9"/>
          <p:cNvSpPr/>
          <p:nvPr/>
        </p:nvSpPr>
        <p:spPr>
          <a:xfrm>
            <a:off x="548640" y="1719072"/>
            <a:ext cx="4389120" cy="4526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defRPr b="1" sz="1000">
                <a:solidFill>
                  <a:srgbClr val="0A2540"/>
                </a:solidFill>
                <a:latin typeface="Arial"/>
              </a:defRPr>
            </a:pPr>
            <a:r>
              <a:t>FRAGMENTED RAW DATA SILOS</a:t>
            </a:r>
          </a:p>
          <a:p>
            <a:pPr>
              <a:spcAft>
                <a:spcPts val="250"/>
              </a:spcAft>
            </a:pPr>
            <a:r>
              <a:rPr b="1" sz="800">
                <a:solidFill>
                  <a:srgbClr val="0284C7"/>
                </a:solidFill>
                <a:latin typeface="Arial"/>
              </a:rPr>
              <a:t>• 🌊 INCOIS Wave Spectrum: </a:t>
            </a:r>
            <a:r>
              <a:rPr sz="750">
                <a:solidFill>
                  <a:srgbClr val="334155"/>
                </a:solidFill>
                <a:latin typeface="Arial"/>
              </a:rPr>
              <a:t>Significant wave height (Hs), swell period (Tp), swell direction</a:t>
            </a:r>
          </a:p>
          <a:p>
            <a:pPr>
              <a:spcAft>
                <a:spcPts val="250"/>
              </a:spcAft>
            </a:pPr>
            <a:r>
              <a:rPr b="1" sz="800">
                <a:solidFill>
                  <a:srgbClr val="0284C7"/>
                </a:solidFill>
                <a:latin typeface="Arial"/>
              </a:rPr>
              <a:t>• 💨 IMD Weather &amp; Gusts: </a:t>
            </a:r>
            <a:r>
              <a:rPr sz="750">
                <a:solidFill>
                  <a:srgbClr val="334155"/>
                </a:solidFill>
                <a:latin typeface="Arial"/>
              </a:rPr>
              <a:t>Surface wind velocity, storm track vectors, cyclone alerts</a:t>
            </a:r>
          </a:p>
          <a:p>
            <a:pPr>
              <a:spcAft>
                <a:spcPts val="250"/>
              </a:spcAft>
            </a:pPr>
            <a:r>
              <a:rPr b="1" sz="800">
                <a:solidFill>
                  <a:srgbClr val="0284C7"/>
                </a:solidFill>
                <a:latin typeface="Arial"/>
              </a:rPr>
              <a:t>• 🛰️ ISRO / Copernicus SST: </a:t>
            </a:r>
            <a:r>
              <a:rPr sz="750">
                <a:solidFill>
                  <a:srgbClr val="334155"/>
                </a:solidFill>
                <a:latin typeface="Arial"/>
              </a:rPr>
              <a:t>Sea surface temperature gradients &amp; ocean color rasters</a:t>
            </a:r>
          </a:p>
          <a:p>
            <a:pPr>
              <a:spcAft>
                <a:spcPts val="250"/>
              </a:spcAft>
            </a:pPr>
            <a:r>
              <a:rPr b="1" sz="800">
                <a:solidFill>
                  <a:srgbClr val="0284C7"/>
                </a:solidFill>
                <a:latin typeface="Arial"/>
              </a:rPr>
              <a:t>• 🌊 Ocean Surface Currents: </a:t>
            </a:r>
            <a:r>
              <a:rPr sz="750">
                <a:solidFill>
                  <a:srgbClr val="334155"/>
                </a:solidFill>
                <a:latin typeface="Arial"/>
              </a:rPr>
              <a:t>Dynamic drift velocity (u, v) from oceanographic models</a:t>
            </a:r>
          </a:p>
          <a:p>
            <a:pPr>
              <a:spcAft>
                <a:spcPts val="250"/>
              </a:spcAft>
            </a:pPr>
            <a:r>
              <a:rPr b="1" sz="800">
                <a:solidFill>
                  <a:srgbClr val="0284C7"/>
                </a:solidFill>
                <a:latin typeface="Arial"/>
              </a:rPr>
              <a:t>• 📡 AIS Fleet Telemetry: </a:t>
            </a:r>
            <a:r>
              <a:rPr sz="750">
                <a:solidFill>
                  <a:srgbClr val="334155"/>
                </a:solidFill>
                <a:latin typeface="Arial"/>
              </a:rPr>
              <a:t>Real-time vessel positions, speeds &amp; collision vectors</a:t>
            </a:r>
          </a:p>
          <a:p>
            <a:pPr>
              <a:spcAft>
                <a:spcPts val="250"/>
              </a:spcAft>
            </a:pPr>
            <a:r>
              <a:rPr b="1" sz="800">
                <a:solidFill>
                  <a:srgbClr val="0284C7"/>
                </a:solidFill>
                <a:latin typeface="Arial"/>
              </a:rPr>
              <a:t>• 🚢 Vessel Physical Geometry: </a:t>
            </a:r>
            <a:r>
              <a:rPr sz="750">
                <a:solidFill>
                  <a:srgbClr val="334155"/>
                </a:solidFill>
                <a:latin typeface="Arial"/>
              </a:rPr>
              <a:t>Hull length (Lwl), draft, beam, engine power, freeboard</a:t>
            </a:r>
          </a:p>
          <a:p>
            <a:pPr>
              <a:spcAft>
                <a:spcPts val="250"/>
              </a:spcAft>
            </a:pPr>
            <a:r>
              <a:rPr b="1" sz="800">
                <a:solidFill>
                  <a:srgbClr val="0284C7"/>
                </a:solidFill>
                <a:latin typeface="Arial"/>
              </a:rPr>
              <a:t>• 🗺️ Planned Voyage Route: </a:t>
            </a:r>
            <a:r>
              <a:rPr sz="750">
                <a:solidFill>
                  <a:srgbClr val="334155"/>
                </a:solidFill>
                <a:latin typeface="Arial"/>
              </a:rPr>
              <a:t>Departure harbor, targeted fishing grounds &amp; arrival dock</a:t>
            </a:r>
          </a:p>
          <a:p>
            <a:pPr>
              <a:spcAft>
                <a:spcPts val="250"/>
              </a:spcAft>
            </a:pPr>
            <a:r>
              <a:rPr b="1" sz="800">
                <a:solidFill>
                  <a:srgbClr val="0284C7"/>
                </a:solidFill>
                <a:latin typeface="Arial"/>
              </a:rPr>
              <a:t>• 📻 Offshore Telemetry: </a:t>
            </a:r>
            <a:r>
              <a:rPr sz="750">
                <a:solidFill>
                  <a:srgbClr val="334155"/>
                </a:solidFill>
                <a:latin typeface="Arial"/>
              </a:rPr>
              <a:t>0% mobile connectivity beyond 12 NM territorial waters</a:t>
            </a:r>
          </a:p>
        </p:txBody>
      </p:sp>
      <p:sp>
        <p:nvSpPr>
          <p:cNvPr id="11" name="Rounded Rectangle 10"/>
          <p:cNvSpPr/>
          <p:nvPr/>
        </p:nvSpPr>
        <p:spPr>
          <a:xfrm>
            <a:off x="5120640" y="1719072"/>
            <a:ext cx="2926080" cy="4526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600"/>
              </a:spcAft>
              <a:defRPr b="1" sz="950">
                <a:solidFill>
                  <a:srgbClr val="E11D48"/>
                </a:solidFill>
                <a:latin typeface="Arial"/>
              </a:defRPr>
            </a:pPr>
            <a:r>
              <a:t>TODAY: MANUAL GUESSWORK</a:t>
            </a:r>
          </a:p>
          <a:p>
            <a:pPr>
              <a:spcAft>
                <a:spcPts val="500"/>
              </a:spcAft>
            </a:pPr>
            <a:r>
              <a:rPr b="1" sz="800">
                <a:solidFill>
                  <a:srgbClr val="0F172A"/>
                </a:solidFill>
                <a:latin typeface="Arial"/>
              </a:rPr>
              <a:t>1. Raw Weather Broadcast
</a:t>
            </a:r>
            <a:r>
              <a:rPr sz="750">
                <a:solidFill>
                  <a:srgbClr val="64748B"/>
                </a:solidFill>
                <a:latin typeface="Arial"/>
              </a:rPr>
              <a:t>SMS text or radio broadcast with generic regional numbers</a:t>
            </a:r>
          </a:p>
          <a:p>
            <a:pPr>
              <a:spcAft>
                <a:spcPts val="500"/>
              </a:spcAft>
            </a:pPr>
            <a:r>
              <a:rPr b="1" sz="800">
                <a:solidFill>
                  <a:srgbClr val="0F172A"/>
                </a:solidFill>
                <a:latin typeface="Arial"/>
              </a:rPr>
              <a:t>2. Zero Vessel Context
</a:t>
            </a:r>
            <a:r>
              <a:rPr sz="750">
                <a:solidFill>
                  <a:srgbClr val="64748B"/>
                </a:solidFill>
                <a:latin typeface="Arial"/>
              </a:rPr>
              <a:t>Identical warning sent to a 40m trawler and a 7m canoe</a:t>
            </a:r>
          </a:p>
          <a:p>
            <a:pPr>
              <a:spcAft>
                <a:spcPts val="500"/>
              </a:spcAft>
            </a:pPr>
            <a:r>
              <a:rPr b="1" sz="800">
                <a:solidFill>
                  <a:srgbClr val="0F172A"/>
                </a:solidFill>
                <a:latin typeface="Arial"/>
              </a:rPr>
              <a:t>3. Mental Interpretation
</a:t>
            </a:r>
            <a:r>
              <a:rPr sz="750">
                <a:solidFill>
                  <a:srgbClr val="64748B"/>
                </a:solidFill>
                <a:latin typeface="Arial"/>
              </a:rPr>
              <a:t>Fisherman forced to guess if boat can withstand sea state</a:t>
            </a:r>
          </a:p>
          <a:p>
            <a:pPr>
              <a:spcAft>
                <a:spcPts val="500"/>
              </a:spcAft>
            </a:pPr>
            <a:r>
              <a:rPr b="1" sz="800">
                <a:solidFill>
                  <a:srgbClr val="0F172A"/>
                </a:solidFill>
                <a:latin typeface="Arial"/>
              </a:rPr>
              <a:t>4. Offshore Blackout
</a:t>
            </a:r>
            <a:r>
              <a:rPr sz="750">
                <a:solidFill>
                  <a:srgbClr val="64748B"/>
                </a:solidFill>
                <a:latin typeface="Arial"/>
              </a:rPr>
              <a:t>Mobile data dies at 12 NM; crew blinded in open sea</a:t>
            </a:r>
          </a:p>
          <a:p>
            <a:pPr>
              <a:spcAft>
                <a:spcPts val="500"/>
              </a:spcAft>
            </a:pPr>
            <a:r>
              <a:rPr b="1" sz="800">
                <a:solidFill>
                  <a:srgbClr val="0F172A"/>
                </a:solidFill>
                <a:latin typeface="Arial"/>
              </a:rPr>
              <a:t>5. Preventable Accidents
</a:t>
            </a:r>
            <a:r>
              <a:rPr sz="750">
                <a:solidFill>
                  <a:srgbClr val="64748B"/>
                </a:solidFill>
                <a:latin typeface="Arial"/>
              </a:rPr>
              <a:t>Capsizings, blind fuel burn (₹45k Cr lost), search delays</a:t>
            </a:r>
          </a:p>
        </p:txBody>
      </p:sp>
      <p:sp>
        <p:nvSpPr>
          <p:cNvPr id="12" name="Rounded Rectangle 11"/>
          <p:cNvSpPr/>
          <p:nvPr/>
        </p:nvSpPr>
        <p:spPr>
          <a:xfrm>
            <a:off x="8229600" y="1719072"/>
            <a:ext cx="3410712" cy="452628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600"/>
              </a:spcAft>
              <a:defRPr b="1" sz="1000">
                <a:solidFill>
                  <a:srgbClr val="10B981"/>
                </a:solidFill>
                <a:latin typeface="Arial"/>
              </a:defRPr>
            </a:pPr>
            <a:r>
              <a:t>ORCA DECISION INTELLIGENCE</a:t>
            </a:r>
          </a:p>
          <a:p>
            <a:pPr>
              <a:spcAft>
                <a:spcPts val="500"/>
              </a:spcAft>
            </a:pPr>
            <a:r>
              <a:rPr b="1" sz="800">
                <a:solidFill>
                  <a:srgbClr val="0A2540"/>
                </a:solidFill>
                <a:latin typeface="Arial"/>
              </a:rPr>
              <a:t>✓ DATA CONTEXTUALIZATION
</a:t>
            </a:r>
            <a:r>
              <a:rPr sz="750">
                <a:solidFill>
                  <a:srgbClr val="334155"/>
                </a:solidFill>
                <a:latin typeface="Arial"/>
              </a:rPr>
              <a:t>Fuses 8 disparate feeds into a unified 0.083° H3 spatial world model.</a:t>
            </a:r>
          </a:p>
          <a:p>
            <a:pPr>
              <a:spcAft>
                <a:spcPts val="500"/>
              </a:spcAft>
            </a:pPr>
            <a:r>
              <a:rPr b="1" sz="800">
                <a:solidFill>
                  <a:srgbClr val="0A2540"/>
                </a:solidFill>
                <a:latin typeface="Arial"/>
              </a:rPr>
              <a:t>✓ VESSEL-AWARE PHYSICS
</a:t>
            </a:r>
            <a:r>
              <a:rPr sz="750">
                <a:solidFill>
                  <a:srgbClr val="334155"/>
                </a:solidFill>
                <a:latin typeface="Arial"/>
              </a:rPr>
              <a:t>Evaluates real-time wave encounter angle, period resonance &amp; critical capsizing height (Hcrit).</a:t>
            </a:r>
          </a:p>
          <a:p>
            <a:pPr>
              <a:spcAft>
                <a:spcPts val="500"/>
              </a:spcAft>
            </a:pPr>
            <a:r>
              <a:rPr b="1" sz="800">
                <a:solidFill>
                  <a:srgbClr val="0A2540"/>
                </a:solidFill>
                <a:latin typeface="Arial"/>
              </a:rPr>
              <a:t>✓ DYNAMIC ROUTE RISK
</a:t>
            </a:r>
            <a:r>
              <a:rPr sz="750">
                <a:solidFill>
                  <a:srgbClr val="334155"/>
                </a:solidFill>
                <a:latin typeface="Arial"/>
              </a:rPr>
              <a:t>Computes A* safe navigational path avoiding localized danger pockets.</a:t>
            </a:r>
          </a:p>
          <a:p>
            <a:pPr>
              <a:spcAft>
                <a:spcPts val="500"/>
              </a:spcAft>
            </a:pPr>
            <a:r>
              <a:rPr b="1" sz="800">
                <a:solidFill>
                  <a:srgbClr val="0A2540"/>
                </a:solidFill>
                <a:latin typeface="Arial"/>
              </a:rPr>
              <a:t>✓ ACTIONABLE VERDICT
</a:t>
            </a:r>
            <a:r>
              <a:rPr sz="750">
                <a:solidFill>
                  <a:srgbClr val="334155"/>
                </a:solidFill>
                <a:latin typeface="Arial"/>
              </a:rPr>
              <a:t>Plain-language vernacular voice advisory: GO, CAUTION, REROUTE or RETURN.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329184" y="164592"/>
            <a:ext cx="1234440" cy="658368"/>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sz="1100" b="1">
                <a:solidFill>
                  <a:srgbClr val="FFFFFF"/>
                </a:solidFill>
                <a:latin typeface="Arial"/>
              </a:defRPr>
            </a:pPr>
            <a:r>
              <a:t>ORCA 4.0</a:t>
            </a:r>
          </a:p>
        </p:txBody>
      </p:sp>
      <p:pic>
        <p:nvPicPr>
          <p:cNvPr id="3" name="Picture 2" descr="sih_logo_extracted.png"/>
          <p:cNvPicPr>
            <a:picLocks noChangeAspect="1"/>
          </p:cNvPicPr>
          <p:nvPr/>
        </p:nvPicPr>
        <p:blipFill>
          <a:blip r:embed="rId2"/>
          <a:stretch>
            <a:fillRect/>
          </a:stretch>
        </p:blipFill>
        <p:spPr>
          <a:xfrm>
            <a:off x="9784080" y="18288"/>
            <a:ext cx="2249424" cy="1005840"/>
          </a:xfrm>
          <a:prstGeom prst="rect">
            <a:avLst/>
          </a:prstGeom>
        </p:spPr>
      </p:pic>
      <p:sp>
        <p:nvSpPr>
          <p:cNvPr id="4" name="TextBox 3"/>
          <p:cNvSpPr txBox="1"/>
          <p:nvPr/>
        </p:nvSpPr>
        <p:spPr>
          <a:xfrm>
            <a:off x="1691640" y="91440"/>
            <a:ext cx="8001000" cy="777240"/>
          </a:xfrm>
          <a:prstGeom prst="rect">
            <a:avLst/>
          </a:prstGeom>
          <a:noFill/>
        </p:spPr>
        <p:txBody>
          <a:bodyPr wrap="square" lIns="0" rIns="0" tIns="0" bIns="0">
            <a:spAutoFit/>
          </a:bodyPr>
          <a:lstStyle/>
          <a:p>
            <a:pPr>
              <a:defRPr sz="1700" b="1">
                <a:solidFill>
                  <a:srgbClr val="0A2540"/>
                </a:solidFill>
                <a:latin typeface="Arial"/>
              </a:defRPr>
            </a:pPr>
            <a:r>
              <a:t>“ORCA TURNS SEA CONDITIONS INTO A VOYAGE DECISION”</a:t>
            </a:r>
          </a:p>
          <a:p>
            <a:pPr>
              <a:defRPr sz="900">
                <a:solidFill>
                  <a:srgbClr val="64748B"/>
                </a:solidFill>
                <a:latin typeface="Arial"/>
              </a:defRPr>
            </a:pPr>
            <a:r>
              <a:t>A unified decision layer that harmonizes raw environmental state, vessel digital twins, and dynamic risk routing.</a:t>
            </a:r>
          </a:p>
        </p:txBody>
      </p:sp>
      <p:sp>
        <p:nvSpPr>
          <p:cNvPr id="5" name="Rounded Rectangle 4"/>
          <p:cNvSpPr/>
          <p:nvPr/>
        </p:nvSpPr>
        <p:spPr>
          <a:xfrm>
            <a:off x="548640" y="877824"/>
            <a:ext cx="11091672" cy="25603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800" b="1">
                <a:solidFill>
                  <a:srgbClr val="0284C7"/>
                </a:solidFill>
                <a:latin typeface="Arial"/>
              </a:rPr>
              <a:t>03/10  ·  SOLUTION OVERVIEW    |    </a:t>
            </a:r>
            <a:r>
              <a:rPr sz="750" b="1">
                <a:solidFill>
                  <a:srgbClr val="64748B"/>
                </a:solidFill>
                <a:latin typeface="Arial"/>
              </a:rPr>
              <a:t>FLOW: </a:t>
            </a:r>
            <a:r>
              <a:rPr sz="750" b="0">
                <a:solidFill>
                  <a:srgbClr val="64748B"/>
                </a:solidFill>
                <a:latin typeface="Arial"/>
              </a:rPr>
              <a:t>OCEAN</a:t>
            </a:r>
            <a:r>
              <a:rPr sz="700">
                <a:solidFill>
                  <a:srgbClr val="64748B"/>
                </a:solidFill>
                <a:latin typeface="Arial"/>
              </a:rPr>
              <a:t> ➔ </a:t>
            </a:r>
            <a:r>
              <a:rPr sz="750" b="0">
                <a:solidFill>
                  <a:srgbClr val="64748B"/>
                </a:solidFill>
                <a:latin typeface="Arial"/>
              </a:rPr>
              <a:t>WEATHER</a:t>
            </a:r>
            <a:r>
              <a:rPr sz="700">
                <a:solidFill>
                  <a:srgbClr val="64748B"/>
                </a:solidFill>
                <a:latin typeface="Arial"/>
              </a:rPr>
              <a:t> ➔ </a:t>
            </a:r>
            <a:r>
              <a:rPr sz="750" b="1">
                <a:solidFill>
                  <a:srgbClr val="0284C7"/>
                </a:solidFill>
                <a:latin typeface="Arial"/>
              </a:rPr>
              <a:t>VESSEL</a:t>
            </a:r>
            <a:r>
              <a:rPr sz="700">
                <a:solidFill>
                  <a:srgbClr val="64748B"/>
                </a:solidFill>
                <a:latin typeface="Arial"/>
              </a:rPr>
              <a:t> ➔ </a:t>
            </a:r>
            <a:r>
              <a:rPr sz="750" b="0">
                <a:solidFill>
                  <a:srgbClr val="64748B"/>
                </a:solidFill>
                <a:latin typeface="Arial"/>
              </a:rPr>
              <a:t>ROUTE</a:t>
            </a:r>
            <a:r>
              <a:rPr sz="700">
                <a:solidFill>
                  <a:srgbClr val="64748B"/>
                </a:solidFill>
                <a:latin typeface="Arial"/>
              </a:rPr>
              <a:t> ➔ </a:t>
            </a:r>
            <a:r>
              <a:rPr sz="750" b="0">
                <a:solidFill>
                  <a:srgbClr val="64748B"/>
                </a:solidFill>
                <a:latin typeface="Arial"/>
              </a:rPr>
              <a:t>ORCA</a:t>
            </a:r>
            <a:r>
              <a:rPr sz="700">
                <a:solidFill>
                  <a:srgbClr val="64748B"/>
                </a:solidFill>
                <a:latin typeface="Arial"/>
              </a:rPr>
              <a:t> ➔ </a:t>
            </a:r>
            <a:r>
              <a:rPr sz="750" b="0">
                <a:solidFill>
                  <a:srgbClr val="64748B"/>
                </a:solidFill>
                <a:latin typeface="Arial"/>
              </a:rPr>
              <a:t>RISK</a:t>
            </a:r>
            <a:r>
              <a:rPr sz="700">
                <a:solidFill>
                  <a:srgbClr val="64748B"/>
                </a:solidFill>
                <a:latin typeface="Arial"/>
              </a:rPr>
              <a:t> ➔ </a:t>
            </a:r>
            <a:r>
              <a:rPr sz="750" b="0">
                <a:solidFill>
                  <a:srgbClr val="64748B"/>
                </a:solidFill>
                <a:latin typeface="Arial"/>
              </a:rPr>
              <a:t>DECISION</a:t>
            </a:r>
          </a:p>
        </p:txBody>
      </p:sp>
      <p:sp>
        <p:nvSpPr>
          <p:cNvPr id="6" name="Rectangle 5"/>
          <p:cNvSpPr/>
          <p:nvPr/>
        </p:nvSpPr>
        <p:spPr>
          <a:xfrm>
            <a:off x="0" y="6355080"/>
            <a:ext cx="12191695" cy="5029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0" y="6419088"/>
            <a:ext cx="3959352" cy="320040"/>
          </a:xfrm>
          <a:prstGeom prst="rect">
            <a:avLst/>
          </a:prstGeom>
          <a:noFill/>
        </p:spPr>
        <p:txBody>
          <a:bodyPr wrap="none" lIns="0" rIns="0" tIns="0" bIns="0">
            <a:spAutoFit/>
          </a:bodyPr>
          <a:lstStyle/>
          <a:p>
            <a:pPr algn="ctr">
              <a:defRPr sz="850">
                <a:solidFill>
                  <a:srgbClr val="64748B"/>
                </a:solidFill>
                <a:latin typeface="Arial"/>
              </a:defRPr>
            </a:pPr>
            <a:r>
              <a:t>@SIH Idea submission- Template  ·  ORCA 4.0</a:t>
            </a:r>
          </a:p>
        </p:txBody>
      </p:sp>
      <p:sp>
        <p:nvSpPr>
          <p:cNvPr id="8" name="TextBox 7"/>
          <p:cNvSpPr txBox="1"/>
          <p:nvPr/>
        </p:nvSpPr>
        <p:spPr>
          <a:xfrm>
            <a:off x="10058400" y="6419088"/>
            <a:ext cx="1554480" cy="320040"/>
          </a:xfrm>
          <a:prstGeom prst="rect">
            <a:avLst/>
          </a:prstGeom>
          <a:noFill/>
        </p:spPr>
        <p:txBody>
          <a:bodyPr wrap="none" lIns="0" rIns="0" tIns="0" bIns="0">
            <a:spAutoFit/>
          </a:bodyPr>
          <a:lstStyle/>
          <a:p>
            <a:pPr algn="r">
              <a:defRPr sz="900" b="1">
                <a:solidFill>
                  <a:srgbClr val="0A2540"/>
                </a:solidFill>
                <a:latin typeface="Arial"/>
              </a:defRPr>
            </a:pPr>
            <a:r>
              <a:t>3</a:t>
            </a:r>
          </a:p>
        </p:txBody>
      </p:sp>
      <p:sp>
        <p:nvSpPr>
          <p:cNvPr id="9" name="Rounded Rectangle 8"/>
          <p:cNvSpPr/>
          <p:nvPr/>
        </p:nvSpPr>
        <p:spPr>
          <a:xfrm>
            <a:off x="548640" y="1188720"/>
            <a:ext cx="2926080" cy="5074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defRPr b="1" sz="950">
                <a:solidFill>
                  <a:srgbClr val="0284C7"/>
                </a:solidFill>
                <a:latin typeface="Arial"/>
              </a:defRPr>
            </a:pPr>
            <a:r>
              <a:t>1. INCOMING DATA STREAMS</a:t>
            </a:r>
          </a:p>
          <a:p>
            <a:pPr>
              <a:spcAft>
                <a:spcPts val="350"/>
              </a:spcAft>
            </a:pPr>
            <a:r>
              <a:rPr b="1" sz="800">
                <a:solidFill>
                  <a:srgbClr val="0A2540"/>
                </a:solidFill>
                <a:latin typeface="Arial"/>
              </a:rPr>
              <a:t>• INCOIS ERDDAP
</a:t>
            </a:r>
            <a:r>
              <a:rPr sz="750">
                <a:solidFill>
                  <a:srgbClr val="64748B"/>
                </a:solidFill>
                <a:latin typeface="Arial"/>
              </a:rPr>
              <a:t>  Wave spectrum &amp; ocean currents</a:t>
            </a:r>
          </a:p>
          <a:p>
            <a:pPr>
              <a:spcAft>
                <a:spcPts val="350"/>
              </a:spcAft>
            </a:pPr>
            <a:r>
              <a:rPr b="1" sz="800">
                <a:solidFill>
                  <a:srgbClr val="0A2540"/>
                </a:solidFill>
                <a:latin typeface="Arial"/>
              </a:rPr>
              <a:t>• IMD Cyclone Feeds
</a:t>
            </a:r>
            <a:r>
              <a:rPr sz="750">
                <a:solidFill>
                  <a:srgbClr val="64748B"/>
                </a:solidFill>
                <a:latin typeface="Arial"/>
              </a:rPr>
              <a:t>  Storm alerts &amp; gust velocities</a:t>
            </a:r>
          </a:p>
          <a:p>
            <a:pPr>
              <a:spcAft>
                <a:spcPts val="350"/>
              </a:spcAft>
            </a:pPr>
            <a:r>
              <a:rPr b="1" sz="800">
                <a:solidFill>
                  <a:srgbClr val="0A2540"/>
                </a:solidFill>
                <a:latin typeface="Arial"/>
              </a:rPr>
              <a:t>• ISRO / MOSDAC
</a:t>
            </a:r>
            <a:r>
              <a:rPr sz="750">
                <a:solidFill>
                  <a:srgbClr val="64748B"/>
                </a:solidFill>
                <a:latin typeface="Arial"/>
              </a:rPr>
              <a:t>  Oceansat-3 &amp; INSAT-3DR SST</a:t>
            </a:r>
          </a:p>
          <a:p>
            <a:pPr>
              <a:spcAft>
                <a:spcPts val="350"/>
              </a:spcAft>
            </a:pPr>
            <a:r>
              <a:rPr b="1" sz="800">
                <a:solidFill>
                  <a:srgbClr val="0A2540"/>
                </a:solidFill>
                <a:latin typeface="Arial"/>
              </a:rPr>
              <a:t>• Copernicus CMEMS
</a:t>
            </a:r>
            <a:r>
              <a:rPr sz="750">
                <a:solidFill>
                  <a:srgbClr val="64748B"/>
                </a:solidFill>
                <a:latin typeface="Arial"/>
              </a:rPr>
              <a:t>  0.083° Physical Marine Models</a:t>
            </a:r>
          </a:p>
          <a:p>
            <a:pPr>
              <a:spcAft>
                <a:spcPts val="350"/>
              </a:spcAft>
            </a:pPr>
            <a:r>
              <a:rPr b="1" sz="800">
                <a:solidFill>
                  <a:srgbClr val="0A2540"/>
                </a:solidFill>
                <a:latin typeface="Arial"/>
              </a:rPr>
              <a:t>• AIS Transponders
</a:t>
            </a:r>
            <a:r>
              <a:rPr sz="750">
                <a:solidFill>
                  <a:srgbClr val="64748B"/>
                </a:solidFill>
                <a:latin typeface="Arial"/>
              </a:rPr>
              <a:t>  Fleet telemetry &amp; coordinates</a:t>
            </a:r>
          </a:p>
          <a:p>
            <a:pPr>
              <a:spcAft>
                <a:spcPts val="350"/>
              </a:spcAft>
            </a:pPr>
            <a:r>
              <a:rPr b="1" sz="800">
                <a:solidFill>
                  <a:srgbClr val="0A2540"/>
                </a:solidFill>
                <a:latin typeface="Arial"/>
              </a:rPr>
              <a:t>• Onboard NMEA
</a:t>
            </a:r>
            <a:r>
              <a:rPr sz="750">
                <a:solidFill>
                  <a:srgbClr val="64748B"/>
                </a:solidFill>
                <a:latin typeface="Arial"/>
              </a:rPr>
              <a:t>  Vessel GPS / IMU pitch-roll</a:t>
            </a:r>
          </a:p>
          <a:p>
            <a:pPr>
              <a:spcAft>
                <a:spcPts val="350"/>
              </a:spcAft>
            </a:pPr>
            <a:r>
              <a:rPr b="1" sz="800">
                <a:solidFill>
                  <a:srgbClr val="0A2540"/>
                </a:solidFill>
                <a:latin typeface="Arial"/>
              </a:rPr>
              <a:t>• Vessel Registry
</a:t>
            </a:r>
            <a:r>
              <a:rPr sz="750">
                <a:solidFill>
                  <a:srgbClr val="64748B"/>
                </a:solidFill>
                <a:latin typeface="Arial"/>
              </a:rPr>
              <a:t>  Hull length, beam, draft profile</a:t>
            </a:r>
          </a:p>
        </p:txBody>
      </p:sp>
      <p:sp>
        <p:nvSpPr>
          <p:cNvPr id="10" name="Rounded Rectangle 9"/>
          <p:cNvSpPr/>
          <p:nvPr/>
        </p:nvSpPr>
        <p:spPr>
          <a:xfrm>
            <a:off x="3657600" y="1188720"/>
            <a:ext cx="4754880" cy="5074920"/>
          </a:xfrm>
          <a:prstGeom prst="roundRect">
            <a:avLst/>
          </a:prstGeom>
          <a:solidFill>
            <a:srgbClr val="0A254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600"/>
              </a:spcAft>
              <a:defRPr b="1" sz="1100">
                <a:solidFill>
                  <a:srgbClr val="06B6D4"/>
                </a:solidFill>
                <a:latin typeface="Arial"/>
              </a:defRPr>
            </a:pPr>
            <a:r>
              <a:t>2. ORCA 4.0 DECISION ENGINE</a:t>
            </a:r>
          </a:p>
          <a:p>
            <a:pPr>
              <a:spcAft>
                <a:spcPts val="500"/>
              </a:spcAft>
            </a:pPr>
            <a:r>
              <a:rPr b="1" sz="850">
                <a:solidFill>
                  <a:srgbClr val="FFFFFF"/>
                </a:solidFill>
                <a:latin typeface="Arial"/>
              </a:rPr>
              <a:t>🌐 Environmental Digital State
</a:t>
            </a:r>
            <a:r>
              <a:rPr sz="750">
                <a:solidFill>
                  <a:srgbClr val="CBD5E1"/>
                </a:solidFill>
                <a:latin typeface="Arial"/>
              </a:rPr>
              <a:t>Continuous 0.083° spatial grid fusing wave height, period, wind &amp; thermal front gradients.</a:t>
            </a:r>
          </a:p>
          <a:p>
            <a:pPr>
              <a:spcAft>
                <a:spcPts val="500"/>
              </a:spcAft>
            </a:pPr>
            <a:r>
              <a:rPr b="1" sz="850">
                <a:solidFill>
                  <a:srgbClr val="FFFFFF"/>
                </a:solidFill>
                <a:latin typeface="Arial"/>
              </a:rPr>
              <a:t>🚢 Parametric Vessel Twin
</a:t>
            </a:r>
            <a:r>
              <a:rPr sz="750">
                <a:solidFill>
                  <a:srgbClr val="CBD5E1"/>
                </a:solidFill>
                <a:latin typeface="Arial"/>
              </a:rPr>
              <a:t>Dynamic hydrodynamics model computing critical capsizing wave height (Hcrit = 0.6 · Lhull).</a:t>
            </a:r>
          </a:p>
          <a:p>
            <a:pPr>
              <a:spcAft>
                <a:spcPts val="500"/>
              </a:spcAft>
            </a:pPr>
            <a:r>
              <a:rPr b="1" sz="850">
                <a:solidFill>
                  <a:srgbClr val="FFFFFF"/>
                </a:solidFill>
                <a:latin typeface="Arial"/>
              </a:rPr>
              <a:t>🛡️ Safety Circuit Breaker
</a:t>
            </a:r>
            <a:r>
              <a:rPr sz="750">
                <a:solidFill>
                  <a:srgbClr val="CBD5E1"/>
                </a:solidFill>
                <a:latin typeface="Arial"/>
              </a:rPr>
              <a:t>Non-bypassable deterministic rule gate (&lt;10ms) providing hard override on extreme sea states.</a:t>
            </a:r>
          </a:p>
          <a:p>
            <a:pPr>
              <a:spcAft>
                <a:spcPts val="500"/>
              </a:spcAft>
            </a:pPr>
            <a:r>
              <a:rPr b="1" sz="850">
                <a:solidFill>
                  <a:srgbClr val="FFFFFF"/>
                </a:solidFill>
                <a:latin typeface="Arial"/>
              </a:rPr>
              <a:t>🗺️ A* Dynamic Route Risk
</a:t>
            </a:r>
            <a:r>
              <a:rPr sz="750">
                <a:solidFill>
                  <a:srgbClr val="CBD5E1"/>
                </a:solidFill>
                <a:latin typeface="Arial"/>
              </a:rPr>
              <a:t>Navigational cost optimizer that routes around localized high-risk sea state pockets.</a:t>
            </a:r>
          </a:p>
          <a:p>
            <a:pPr>
              <a:spcAft>
                <a:spcPts val="500"/>
              </a:spcAft>
            </a:pPr>
            <a:r>
              <a:rPr b="1" sz="850">
                <a:solidFill>
                  <a:srgbClr val="FFFFFF"/>
                </a:solidFill>
                <a:latin typeface="Arial"/>
              </a:rPr>
              <a:t>🐟 Multi-Species HSI Matrix
</a:t>
            </a:r>
            <a:r>
              <a:rPr sz="750">
                <a:solidFill>
                  <a:srgbClr val="CBD5E1"/>
                </a:solidFill>
                <a:latin typeface="Arial"/>
              </a:rPr>
              <a:t>XGBoost machine learning predicting pelagic habitat suitability for maximum fishing yield.</a:t>
            </a:r>
          </a:p>
        </p:txBody>
      </p:sp>
      <p:sp>
        <p:nvSpPr>
          <p:cNvPr id="11" name="Rounded Rectangle 10"/>
          <p:cNvSpPr/>
          <p:nvPr/>
        </p:nvSpPr>
        <p:spPr>
          <a:xfrm>
            <a:off x="8595360" y="1188720"/>
            <a:ext cx="3044952" cy="5074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600"/>
              </a:spcAft>
              <a:defRPr b="1" sz="950">
                <a:solidFill>
                  <a:srgbClr val="10B981"/>
                </a:solidFill>
                <a:latin typeface="Arial"/>
              </a:defRPr>
            </a:pPr>
            <a:r>
              <a:t>3. OPERATIONAL OUTPUTS</a:t>
            </a:r>
          </a:p>
          <a:p>
            <a:pPr>
              <a:spcAft>
                <a:spcPts val="500"/>
              </a:spcAft>
            </a:pPr>
            <a:r>
              <a:rPr b="1" sz="800">
                <a:solidFill>
                  <a:srgbClr val="10B981"/>
                </a:solidFill>
                <a:latin typeface="Arial"/>
              </a:rPr>
              <a:t>🟢 GO / SAFE DEPARTURE
</a:t>
            </a:r>
            <a:r>
              <a:rPr sz="750">
                <a:solidFill>
                  <a:srgbClr val="0F172A"/>
                </a:solidFill>
                <a:latin typeface="Arial"/>
              </a:rPr>
              <a:t>Sea state within vessel stability limits. Direct optimal route clear.</a:t>
            </a:r>
          </a:p>
          <a:p>
            <a:pPr>
              <a:spcAft>
                <a:spcPts val="500"/>
              </a:spcAft>
            </a:pPr>
            <a:r>
              <a:rPr b="1" sz="800">
                <a:solidFill>
                  <a:srgbClr val="D97706"/>
                </a:solidFill>
                <a:latin typeface="Arial"/>
              </a:rPr>
              <a:t>🟡 CAUTION / REROUTE
</a:t>
            </a:r>
            <a:r>
              <a:rPr sz="750">
                <a:solidFill>
                  <a:srgbClr val="0F172A"/>
                </a:solidFill>
                <a:latin typeface="Arial"/>
              </a:rPr>
              <a:t>Localized wave danger detected. A* dynamic diversion generated.</a:t>
            </a:r>
          </a:p>
          <a:p>
            <a:pPr>
              <a:spcAft>
                <a:spcPts val="500"/>
              </a:spcAft>
            </a:pPr>
            <a:r>
              <a:rPr b="1" sz="800">
                <a:solidFill>
                  <a:srgbClr val="E11D48"/>
                </a:solidFill>
                <a:latin typeface="Arial"/>
              </a:rPr>
              <a:t>🔴 DANGER / STAY ASHORE
</a:t>
            </a:r>
            <a:r>
              <a:rPr sz="750">
                <a:solidFill>
                  <a:srgbClr val="0F172A"/>
                </a:solidFill>
                <a:latin typeface="Arial"/>
              </a:rPr>
              <a:t>Wave height exceeds Hcrit or active cyclone alert. Deterministic hard stop.</a:t>
            </a:r>
          </a:p>
          <a:p>
            <a:pPr>
              <a:spcAft>
                <a:spcPts val="300"/>
              </a:spcAft>
            </a:pPr>
            <a:r>
              <a:rPr b="1" sz="800">
                <a:solidFill>
                  <a:srgbClr val="0284C7"/>
                </a:solidFill>
                <a:latin typeface="Arial"/>
              </a:rPr>
              <a:t>📢 Vernacular Audio Advisory
</a:t>
            </a:r>
            <a:r>
              <a:rPr sz="750">
                <a:solidFill>
                  <a:srgbClr val="334155"/>
                </a:solidFill>
                <a:latin typeface="Arial"/>
              </a:rPr>
              <a:t>Structured JSON converted to natural voice in Tamil, Malayalam, Bengali, Telugu &amp; Hindi for non-literate crews.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329184" y="164592"/>
            <a:ext cx="1234440" cy="658368"/>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sz="1100" b="1">
                <a:solidFill>
                  <a:srgbClr val="FFFFFF"/>
                </a:solidFill>
                <a:latin typeface="Arial"/>
              </a:defRPr>
            </a:pPr>
            <a:r>
              <a:t>ORCA 4.0</a:t>
            </a:r>
          </a:p>
        </p:txBody>
      </p:sp>
      <p:pic>
        <p:nvPicPr>
          <p:cNvPr id="3" name="Picture 2" descr="sih_logo_extracted.png"/>
          <p:cNvPicPr>
            <a:picLocks noChangeAspect="1"/>
          </p:cNvPicPr>
          <p:nvPr/>
        </p:nvPicPr>
        <p:blipFill>
          <a:blip r:embed="rId2"/>
          <a:stretch>
            <a:fillRect/>
          </a:stretch>
        </p:blipFill>
        <p:spPr>
          <a:xfrm>
            <a:off x="9784080" y="18288"/>
            <a:ext cx="2249424" cy="1005840"/>
          </a:xfrm>
          <a:prstGeom prst="rect">
            <a:avLst/>
          </a:prstGeom>
        </p:spPr>
      </p:pic>
      <p:sp>
        <p:nvSpPr>
          <p:cNvPr id="4" name="TextBox 3"/>
          <p:cNvSpPr txBox="1"/>
          <p:nvPr/>
        </p:nvSpPr>
        <p:spPr>
          <a:xfrm>
            <a:off x="1691640" y="91440"/>
            <a:ext cx="8001000" cy="777240"/>
          </a:xfrm>
          <a:prstGeom prst="rect">
            <a:avLst/>
          </a:prstGeom>
          <a:noFill/>
        </p:spPr>
        <p:txBody>
          <a:bodyPr wrap="square" lIns="0" rIns="0" tIns="0" bIns="0">
            <a:spAutoFit/>
          </a:bodyPr>
          <a:lstStyle/>
          <a:p>
            <a:pPr>
              <a:defRPr sz="1700" b="1">
                <a:solidFill>
                  <a:srgbClr val="0A2540"/>
                </a:solidFill>
                <a:latin typeface="Arial"/>
              </a:defRPr>
            </a:pPr>
            <a:r>
              <a:t>“OTHERS SHOW THE SEA. ORCA UNDERSTANDS THE VOYAGE.”</a:t>
            </a:r>
          </a:p>
          <a:p>
            <a:pPr>
              <a:defRPr sz="900">
                <a:solidFill>
                  <a:srgbClr val="64748B"/>
                </a:solidFill>
                <a:latin typeface="Arial"/>
              </a:defRPr>
            </a:pPr>
            <a:r>
              <a:t>The fundamental difference is not collecting more weather data — it is injecting vessel context and deterministic physics.</a:t>
            </a:r>
          </a:p>
        </p:txBody>
      </p:sp>
      <p:sp>
        <p:nvSpPr>
          <p:cNvPr id="5" name="Rounded Rectangle 4"/>
          <p:cNvSpPr/>
          <p:nvPr/>
        </p:nvSpPr>
        <p:spPr>
          <a:xfrm>
            <a:off x="548640" y="877824"/>
            <a:ext cx="11091672" cy="25603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800" b="1">
                <a:solidFill>
                  <a:srgbClr val="0284C7"/>
                </a:solidFill>
                <a:latin typeface="Arial"/>
              </a:rPr>
              <a:t>04/10  ·  COMPETITIVE LANDSCAPE    |    </a:t>
            </a:r>
            <a:r>
              <a:rPr sz="750" b="1">
                <a:solidFill>
                  <a:srgbClr val="64748B"/>
                </a:solidFill>
                <a:latin typeface="Arial"/>
              </a:rPr>
              <a:t>FLOW: </a:t>
            </a:r>
            <a:r>
              <a:rPr sz="750" b="0">
                <a:solidFill>
                  <a:srgbClr val="64748B"/>
                </a:solidFill>
                <a:latin typeface="Arial"/>
              </a:rPr>
              <a:t>OCEAN</a:t>
            </a:r>
            <a:r>
              <a:rPr sz="700">
                <a:solidFill>
                  <a:srgbClr val="64748B"/>
                </a:solidFill>
                <a:latin typeface="Arial"/>
              </a:rPr>
              <a:t> ➔ </a:t>
            </a:r>
            <a:r>
              <a:rPr sz="750" b="0">
                <a:solidFill>
                  <a:srgbClr val="64748B"/>
                </a:solidFill>
                <a:latin typeface="Arial"/>
              </a:rPr>
              <a:t>WEATHER</a:t>
            </a:r>
            <a:r>
              <a:rPr sz="700">
                <a:solidFill>
                  <a:srgbClr val="64748B"/>
                </a:solidFill>
                <a:latin typeface="Arial"/>
              </a:rPr>
              <a:t> ➔ </a:t>
            </a:r>
            <a:r>
              <a:rPr sz="750" b="0">
                <a:solidFill>
                  <a:srgbClr val="64748B"/>
                </a:solidFill>
                <a:latin typeface="Arial"/>
              </a:rPr>
              <a:t>VESSEL</a:t>
            </a:r>
            <a:r>
              <a:rPr sz="700">
                <a:solidFill>
                  <a:srgbClr val="64748B"/>
                </a:solidFill>
                <a:latin typeface="Arial"/>
              </a:rPr>
              <a:t> ➔ </a:t>
            </a:r>
            <a:r>
              <a:rPr sz="750" b="1">
                <a:solidFill>
                  <a:srgbClr val="0284C7"/>
                </a:solidFill>
                <a:latin typeface="Arial"/>
              </a:rPr>
              <a:t>ROUTE</a:t>
            </a:r>
            <a:r>
              <a:rPr sz="700">
                <a:solidFill>
                  <a:srgbClr val="64748B"/>
                </a:solidFill>
                <a:latin typeface="Arial"/>
              </a:rPr>
              <a:t> ➔ </a:t>
            </a:r>
            <a:r>
              <a:rPr sz="750" b="0">
                <a:solidFill>
                  <a:srgbClr val="64748B"/>
                </a:solidFill>
                <a:latin typeface="Arial"/>
              </a:rPr>
              <a:t>ORCA</a:t>
            </a:r>
            <a:r>
              <a:rPr sz="700">
                <a:solidFill>
                  <a:srgbClr val="64748B"/>
                </a:solidFill>
                <a:latin typeface="Arial"/>
              </a:rPr>
              <a:t> ➔ </a:t>
            </a:r>
            <a:r>
              <a:rPr sz="750" b="0">
                <a:solidFill>
                  <a:srgbClr val="64748B"/>
                </a:solidFill>
                <a:latin typeface="Arial"/>
              </a:rPr>
              <a:t>RISK</a:t>
            </a:r>
            <a:r>
              <a:rPr sz="700">
                <a:solidFill>
                  <a:srgbClr val="64748B"/>
                </a:solidFill>
                <a:latin typeface="Arial"/>
              </a:rPr>
              <a:t> ➔ </a:t>
            </a:r>
            <a:r>
              <a:rPr sz="750" b="0">
                <a:solidFill>
                  <a:srgbClr val="64748B"/>
                </a:solidFill>
                <a:latin typeface="Arial"/>
              </a:rPr>
              <a:t>DECISION</a:t>
            </a:r>
          </a:p>
        </p:txBody>
      </p:sp>
      <p:sp>
        <p:nvSpPr>
          <p:cNvPr id="6" name="Rectangle 5"/>
          <p:cNvSpPr/>
          <p:nvPr/>
        </p:nvSpPr>
        <p:spPr>
          <a:xfrm>
            <a:off x="0" y="6355080"/>
            <a:ext cx="12191695" cy="5029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0" y="6419088"/>
            <a:ext cx="3959352" cy="320040"/>
          </a:xfrm>
          <a:prstGeom prst="rect">
            <a:avLst/>
          </a:prstGeom>
          <a:noFill/>
        </p:spPr>
        <p:txBody>
          <a:bodyPr wrap="none" lIns="0" rIns="0" tIns="0" bIns="0">
            <a:spAutoFit/>
          </a:bodyPr>
          <a:lstStyle/>
          <a:p>
            <a:pPr algn="ctr">
              <a:defRPr sz="850">
                <a:solidFill>
                  <a:srgbClr val="64748B"/>
                </a:solidFill>
                <a:latin typeface="Arial"/>
              </a:defRPr>
            </a:pPr>
            <a:r>
              <a:t>@SIH Idea submission- Template  ·  ORCA 4.0</a:t>
            </a:r>
          </a:p>
        </p:txBody>
      </p:sp>
      <p:sp>
        <p:nvSpPr>
          <p:cNvPr id="8" name="TextBox 7"/>
          <p:cNvSpPr txBox="1"/>
          <p:nvPr/>
        </p:nvSpPr>
        <p:spPr>
          <a:xfrm>
            <a:off x="10058400" y="6419088"/>
            <a:ext cx="1554480" cy="320040"/>
          </a:xfrm>
          <a:prstGeom prst="rect">
            <a:avLst/>
          </a:prstGeom>
          <a:noFill/>
        </p:spPr>
        <p:txBody>
          <a:bodyPr wrap="none" lIns="0" rIns="0" tIns="0" bIns="0">
            <a:spAutoFit/>
          </a:bodyPr>
          <a:lstStyle/>
          <a:p>
            <a:pPr algn="r">
              <a:defRPr sz="900" b="1">
                <a:solidFill>
                  <a:srgbClr val="0A2540"/>
                </a:solidFill>
                <a:latin typeface="Arial"/>
              </a:defRPr>
            </a:pPr>
            <a:r>
              <a:t>4</a:t>
            </a:r>
          </a:p>
        </p:txBody>
      </p:sp>
      <p:sp>
        <p:nvSpPr>
          <p:cNvPr id="9" name="Rounded Rectangle 8"/>
          <p:cNvSpPr/>
          <p:nvPr/>
        </p:nvSpPr>
        <p:spPr>
          <a:xfrm>
            <a:off x="548640" y="1188720"/>
            <a:ext cx="6949440" cy="5074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defRPr b="1" sz="1000">
                <a:solidFill>
                  <a:srgbClr val="0A2540"/>
                </a:solidFill>
                <a:latin typeface="Arial"/>
              </a:defRPr>
            </a:pPr>
            <a:r>
              <a:t>CAPABILITY EVALUATION MATRIX</a:t>
            </a:r>
          </a:p>
          <a:p>
            <a:pPr>
              <a:spcAft>
                <a:spcPts val="200"/>
              </a:spcAft>
            </a:pPr>
            <a:r>
              <a:rPr b="1" sz="750">
                <a:solidFill>
                  <a:srgbClr val="0A2540"/>
                </a:solidFill>
                <a:latin typeface="Arial"/>
              </a:rPr>
              <a:t>System Capability          </a:t>
            </a:r>
            <a:r>
              <a:rPr sz="700">
                <a:solidFill>
                  <a:srgbClr val="64748B"/>
                </a:solidFill>
                <a:latin typeface="Arial"/>
              </a:rPr>
              <a:t>Standard Weather Apps </a:t>
            </a:r>
            <a:r>
              <a:rPr sz="700">
                <a:solidFill>
                  <a:srgbClr val="64748B"/>
                </a:solidFill>
                <a:latin typeface="Arial"/>
              </a:rPr>
              <a:t>Marine Port Portals </a:t>
            </a:r>
            <a:r>
              <a:rPr b="1" sz="750">
                <a:solidFill>
                  <a:srgbClr val="0A2540"/>
                </a:solidFill>
                <a:latin typeface="Arial"/>
              </a:rPr>
              <a:t>ORCA 4.0 Platform</a:t>
            </a:r>
          </a:p>
          <a:p>
            <a:pPr>
              <a:spcAft>
                <a:spcPts val="200"/>
              </a:spcAft>
            </a:pPr>
            <a:r>
              <a:rPr b="0" sz="750">
                <a:solidFill>
                  <a:srgbClr val="0F172A"/>
                </a:solidFill>
                <a:latin typeface="Arial"/>
              </a:rPr>
              <a:t>Weather &amp; Wave Forecast    </a:t>
            </a:r>
            <a:r>
              <a:rPr sz="700">
                <a:solidFill>
                  <a:srgbClr val="64748B"/>
                </a:solidFill>
                <a:latin typeface="Arial"/>
              </a:rPr>
              <a:t>● Broad Regional   </a:t>
            </a:r>
            <a:r>
              <a:rPr sz="700">
                <a:solidFill>
                  <a:srgbClr val="64748B"/>
                </a:solidFill>
                <a:latin typeface="Arial"/>
              </a:rPr>
              <a:t>● Coarse Grid      </a:t>
            </a:r>
            <a:r>
              <a:rPr b="1" sz="750">
                <a:solidFill>
                  <a:srgbClr val="10B981"/>
                </a:solidFill>
                <a:latin typeface="Arial"/>
              </a:rPr>
              <a:t>✓ High-Res (0.083° H3)</a:t>
            </a:r>
          </a:p>
          <a:p>
            <a:pPr>
              <a:spcAft>
                <a:spcPts val="200"/>
              </a:spcAft>
            </a:pPr>
            <a:r>
              <a:rPr b="0" sz="750">
                <a:solidFill>
                  <a:srgbClr val="0F172A"/>
                </a:solidFill>
                <a:latin typeface="Arial"/>
              </a:rPr>
              <a:t>Cyclone &amp; Hazard Alerts    </a:t>
            </a:r>
            <a:r>
              <a:rPr sz="700">
                <a:solidFill>
                  <a:srgbClr val="64748B"/>
                </a:solidFill>
                <a:latin typeface="Arial"/>
              </a:rPr>
              <a:t>● Text / SMS Alert </a:t>
            </a:r>
            <a:r>
              <a:rPr sz="700">
                <a:solidFill>
                  <a:srgbClr val="64748B"/>
                </a:solidFill>
                <a:latin typeface="Arial"/>
              </a:rPr>
              <a:t>● Static Bulletin  </a:t>
            </a:r>
            <a:r>
              <a:rPr b="1" sz="750">
                <a:solidFill>
                  <a:srgbClr val="10B981"/>
                </a:solidFill>
                <a:latin typeface="Arial"/>
              </a:rPr>
              <a:t>✓ Realtime Geo-Fenced</a:t>
            </a:r>
          </a:p>
          <a:p>
            <a:pPr>
              <a:spcAft>
                <a:spcPts val="200"/>
              </a:spcAft>
            </a:pPr>
            <a:r>
              <a:rPr b="0" sz="750">
                <a:solidFill>
                  <a:srgbClr val="0F172A"/>
                </a:solidFill>
                <a:latin typeface="Arial"/>
              </a:rPr>
              <a:t>Vessel Hull &amp; Draft Context </a:t>
            </a:r>
            <a:r>
              <a:rPr sz="700">
                <a:solidFill>
                  <a:srgbClr val="E11D48"/>
                </a:solidFill>
                <a:latin typeface="Arial"/>
              </a:rPr>
              <a:t>— None (Ignored)   </a:t>
            </a:r>
            <a:r>
              <a:rPr sz="700">
                <a:solidFill>
                  <a:srgbClr val="E11D48"/>
                </a:solidFill>
                <a:latin typeface="Arial"/>
              </a:rPr>
              <a:t>— None (Ignored)   </a:t>
            </a:r>
            <a:r>
              <a:rPr b="1" sz="750">
                <a:solidFill>
                  <a:srgbClr val="10B981"/>
                </a:solidFill>
                <a:latin typeface="Arial"/>
              </a:rPr>
              <a:t>✓ Parametric Vessel Twin</a:t>
            </a:r>
          </a:p>
          <a:p>
            <a:pPr>
              <a:spcAft>
                <a:spcPts val="200"/>
              </a:spcAft>
            </a:pPr>
            <a:r>
              <a:rPr b="0" sz="750">
                <a:solidFill>
                  <a:srgbClr val="0F172A"/>
                </a:solidFill>
                <a:latin typeface="Arial"/>
              </a:rPr>
              <a:t>Wave-Vessel Dynamic Physics </a:t>
            </a:r>
            <a:r>
              <a:rPr sz="700">
                <a:solidFill>
                  <a:srgbClr val="E11D48"/>
                </a:solidFill>
                <a:latin typeface="Arial"/>
              </a:rPr>
              <a:t>— None             </a:t>
            </a:r>
            <a:r>
              <a:rPr sz="700">
                <a:solidFill>
                  <a:srgbClr val="E11D48"/>
                </a:solidFill>
                <a:latin typeface="Arial"/>
              </a:rPr>
              <a:t>— None             </a:t>
            </a:r>
            <a:r>
              <a:rPr b="1" sz="750">
                <a:solidFill>
                  <a:srgbClr val="10B981"/>
                </a:solidFill>
                <a:latin typeface="Arial"/>
              </a:rPr>
              <a:t>✓ Hcrit &amp; Resonance Math</a:t>
            </a:r>
          </a:p>
          <a:p>
            <a:pPr>
              <a:spcAft>
                <a:spcPts val="200"/>
              </a:spcAft>
            </a:pPr>
            <a:r>
              <a:rPr b="0" sz="750">
                <a:solidFill>
                  <a:srgbClr val="0F172A"/>
                </a:solidFill>
                <a:latin typeface="Arial"/>
              </a:rPr>
              <a:t>Dynamic Route Pathfinder   </a:t>
            </a:r>
            <a:r>
              <a:rPr sz="700">
                <a:solidFill>
                  <a:srgbClr val="E11D48"/>
                </a:solidFill>
                <a:latin typeface="Arial"/>
              </a:rPr>
              <a:t>— None (Straight Line) </a:t>
            </a:r>
            <a:r>
              <a:rPr sz="700">
                <a:solidFill>
                  <a:srgbClr val="E11D48"/>
                </a:solidFill>
                <a:latin typeface="Arial"/>
              </a:rPr>
              <a:t>— Fixed Port Lanes </a:t>
            </a:r>
            <a:r>
              <a:rPr b="1" sz="750">
                <a:solidFill>
                  <a:srgbClr val="10B981"/>
                </a:solidFill>
                <a:latin typeface="Arial"/>
              </a:rPr>
              <a:t>✓ A* Risk Cost Avoidance</a:t>
            </a:r>
          </a:p>
          <a:p>
            <a:pPr>
              <a:spcAft>
                <a:spcPts val="200"/>
              </a:spcAft>
            </a:pPr>
            <a:r>
              <a:rPr b="0" sz="750">
                <a:solidFill>
                  <a:srgbClr val="0F172A"/>
                </a:solidFill>
                <a:latin typeface="Arial"/>
              </a:rPr>
              <a:t>Deterministic Safety Guard </a:t>
            </a:r>
            <a:r>
              <a:rPr sz="700">
                <a:solidFill>
                  <a:srgbClr val="E11D48"/>
                </a:solidFill>
                <a:latin typeface="Arial"/>
              </a:rPr>
              <a:t>— None (Unverified) </a:t>
            </a:r>
            <a:r>
              <a:rPr sz="700">
                <a:solidFill>
                  <a:srgbClr val="E11D48"/>
                </a:solidFill>
                <a:latin typeface="Arial"/>
              </a:rPr>
              <a:t>— Manual Port Call </a:t>
            </a:r>
            <a:r>
              <a:rPr b="1" sz="750">
                <a:solidFill>
                  <a:srgbClr val="10B981"/>
                </a:solidFill>
                <a:latin typeface="Arial"/>
              </a:rPr>
              <a:t>✓ Hard Non-Bypassable Rule</a:t>
            </a:r>
          </a:p>
          <a:p>
            <a:pPr>
              <a:spcAft>
                <a:spcPts val="200"/>
              </a:spcAft>
            </a:pPr>
            <a:r>
              <a:rPr b="0" sz="750">
                <a:solidFill>
                  <a:srgbClr val="0F172A"/>
                </a:solidFill>
                <a:latin typeface="Arial"/>
              </a:rPr>
              <a:t>Multi-Species Habitat (PFZ) </a:t>
            </a:r>
            <a:r>
              <a:rPr sz="700">
                <a:solidFill>
                  <a:srgbClr val="E11D48"/>
                </a:solidFill>
                <a:latin typeface="Arial"/>
              </a:rPr>
              <a:t>— None             </a:t>
            </a:r>
            <a:r>
              <a:rPr sz="700">
                <a:solidFill>
                  <a:srgbClr val="64748B"/>
                </a:solidFill>
                <a:latin typeface="Arial"/>
              </a:rPr>
              <a:t>● Coarse PFZ Bulletin </a:t>
            </a:r>
            <a:r>
              <a:rPr b="1" sz="750">
                <a:solidFill>
                  <a:srgbClr val="10B981"/>
                </a:solidFill>
                <a:latin typeface="Arial"/>
              </a:rPr>
              <a:t>✓ XGBoost Habitat Matrix</a:t>
            </a:r>
          </a:p>
          <a:p>
            <a:pPr>
              <a:spcAft>
                <a:spcPts val="200"/>
              </a:spcAft>
            </a:pPr>
            <a:r>
              <a:rPr b="0" sz="750">
                <a:solidFill>
                  <a:srgbClr val="0F172A"/>
                </a:solidFill>
                <a:latin typeface="Arial"/>
              </a:rPr>
              <a:t>Offshore Reach Beyond 12 NM </a:t>
            </a:r>
            <a:r>
              <a:rPr sz="700">
                <a:solidFill>
                  <a:srgbClr val="E11D48"/>
                </a:solidFill>
                <a:latin typeface="Arial"/>
              </a:rPr>
              <a:t>— 0% (GSM Blind)   </a:t>
            </a:r>
            <a:r>
              <a:rPr sz="700">
                <a:solidFill>
                  <a:srgbClr val="64748B"/>
                </a:solidFill>
                <a:latin typeface="Arial"/>
              </a:rPr>
              <a:t>● Expensive Satellite </a:t>
            </a:r>
            <a:r>
              <a:rPr b="1" sz="750">
                <a:solidFill>
                  <a:srgbClr val="10B981"/>
                </a:solidFill>
                <a:latin typeface="Arial"/>
              </a:rPr>
              <a:t>✓ Multi-Hop LoRa Mesh (50 km)</a:t>
            </a:r>
          </a:p>
        </p:txBody>
      </p:sp>
      <p:sp>
        <p:nvSpPr>
          <p:cNvPr id="10" name="Rounded Rectangle 9"/>
          <p:cNvSpPr/>
          <p:nvPr/>
        </p:nvSpPr>
        <p:spPr>
          <a:xfrm>
            <a:off x="7680960" y="1188720"/>
            <a:ext cx="3959352" cy="50749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600"/>
              </a:spcAft>
              <a:defRPr b="1" sz="1000">
                <a:solidFill>
                  <a:srgbClr val="0284C7"/>
                </a:solidFill>
                <a:latin typeface="Arial"/>
              </a:defRPr>
            </a:pPr>
            <a:r>
              <a:t>THE ARCHITECTURAL SHIFT</a:t>
            </a:r>
          </a:p>
          <a:p>
            <a:pPr>
              <a:spcAft>
                <a:spcPts val="800"/>
              </a:spcAft>
              <a:defRPr sz="1200" b="1">
                <a:solidFill>
                  <a:srgbClr val="0A2540"/>
                </a:solidFill>
                <a:latin typeface="Arial"/>
              </a:defRPr>
            </a:pPr>
            <a:r>
              <a:t>“THE DIFFERENCE IS NOT MORE DATA. THE DIFFERENCE IS CONTEXT.”</a:t>
            </a:r>
          </a:p>
          <a:p>
            <a:pPr>
              <a:spcAft>
                <a:spcPts val="1000"/>
              </a:spcAft>
              <a:defRPr sz="800">
                <a:solidFill>
                  <a:srgbClr val="334155"/>
                </a:solidFill>
                <a:latin typeface="Arial"/>
              </a:defRPr>
            </a:pPr>
            <a:r>
              <a:t>Existing platforms treat all mariners as identical passive readers of raw weather maps. ORCA treats every fishing voyage as an active physical system with specific hydrodynamic limits, route deadlines, and economic constraints.</a:t>
            </a:r>
          </a:p>
          <a:p>
            <a:pPr>
              <a:defRPr b="1" sz="800">
                <a:solidFill>
                  <a:srgbClr val="10B981"/>
                </a:solidFill>
                <a:latin typeface="Arial"/>
              </a:defRPr>
            </a:pPr>
            <a:r>
              <a:t>ORCA PROGRESSION:</a:t>
            </a:r>
          </a:p>
          <a:p>
            <a:pPr>
              <a:defRPr b="1" sz="750">
                <a:solidFill>
                  <a:srgbClr val="0A2540"/>
                </a:solidFill>
                <a:latin typeface="Arial"/>
              </a:defRPr>
            </a:pPr>
            <a:r>
              <a:t>DATA ➔ CONTEXT ➔ PHYSICS ➔ RISK ➔ ROUTE ➔ DECISION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329184" y="164592"/>
            <a:ext cx="1234440" cy="658368"/>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sz="1100" b="1">
                <a:solidFill>
                  <a:srgbClr val="FFFFFF"/>
                </a:solidFill>
                <a:latin typeface="Arial"/>
              </a:defRPr>
            </a:pPr>
            <a:r>
              <a:t>ORCA 4.0</a:t>
            </a:r>
          </a:p>
        </p:txBody>
      </p:sp>
      <p:pic>
        <p:nvPicPr>
          <p:cNvPr id="3" name="Picture 2" descr="sih_logo_extracted.png"/>
          <p:cNvPicPr>
            <a:picLocks noChangeAspect="1"/>
          </p:cNvPicPr>
          <p:nvPr/>
        </p:nvPicPr>
        <p:blipFill>
          <a:blip r:embed="rId2"/>
          <a:stretch>
            <a:fillRect/>
          </a:stretch>
        </p:blipFill>
        <p:spPr>
          <a:xfrm>
            <a:off x="9784080" y="18288"/>
            <a:ext cx="2249424" cy="1005840"/>
          </a:xfrm>
          <a:prstGeom prst="rect">
            <a:avLst/>
          </a:prstGeom>
        </p:spPr>
      </p:pic>
      <p:sp>
        <p:nvSpPr>
          <p:cNvPr id="4" name="TextBox 3"/>
          <p:cNvSpPr txBox="1"/>
          <p:nvPr/>
        </p:nvSpPr>
        <p:spPr>
          <a:xfrm>
            <a:off x="1691640" y="91440"/>
            <a:ext cx="8001000" cy="777240"/>
          </a:xfrm>
          <a:prstGeom prst="rect">
            <a:avLst/>
          </a:prstGeom>
          <a:noFill/>
        </p:spPr>
        <p:txBody>
          <a:bodyPr wrap="square" lIns="0" rIns="0" tIns="0" bIns="0">
            <a:spAutoFit/>
          </a:bodyPr>
          <a:lstStyle/>
          <a:p>
            <a:pPr>
              <a:defRPr sz="1700" b="1">
                <a:solidFill>
                  <a:srgbClr val="0A2540"/>
                </a:solidFill>
                <a:latin typeface="Arial"/>
              </a:defRPr>
            </a:pPr>
            <a:r>
              <a:t>“ONE PIPELINE. ONE WORLD MODEL.”</a:t>
            </a:r>
          </a:p>
          <a:p>
            <a:pPr>
              <a:defRPr sz="900">
                <a:solidFill>
                  <a:srgbClr val="64748B"/>
                </a:solidFill>
                <a:latin typeface="Arial"/>
              </a:defRPr>
            </a:pPr>
            <a:r>
              <a:t>End-to-end layered architecture: Ingestion ➔ Normalization ➔ Dual Digital Twin ➔ Computing Cores ➔ Safety Circuit Breaker.</a:t>
            </a:r>
          </a:p>
        </p:txBody>
      </p:sp>
      <p:sp>
        <p:nvSpPr>
          <p:cNvPr id="5" name="Rounded Rectangle 4"/>
          <p:cNvSpPr/>
          <p:nvPr/>
        </p:nvSpPr>
        <p:spPr>
          <a:xfrm>
            <a:off x="548640" y="877824"/>
            <a:ext cx="11091672" cy="25603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800" b="1">
                <a:solidFill>
                  <a:srgbClr val="0284C7"/>
                </a:solidFill>
                <a:latin typeface="Arial"/>
              </a:rPr>
              <a:t>05/10  ·  SYSTEM ARCHITECTURE    |    </a:t>
            </a:r>
            <a:r>
              <a:rPr sz="750" b="1">
                <a:solidFill>
                  <a:srgbClr val="64748B"/>
                </a:solidFill>
                <a:latin typeface="Arial"/>
              </a:rPr>
              <a:t>FLOW: </a:t>
            </a:r>
            <a:r>
              <a:rPr sz="750" b="0">
                <a:solidFill>
                  <a:srgbClr val="64748B"/>
                </a:solidFill>
                <a:latin typeface="Arial"/>
              </a:rPr>
              <a:t>OCEAN</a:t>
            </a:r>
            <a:r>
              <a:rPr sz="700">
                <a:solidFill>
                  <a:srgbClr val="64748B"/>
                </a:solidFill>
                <a:latin typeface="Arial"/>
              </a:rPr>
              <a:t> ➔ </a:t>
            </a:r>
            <a:r>
              <a:rPr sz="750" b="0">
                <a:solidFill>
                  <a:srgbClr val="64748B"/>
                </a:solidFill>
                <a:latin typeface="Arial"/>
              </a:rPr>
              <a:t>WEATHER</a:t>
            </a:r>
            <a:r>
              <a:rPr sz="700">
                <a:solidFill>
                  <a:srgbClr val="64748B"/>
                </a:solidFill>
                <a:latin typeface="Arial"/>
              </a:rPr>
              <a:t> ➔ </a:t>
            </a:r>
            <a:r>
              <a:rPr sz="750" b="0">
                <a:solidFill>
                  <a:srgbClr val="64748B"/>
                </a:solidFill>
                <a:latin typeface="Arial"/>
              </a:rPr>
              <a:t>VESSEL</a:t>
            </a:r>
            <a:r>
              <a:rPr sz="700">
                <a:solidFill>
                  <a:srgbClr val="64748B"/>
                </a:solidFill>
                <a:latin typeface="Arial"/>
              </a:rPr>
              <a:t> ➔ </a:t>
            </a:r>
            <a:r>
              <a:rPr sz="750" b="0">
                <a:solidFill>
                  <a:srgbClr val="64748B"/>
                </a:solidFill>
                <a:latin typeface="Arial"/>
              </a:rPr>
              <a:t>ROUTE</a:t>
            </a:r>
            <a:r>
              <a:rPr sz="700">
                <a:solidFill>
                  <a:srgbClr val="64748B"/>
                </a:solidFill>
                <a:latin typeface="Arial"/>
              </a:rPr>
              <a:t> ➔ </a:t>
            </a:r>
            <a:r>
              <a:rPr sz="750" b="1">
                <a:solidFill>
                  <a:srgbClr val="0284C7"/>
                </a:solidFill>
                <a:latin typeface="Arial"/>
              </a:rPr>
              <a:t>ORCA</a:t>
            </a:r>
            <a:r>
              <a:rPr sz="700">
                <a:solidFill>
                  <a:srgbClr val="64748B"/>
                </a:solidFill>
                <a:latin typeface="Arial"/>
              </a:rPr>
              <a:t> ➔ </a:t>
            </a:r>
            <a:r>
              <a:rPr sz="750" b="0">
                <a:solidFill>
                  <a:srgbClr val="64748B"/>
                </a:solidFill>
                <a:latin typeface="Arial"/>
              </a:rPr>
              <a:t>RISK</a:t>
            </a:r>
            <a:r>
              <a:rPr sz="700">
                <a:solidFill>
                  <a:srgbClr val="64748B"/>
                </a:solidFill>
                <a:latin typeface="Arial"/>
              </a:rPr>
              <a:t> ➔ </a:t>
            </a:r>
            <a:r>
              <a:rPr sz="750" b="0">
                <a:solidFill>
                  <a:srgbClr val="64748B"/>
                </a:solidFill>
                <a:latin typeface="Arial"/>
              </a:rPr>
              <a:t>DECISION</a:t>
            </a:r>
          </a:p>
        </p:txBody>
      </p:sp>
      <p:sp>
        <p:nvSpPr>
          <p:cNvPr id="6" name="Rectangle 5"/>
          <p:cNvSpPr/>
          <p:nvPr/>
        </p:nvSpPr>
        <p:spPr>
          <a:xfrm>
            <a:off x="0" y="6355080"/>
            <a:ext cx="12191695" cy="5029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0" y="6419088"/>
            <a:ext cx="3959352" cy="320040"/>
          </a:xfrm>
          <a:prstGeom prst="rect">
            <a:avLst/>
          </a:prstGeom>
          <a:noFill/>
        </p:spPr>
        <p:txBody>
          <a:bodyPr wrap="none" lIns="0" rIns="0" tIns="0" bIns="0">
            <a:spAutoFit/>
          </a:bodyPr>
          <a:lstStyle/>
          <a:p>
            <a:pPr algn="ctr">
              <a:defRPr sz="850">
                <a:solidFill>
                  <a:srgbClr val="64748B"/>
                </a:solidFill>
                <a:latin typeface="Arial"/>
              </a:defRPr>
            </a:pPr>
            <a:r>
              <a:t>@SIH Idea submission- Template  ·  ORCA 4.0</a:t>
            </a:r>
          </a:p>
        </p:txBody>
      </p:sp>
      <p:sp>
        <p:nvSpPr>
          <p:cNvPr id="8" name="TextBox 7"/>
          <p:cNvSpPr txBox="1"/>
          <p:nvPr/>
        </p:nvSpPr>
        <p:spPr>
          <a:xfrm>
            <a:off x="10058400" y="6419088"/>
            <a:ext cx="1554480" cy="320040"/>
          </a:xfrm>
          <a:prstGeom prst="rect">
            <a:avLst/>
          </a:prstGeom>
          <a:noFill/>
        </p:spPr>
        <p:txBody>
          <a:bodyPr wrap="none" lIns="0" rIns="0" tIns="0" bIns="0">
            <a:spAutoFit/>
          </a:bodyPr>
          <a:lstStyle/>
          <a:p>
            <a:pPr algn="r">
              <a:defRPr sz="900" b="1">
                <a:solidFill>
                  <a:srgbClr val="0A2540"/>
                </a:solidFill>
                <a:latin typeface="Arial"/>
              </a:defRPr>
            </a:pPr>
            <a:r>
              <a:t>5</a:t>
            </a:r>
          </a:p>
        </p:txBody>
      </p:sp>
      <p:sp>
        <p:nvSpPr>
          <p:cNvPr id="9" name="Rounded Rectangle 8"/>
          <p:cNvSpPr/>
          <p:nvPr/>
        </p:nvSpPr>
        <p:spPr>
          <a:xfrm>
            <a:off x="548640" y="1188720"/>
            <a:ext cx="11091672"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b="1" sz="850">
                <a:solidFill>
                  <a:srgbClr val="0284C7"/>
                </a:solidFill>
                <a:latin typeface="Arial"/>
              </a:defRPr>
            </a:pPr>
            <a:r>
              <a:t>TIER 1: MULTI-SOURCE TELEMETRY INGESTION LAYER</a:t>
            </a:r>
          </a:p>
          <a:p>
            <a:pPr>
              <a:defRPr sz="800">
                <a:solidFill>
                  <a:srgbClr val="0F172A"/>
                </a:solidFill>
                <a:latin typeface="Arial"/>
              </a:defRPr>
            </a:pPr>
            <a:r>
              <a:t>📡 INCOIS ERDDAP (Wave Spectra)  |  📡 IMD Alerts (Cyclones)  |  📡 Copernicus CMEMS (0.083° Physical Grids)  |  📡 ISRO MOSDAC (SST)  |  📡 AIS Feeds  |  📡 NMEA Sensors</a:t>
            </a:r>
          </a:p>
        </p:txBody>
      </p:sp>
      <p:sp>
        <p:nvSpPr>
          <p:cNvPr id="10" name="Rounded Rectangle 9"/>
          <p:cNvSpPr/>
          <p:nvPr/>
        </p:nvSpPr>
        <p:spPr>
          <a:xfrm>
            <a:off x="548640" y="2029968"/>
            <a:ext cx="11091672" cy="868680"/>
          </a:xfrm>
          <a:prstGeom prst="roundRect">
            <a:avLst/>
          </a:prstGeom>
          <a:solidFill>
            <a:srgbClr val="F8FAFC"/>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b="1" sz="850">
                <a:solidFill>
                  <a:srgbClr val="0A2540"/>
                </a:solidFill>
                <a:latin typeface="Arial"/>
              </a:defRPr>
            </a:pPr>
            <a:r>
              <a:t>TIER 2: DATA NORMALIZATION &amp; DUAL DIGITAL STATE</a:t>
            </a:r>
          </a:p>
          <a:p>
            <a:pPr>
              <a:defRPr sz="750">
                <a:solidFill>
                  <a:srgbClr val="334155"/>
                </a:solidFill>
                <a:latin typeface="Arial"/>
              </a:defRPr>
            </a:pPr>
            <a:r>
              <a:t>• Environmental Digital State: Spatial H3 Indexing (0.083° / ~9km) + Temporal Alignment + Sensor Calibration (&lt;50ms)</a:t>
            </a:r>
            <a:br/>
            <a:r>
              <a:t>• Parametric Vessel Digital Twin: Dynamic hydrodynamics model incorporating Hull Length (Lwl), Draft (Td), Beam (B), Freeboard &amp; Engine Power</a:t>
            </a:r>
          </a:p>
        </p:txBody>
      </p:sp>
      <p:sp>
        <p:nvSpPr>
          <p:cNvPr id="11" name="Rounded Rectangle 10"/>
          <p:cNvSpPr/>
          <p:nvPr/>
        </p:nvSpPr>
        <p:spPr>
          <a:xfrm>
            <a:off x="548640" y="2962656"/>
            <a:ext cx="11091672" cy="1325880"/>
          </a:xfrm>
          <a:prstGeom prst="roundRect">
            <a:avLst/>
          </a:prstGeom>
          <a:solidFill>
            <a:srgbClr val="0A254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200"/>
              </a:spcAft>
              <a:defRPr b="1" sz="900">
                <a:solidFill>
                  <a:srgbClr val="06B6D4"/>
                </a:solidFill>
                <a:latin typeface="Arial"/>
              </a:defRPr>
            </a:pPr>
            <a:r>
              <a:t>TIER 3: TRIPARTITE COMPUTING CORE (STRICT ARCHITECTURAL SEPARATION)</a:t>
            </a:r>
          </a:p>
          <a:p>
            <a:pPr>
              <a:defRPr b="1" sz="800">
                <a:solidFill>
                  <a:srgbClr val="10B981"/>
                </a:solidFill>
                <a:latin typeface="Arial"/>
              </a:defRPr>
            </a:pPr>
            <a:r>
              <a:t>⚙️ DETERMINISTIC PHYSICS: Wave encounter angle math, Critical wave height (Hcrit = 0.6 · L), wave steepness ratio &amp; roll resonance.</a:t>
            </a:r>
          </a:p>
          <a:p>
            <a:pPr>
              <a:defRPr b="1" sz="800">
                <a:solidFill>
                  <a:srgbClr val="38BDF8"/>
                </a:solidFill>
                <a:latin typeface="Arial"/>
              </a:defRPr>
            </a:pPr>
            <a:r>
              <a:t>🧠 PREDICTIVE ML LAYER: Multi-Species Habitat Suitability Index (HSI XGBoost), 2D Sobel thermal fronts &amp; 1,000-particle SAR drift.</a:t>
            </a:r>
          </a:p>
          <a:p>
            <a:pPr>
              <a:defRPr b="1" sz="800">
                <a:solidFill>
                  <a:srgbClr val="D97706"/>
                </a:solidFill>
                <a:latin typeface="Arial"/>
              </a:defRPr>
            </a:pPr>
            <a:r>
              <a:t>📍 DYNAMIC OPTIMIZATION: Modified A* navigational pathfinder navigating through time-varying 2D risk-cost surface meshes.</a:t>
            </a:r>
          </a:p>
        </p:txBody>
      </p:sp>
      <p:sp>
        <p:nvSpPr>
          <p:cNvPr id="12" name="Rounded Rectangle 11"/>
          <p:cNvSpPr/>
          <p:nvPr/>
        </p:nvSpPr>
        <p:spPr>
          <a:xfrm>
            <a:off x="548640" y="4352544"/>
            <a:ext cx="11091672" cy="77724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b="1" sz="850">
                <a:solidFill>
                  <a:srgbClr val="10B981"/>
                </a:solidFill>
                <a:latin typeface="Arial"/>
              </a:defRPr>
            </a:pPr>
            <a:r>
              <a:t>TIER 4: NON-BYPASSABLE SAFETY CIRCUIT BREAKER (&lt;10ms Pure Python, Zero Hallucination)</a:t>
            </a:r>
          </a:p>
          <a:p>
            <a:pPr>
              <a:defRPr sz="750">
                <a:solidFill>
                  <a:srgbClr val="0F172A"/>
                </a:solidFill>
                <a:latin typeface="Arial"/>
              </a:defRPr>
            </a:pPr>
            <a:r>
              <a:t>All physical safety checks and active cyclone overrides execute as deterministic compiled code. LLM models sit strictly downstream for plain-language vernacular voice translation only.</a:t>
            </a:r>
          </a:p>
        </p:txBody>
      </p:sp>
      <p:sp>
        <p:nvSpPr>
          <p:cNvPr id="13" name="Rounded Rectangle 12"/>
          <p:cNvSpPr/>
          <p:nvPr/>
        </p:nvSpPr>
        <p:spPr>
          <a:xfrm>
            <a:off x="548640" y="5193792"/>
            <a:ext cx="11091672"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b="1" sz="850">
                <a:solidFill>
                  <a:srgbClr val="0A2540"/>
                </a:solidFill>
                <a:latin typeface="Arial"/>
              </a:defRPr>
            </a:pPr>
            <a:r>
              <a:t>TIER 5: MULTI-CHANNEL OPERATIONAL DISPATCH</a:t>
            </a:r>
          </a:p>
          <a:p>
            <a:pPr>
              <a:defRPr sz="750">
                <a:solidFill>
                  <a:srgbClr val="334155"/>
                </a:solidFill>
                <a:latin typeface="Arial"/>
              </a:defRPr>
            </a:pPr>
            <a:r>
              <a:t>• Fisherman PWA &amp; LoRa Voice Device: Actionable safety verdict dial, optimized 4-point waypoints, offline voice guidance.</a:t>
            </a:r>
            <a:br/>
            <a:r>
              <a:t>• Fleet Web &amp; Coast Guard Command: Real-time dark-fleet AIS anomaly detection, harbor fleet congestion &amp; SAR drift tracking.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329184" y="164592"/>
            <a:ext cx="1234440" cy="658368"/>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sz="1100" b="1">
                <a:solidFill>
                  <a:srgbClr val="FFFFFF"/>
                </a:solidFill>
                <a:latin typeface="Arial"/>
              </a:defRPr>
            </a:pPr>
            <a:r>
              <a:t>ORCA 4.0</a:t>
            </a:r>
          </a:p>
        </p:txBody>
      </p:sp>
      <p:pic>
        <p:nvPicPr>
          <p:cNvPr id="3" name="Picture 2" descr="sih_logo_extracted.png"/>
          <p:cNvPicPr>
            <a:picLocks noChangeAspect="1"/>
          </p:cNvPicPr>
          <p:nvPr/>
        </p:nvPicPr>
        <p:blipFill>
          <a:blip r:embed="rId2"/>
          <a:stretch>
            <a:fillRect/>
          </a:stretch>
        </p:blipFill>
        <p:spPr>
          <a:xfrm>
            <a:off x="9784080" y="18288"/>
            <a:ext cx="2249424" cy="1005840"/>
          </a:xfrm>
          <a:prstGeom prst="rect">
            <a:avLst/>
          </a:prstGeom>
        </p:spPr>
      </p:pic>
      <p:sp>
        <p:nvSpPr>
          <p:cNvPr id="4" name="TextBox 3"/>
          <p:cNvSpPr txBox="1"/>
          <p:nvPr/>
        </p:nvSpPr>
        <p:spPr>
          <a:xfrm>
            <a:off x="1691640" y="91440"/>
            <a:ext cx="8001000" cy="777240"/>
          </a:xfrm>
          <a:prstGeom prst="rect">
            <a:avLst/>
          </a:prstGeom>
          <a:noFill/>
        </p:spPr>
        <p:txBody>
          <a:bodyPr wrap="square" lIns="0" rIns="0" tIns="0" bIns="0">
            <a:spAutoFit/>
          </a:bodyPr>
          <a:lstStyle/>
          <a:p>
            <a:pPr>
              <a:defRPr sz="1700" b="1">
                <a:solidFill>
                  <a:srgbClr val="0A2540"/>
                </a:solidFill>
                <a:latin typeface="Arial"/>
              </a:defRPr>
            </a:pPr>
            <a:r>
              <a:t>“PHYSICS + AI + OPTIMIZATION. EACH DOES WHAT IT IS GOOD AT.”</a:t>
            </a:r>
          </a:p>
          <a:p>
            <a:pPr>
              <a:defRPr sz="900">
                <a:solidFill>
                  <a:srgbClr val="64748B"/>
                </a:solidFill>
                <a:latin typeface="Arial"/>
              </a:defRPr>
            </a:pPr>
            <a:r>
              <a:t>Strict architectural boundary: Deterministic physics guarantees safety; ML discovers patterns; LLM translates language.</a:t>
            </a:r>
          </a:p>
        </p:txBody>
      </p:sp>
      <p:sp>
        <p:nvSpPr>
          <p:cNvPr id="5" name="Rounded Rectangle 4"/>
          <p:cNvSpPr/>
          <p:nvPr/>
        </p:nvSpPr>
        <p:spPr>
          <a:xfrm>
            <a:off x="548640" y="877824"/>
            <a:ext cx="11091672" cy="25603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800" b="1">
                <a:solidFill>
                  <a:srgbClr val="0284C7"/>
                </a:solidFill>
                <a:latin typeface="Arial"/>
              </a:rPr>
              <a:t>06/10  ·  INTELLIGENCE SEPARATION    |    </a:t>
            </a:r>
            <a:r>
              <a:rPr sz="750" b="1">
                <a:solidFill>
                  <a:srgbClr val="64748B"/>
                </a:solidFill>
                <a:latin typeface="Arial"/>
              </a:rPr>
              <a:t>FLOW: </a:t>
            </a:r>
            <a:r>
              <a:rPr sz="750" b="0">
                <a:solidFill>
                  <a:srgbClr val="64748B"/>
                </a:solidFill>
                <a:latin typeface="Arial"/>
              </a:rPr>
              <a:t>OCEAN</a:t>
            </a:r>
            <a:r>
              <a:rPr sz="700">
                <a:solidFill>
                  <a:srgbClr val="64748B"/>
                </a:solidFill>
                <a:latin typeface="Arial"/>
              </a:rPr>
              <a:t> ➔ </a:t>
            </a:r>
            <a:r>
              <a:rPr sz="750" b="0">
                <a:solidFill>
                  <a:srgbClr val="64748B"/>
                </a:solidFill>
                <a:latin typeface="Arial"/>
              </a:rPr>
              <a:t>WEATHER</a:t>
            </a:r>
            <a:r>
              <a:rPr sz="700">
                <a:solidFill>
                  <a:srgbClr val="64748B"/>
                </a:solidFill>
                <a:latin typeface="Arial"/>
              </a:rPr>
              <a:t> ➔ </a:t>
            </a:r>
            <a:r>
              <a:rPr sz="750" b="0">
                <a:solidFill>
                  <a:srgbClr val="64748B"/>
                </a:solidFill>
                <a:latin typeface="Arial"/>
              </a:rPr>
              <a:t>VESSEL</a:t>
            </a:r>
            <a:r>
              <a:rPr sz="700">
                <a:solidFill>
                  <a:srgbClr val="64748B"/>
                </a:solidFill>
                <a:latin typeface="Arial"/>
              </a:rPr>
              <a:t> ➔ </a:t>
            </a:r>
            <a:r>
              <a:rPr sz="750" b="0">
                <a:solidFill>
                  <a:srgbClr val="64748B"/>
                </a:solidFill>
                <a:latin typeface="Arial"/>
              </a:rPr>
              <a:t>ROUTE</a:t>
            </a:r>
            <a:r>
              <a:rPr sz="700">
                <a:solidFill>
                  <a:srgbClr val="64748B"/>
                </a:solidFill>
                <a:latin typeface="Arial"/>
              </a:rPr>
              <a:t> ➔ </a:t>
            </a:r>
            <a:r>
              <a:rPr sz="750" b="0">
                <a:solidFill>
                  <a:srgbClr val="64748B"/>
                </a:solidFill>
                <a:latin typeface="Arial"/>
              </a:rPr>
              <a:t>ORCA</a:t>
            </a:r>
            <a:r>
              <a:rPr sz="700">
                <a:solidFill>
                  <a:srgbClr val="64748B"/>
                </a:solidFill>
                <a:latin typeface="Arial"/>
              </a:rPr>
              <a:t> ➔ </a:t>
            </a:r>
            <a:r>
              <a:rPr sz="750" b="1">
                <a:solidFill>
                  <a:srgbClr val="0284C7"/>
                </a:solidFill>
                <a:latin typeface="Arial"/>
              </a:rPr>
              <a:t>RISK</a:t>
            </a:r>
            <a:r>
              <a:rPr sz="700">
                <a:solidFill>
                  <a:srgbClr val="64748B"/>
                </a:solidFill>
                <a:latin typeface="Arial"/>
              </a:rPr>
              <a:t> ➔ </a:t>
            </a:r>
            <a:r>
              <a:rPr sz="750" b="0">
                <a:solidFill>
                  <a:srgbClr val="64748B"/>
                </a:solidFill>
                <a:latin typeface="Arial"/>
              </a:rPr>
              <a:t>DECISION</a:t>
            </a:r>
          </a:p>
        </p:txBody>
      </p:sp>
      <p:sp>
        <p:nvSpPr>
          <p:cNvPr id="6" name="Rectangle 5"/>
          <p:cNvSpPr/>
          <p:nvPr/>
        </p:nvSpPr>
        <p:spPr>
          <a:xfrm>
            <a:off x="0" y="6355080"/>
            <a:ext cx="12191695" cy="5029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0" y="6419088"/>
            <a:ext cx="3959352" cy="320040"/>
          </a:xfrm>
          <a:prstGeom prst="rect">
            <a:avLst/>
          </a:prstGeom>
          <a:noFill/>
        </p:spPr>
        <p:txBody>
          <a:bodyPr wrap="none" lIns="0" rIns="0" tIns="0" bIns="0">
            <a:spAutoFit/>
          </a:bodyPr>
          <a:lstStyle/>
          <a:p>
            <a:pPr algn="ctr">
              <a:defRPr sz="850">
                <a:solidFill>
                  <a:srgbClr val="64748B"/>
                </a:solidFill>
                <a:latin typeface="Arial"/>
              </a:defRPr>
            </a:pPr>
            <a:r>
              <a:t>@SIH Idea submission- Template  ·  ORCA 4.0</a:t>
            </a:r>
          </a:p>
        </p:txBody>
      </p:sp>
      <p:sp>
        <p:nvSpPr>
          <p:cNvPr id="8" name="TextBox 7"/>
          <p:cNvSpPr txBox="1"/>
          <p:nvPr/>
        </p:nvSpPr>
        <p:spPr>
          <a:xfrm>
            <a:off x="10058400" y="6419088"/>
            <a:ext cx="1554480" cy="320040"/>
          </a:xfrm>
          <a:prstGeom prst="rect">
            <a:avLst/>
          </a:prstGeom>
          <a:noFill/>
        </p:spPr>
        <p:txBody>
          <a:bodyPr wrap="none" lIns="0" rIns="0" tIns="0" bIns="0">
            <a:spAutoFit/>
          </a:bodyPr>
          <a:lstStyle/>
          <a:p>
            <a:pPr algn="r">
              <a:defRPr sz="900" b="1">
                <a:solidFill>
                  <a:srgbClr val="0A2540"/>
                </a:solidFill>
                <a:latin typeface="Arial"/>
              </a:defRPr>
            </a:pPr>
            <a:r>
              <a:t>6</a:t>
            </a:r>
          </a:p>
        </p:txBody>
      </p:sp>
      <p:sp>
        <p:nvSpPr>
          <p:cNvPr id="9" name="Rounded Rectangle 8"/>
          <p:cNvSpPr/>
          <p:nvPr/>
        </p:nvSpPr>
        <p:spPr>
          <a:xfrm>
            <a:off x="548640" y="1188720"/>
            <a:ext cx="3520440" cy="3977639"/>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200"/>
              </a:spcAft>
              <a:defRPr b="1" sz="950">
                <a:solidFill>
                  <a:srgbClr val="10B981"/>
                </a:solidFill>
                <a:latin typeface="Arial"/>
              </a:defRPr>
            </a:pPr>
            <a:r>
              <a:t>⚙️ DETERMINISTIC PHYSICS</a:t>
            </a:r>
          </a:p>
          <a:p>
            <a:pPr>
              <a:spcAft>
                <a:spcPts val="600"/>
              </a:spcAft>
              <a:defRPr i="1" sz="750">
                <a:solidFill>
                  <a:srgbClr val="64748B"/>
                </a:solidFill>
                <a:latin typeface="Arial"/>
              </a:defRPr>
            </a:pPr>
            <a:r>
              <a:t>Non-Bypassable Safety Law</a:t>
            </a:r>
          </a:p>
          <a:p>
            <a:pPr>
              <a:spcAft>
                <a:spcPts val="350"/>
              </a:spcAft>
            </a:pPr>
            <a:r>
              <a:rPr b="1" sz="800">
                <a:solidFill>
                  <a:srgbClr val="0F172A"/>
                </a:solidFill>
                <a:latin typeface="Arial"/>
              </a:rPr>
              <a:t>• Critical Wave Limit: </a:t>
            </a:r>
            <a:r>
              <a:rPr sz="750">
                <a:solidFill>
                  <a:srgbClr val="334155"/>
                </a:solidFill>
                <a:latin typeface="Arial"/>
              </a:rPr>
              <a:t>Hcrit ≈ 0.6 · Lhull threshold prevents capsizing</a:t>
            </a:r>
          </a:p>
          <a:p>
            <a:pPr>
              <a:spcAft>
                <a:spcPts val="350"/>
              </a:spcAft>
            </a:pPr>
            <a:r>
              <a:rPr b="1" sz="800">
                <a:solidFill>
                  <a:srgbClr val="0F172A"/>
                </a:solidFill>
                <a:latin typeface="Arial"/>
              </a:rPr>
              <a:t>• Wave Steepness Ratio: </a:t>
            </a:r>
            <a:r>
              <a:rPr sz="750">
                <a:solidFill>
                  <a:srgbClr val="334155"/>
                </a:solidFill>
                <a:latin typeface="Arial"/>
              </a:rPr>
              <a:t>S = Hs / λ calculated dynamically from wave spectra</a:t>
            </a:r>
          </a:p>
          <a:p>
            <a:pPr>
              <a:spcAft>
                <a:spcPts val="350"/>
              </a:spcAft>
            </a:pPr>
            <a:r>
              <a:rPr b="1" sz="800">
                <a:solidFill>
                  <a:srgbClr val="0F172A"/>
                </a:solidFill>
                <a:latin typeface="Arial"/>
              </a:rPr>
              <a:t>• Beam-Sea Encounter: </a:t>
            </a:r>
            <a:r>
              <a:rPr sz="750">
                <a:solidFill>
                  <a:srgbClr val="334155"/>
                </a:solidFill>
                <a:latin typeface="Arial"/>
              </a:rPr>
              <a:t>Identifies roll resonance &amp; parametric broaching risk</a:t>
            </a:r>
          </a:p>
          <a:p>
            <a:pPr>
              <a:spcAft>
                <a:spcPts val="350"/>
              </a:spcAft>
            </a:pPr>
            <a:r>
              <a:rPr b="1" sz="800">
                <a:solidFill>
                  <a:srgbClr val="0F172A"/>
                </a:solidFill>
                <a:latin typeface="Arial"/>
              </a:rPr>
              <a:t>• Geofenced Boundaries: </a:t>
            </a:r>
            <a:r>
              <a:rPr sz="750">
                <a:solidFill>
                  <a:srgbClr val="334155"/>
                </a:solidFill>
                <a:latin typeface="Arial"/>
              </a:rPr>
              <a:t>Hard stop on Marine Protected Areas &amp; international borders</a:t>
            </a:r>
          </a:p>
        </p:txBody>
      </p:sp>
      <p:sp>
        <p:nvSpPr>
          <p:cNvPr id="10" name="Rounded Rectangle 9"/>
          <p:cNvSpPr/>
          <p:nvPr/>
        </p:nvSpPr>
        <p:spPr>
          <a:xfrm>
            <a:off x="4334255" y="1188720"/>
            <a:ext cx="3520440" cy="3977639"/>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200"/>
              </a:spcAft>
              <a:defRPr b="1" sz="950">
                <a:solidFill>
                  <a:srgbClr val="0284C7"/>
                </a:solidFill>
                <a:latin typeface="Arial"/>
              </a:defRPr>
            </a:pPr>
            <a:r>
              <a:t>🧠 PREDICTIVE MACHINE LEARNING</a:t>
            </a:r>
          </a:p>
          <a:p>
            <a:pPr>
              <a:spcAft>
                <a:spcPts val="600"/>
              </a:spcAft>
              <a:defRPr i="1" sz="750">
                <a:solidFill>
                  <a:srgbClr val="64748B"/>
                </a:solidFill>
                <a:latin typeface="Arial"/>
              </a:defRPr>
            </a:pPr>
            <a:r>
              <a:t>Pattern Recognition &amp; Analytics</a:t>
            </a:r>
          </a:p>
          <a:p>
            <a:pPr>
              <a:spcAft>
                <a:spcPts val="350"/>
              </a:spcAft>
            </a:pPr>
            <a:r>
              <a:rPr b="1" sz="800">
                <a:solidFill>
                  <a:srgbClr val="0F172A"/>
                </a:solidFill>
                <a:latin typeface="Arial"/>
              </a:rPr>
              <a:t>• Multi-Species HSI: </a:t>
            </a:r>
            <a:r>
              <a:rPr sz="750">
                <a:solidFill>
                  <a:srgbClr val="334155"/>
                </a:solidFill>
                <a:latin typeface="Arial"/>
              </a:rPr>
              <a:t>XGBoost model predicts Bangda, Surmai &amp; Pomfret zones</a:t>
            </a:r>
          </a:p>
          <a:p>
            <a:pPr>
              <a:spcAft>
                <a:spcPts val="350"/>
              </a:spcAft>
            </a:pPr>
            <a:r>
              <a:rPr b="1" sz="800">
                <a:solidFill>
                  <a:srgbClr val="0F172A"/>
                </a:solidFill>
                <a:latin typeface="Arial"/>
              </a:rPr>
              <a:t>• Sobel Thermal Fronts: </a:t>
            </a:r>
            <a:r>
              <a:rPr sz="750">
                <a:solidFill>
                  <a:srgbClr val="334155"/>
                </a:solidFill>
                <a:latin typeface="Arial"/>
              </a:rPr>
              <a:t>2D spatial filtering identifies productive SST boundaries</a:t>
            </a:r>
          </a:p>
          <a:p>
            <a:pPr>
              <a:spcAft>
                <a:spcPts val="350"/>
              </a:spcAft>
            </a:pPr>
            <a:r>
              <a:rPr b="1" sz="800">
                <a:solidFill>
                  <a:srgbClr val="0F172A"/>
                </a:solidFill>
                <a:latin typeface="Arial"/>
              </a:rPr>
              <a:t>• SAR Anomaly Matching: </a:t>
            </a:r>
            <a:r>
              <a:rPr sz="750">
                <a:solidFill>
                  <a:srgbClr val="334155"/>
                </a:solidFill>
                <a:latin typeface="Arial"/>
              </a:rPr>
              <a:t>Flags dark vessels turning off AIS transponders</a:t>
            </a:r>
          </a:p>
          <a:p>
            <a:pPr>
              <a:spcAft>
                <a:spcPts val="350"/>
              </a:spcAft>
            </a:pPr>
            <a:r>
              <a:rPr b="1" sz="800">
                <a:solidFill>
                  <a:srgbClr val="0F172A"/>
                </a:solidFill>
                <a:latin typeface="Arial"/>
              </a:rPr>
              <a:t>• Monte Carlo SAR Drift: </a:t>
            </a:r>
            <a:r>
              <a:rPr sz="750">
                <a:solidFill>
                  <a:srgbClr val="334155"/>
                </a:solidFill>
                <a:latin typeface="Arial"/>
              </a:rPr>
              <a:t>1,000-particle stochastic simulation for rescue targets</a:t>
            </a:r>
          </a:p>
        </p:txBody>
      </p:sp>
      <p:sp>
        <p:nvSpPr>
          <p:cNvPr id="11" name="Rounded Rectangle 10"/>
          <p:cNvSpPr/>
          <p:nvPr/>
        </p:nvSpPr>
        <p:spPr>
          <a:xfrm>
            <a:off x="8119871" y="1188720"/>
            <a:ext cx="3520440" cy="3977639"/>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200"/>
              </a:spcAft>
              <a:defRPr b="1" sz="950">
                <a:solidFill>
                  <a:srgbClr val="D97706"/>
                </a:solidFill>
                <a:latin typeface="Arial"/>
              </a:defRPr>
            </a:pPr>
            <a:r>
              <a:t>📍 GRAPH OPTIMIZATION (A*)</a:t>
            </a:r>
          </a:p>
          <a:p>
            <a:pPr>
              <a:spcAft>
                <a:spcPts val="600"/>
              </a:spcAft>
              <a:defRPr i="1" sz="750">
                <a:solidFill>
                  <a:srgbClr val="64748B"/>
                </a:solidFill>
                <a:latin typeface="Arial"/>
              </a:defRPr>
            </a:pPr>
            <a:r>
              <a:t>Navigational Pathfinding</a:t>
            </a:r>
          </a:p>
          <a:p>
            <a:pPr>
              <a:spcAft>
                <a:spcPts val="350"/>
              </a:spcAft>
            </a:pPr>
            <a:r>
              <a:rPr b="1" sz="800">
                <a:solidFill>
                  <a:srgbClr val="0F172A"/>
                </a:solidFill>
                <a:latin typeface="Arial"/>
              </a:rPr>
              <a:t>• 2D Risk Cost Surface: </a:t>
            </a:r>
            <a:r>
              <a:rPr sz="750">
                <a:solidFill>
                  <a:srgbClr val="334155"/>
                </a:solidFill>
                <a:latin typeface="Arial"/>
              </a:rPr>
              <a:t>Dynamic mesh where hazardous sea cells have infinite cost</a:t>
            </a:r>
          </a:p>
          <a:p>
            <a:pPr>
              <a:spcAft>
                <a:spcPts val="350"/>
              </a:spcAft>
            </a:pPr>
            <a:r>
              <a:rPr b="1" sz="800">
                <a:solidFill>
                  <a:srgbClr val="0F172A"/>
                </a:solidFill>
                <a:latin typeface="Arial"/>
              </a:rPr>
              <a:t>• 4-Point Waypoints: </a:t>
            </a:r>
            <a:r>
              <a:rPr sz="750">
                <a:solidFill>
                  <a:srgbClr val="334155"/>
                </a:solidFill>
                <a:latin typeface="Arial"/>
              </a:rPr>
              <a:t>Generates fuel-optimal path circumnavigating storm pockets</a:t>
            </a:r>
          </a:p>
          <a:p>
            <a:pPr>
              <a:spcAft>
                <a:spcPts val="350"/>
              </a:spcAft>
            </a:pPr>
            <a:r>
              <a:rPr b="1" sz="800">
                <a:solidFill>
                  <a:srgbClr val="0F172A"/>
                </a:solidFill>
                <a:latin typeface="Arial"/>
              </a:rPr>
              <a:t>• Current Assist Optimization: </a:t>
            </a:r>
            <a:r>
              <a:rPr sz="750">
                <a:solidFill>
                  <a:srgbClr val="334155"/>
                </a:solidFill>
                <a:latin typeface="Arial"/>
              </a:rPr>
              <a:t>Leverages ocean surface drift velocity to save diesel</a:t>
            </a:r>
          </a:p>
          <a:p>
            <a:pPr>
              <a:spcAft>
                <a:spcPts val="350"/>
              </a:spcAft>
            </a:pPr>
            <a:r>
              <a:rPr b="1" sz="800">
                <a:solidFill>
                  <a:srgbClr val="0F172A"/>
                </a:solidFill>
                <a:latin typeface="Arial"/>
              </a:rPr>
              <a:t>• Harbor Dock Allocation: </a:t>
            </a:r>
            <a:r>
              <a:rPr sz="750">
                <a:solidFill>
                  <a:srgbClr val="334155"/>
                </a:solidFill>
                <a:latin typeface="Arial"/>
              </a:rPr>
              <a:t>Optimizes arrival harbor based on catch ROI &amp; congestion</a:t>
            </a:r>
          </a:p>
        </p:txBody>
      </p:sp>
      <p:sp>
        <p:nvSpPr>
          <p:cNvPr id="12" name="Rounded Rectangle 11"/>
          <p:cNvSpPr/>
          <p:nvPr/>
        </p:nvSpPr>
        <p:spPr>
          <a:xfrm>
            <a:off x="548640" y="5230368"/>
            <a:ext cx="11091672" cy="1005840"/>
          </a:xfrm>
          <a:prstGeom prst="roundRect">
            <a:avLst/>
          </a:prstGeom>
          <a:solidFill>
            <a:srgbClr val="0A254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200"/>
              </a:spcAft>
              <a:defRPr b="1" sz="900">
                <a:solidFill>
                  <a:srgbClr val="06B6D4"/>
                </a:solidFill>
                <a:latin typeface="Arial"/>
              </a:defRPr>
            </a:pPr>
            <a:r>
              <a:t>THE LLM SAFETY GOVERNANCE DIRECTIVE</a:t>
            </a:r>
          </a:p>
          <a:p>
            <a:r>
              <a:rPr b="1" sz="750">
                <a:solidFill>
                  <a:srgbClr val="10B981"/>
                </a:solidFill>
                <a:latin typeface="Arial"/>
              </a:rPr>
              <a:t>LLM PERMITTED ROLES: </a:t>
            </a:r>
            <a:r>
              <a:rPr sz="750">
                <a:solidFill>
                  <a:srgbClr val="FFFFFF"/>
                </a:solidFill>
                <a:latin typeface="Arial"/>
              </a:rPr>
              <a:t>Voice intent parsing (Speech ➔ JSON) and multilingual explanation synthesis (JSON ➔ Vernacular Audio).
</a:t>
            </a:r>
            <a:r>
              <a:rPr b="1" sz="750">
                <a:solidFill>
                  <a:srgbClr val="E11D48"/>
                </a:solidFill>
                <a:latin typeface="Arial"/>
              </a:rPr>
              <a:t>LLM STRICT PROHIBITIONS: </a:t>
            </a:r>
            <a:r>
              <a:rPr sz="750">
                <a:solidFill>
                  <a:srgbClr val="FFFFFF"/>
                </a:solidFill>
                <a:latin typeface="Arial"/>
              </a:rPr>
              <a:t>LLM CANNOT calculate safety, override physics circuit breakers, invent maritime data, or modify A* waypoints.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329184" y="164592"/>
            <a:ext cx="1234440" cy="658368"/>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sz="1100" b="1">
                <a:solidFill>
                  <a:srgbClr val="FFFFFF"/>
                </a:solidFill>
                <a:latin typeface="Arial"/>
              </a:defRPr>
            </a:pPr>
            <a:r>
              <a:t>ORCA 4.0</a:t>
            </a:r>
          </a:p>
        </p:txBody>
      </p:sp>
      <p:pic>
        <p:nvPicPr>
          <p:cNvPr id="3" name="Picture 2" descr="sih_logo_extracted.png"/>
          <p:cNvPicPr>
            <a:picLocks noChangeAspect="1"/>
          </p:cNvPicPr>
          <p:nvPr/>
        </p:nvPicPr>
        <p:blipFill>
          <a:blip r:embed="rId2"/>
          <a:stretch>
            <a:fillRect/>
          </a:stretch>
        </p:blipFill>
        <p:spPr>
          <a:xfrm>
            <a:off x="9784080" y="18288"/>
            <a:ext cx="2249424" cy="1005840"/>
          </a:xfrm>
          <a:prstGeom prst="rect">
            <a:avLst/>
          </a:prstGeom>
        </p:spPr>
      </p:pic>
      <p:sp>
        <p:nvSpPr>
          <p:cNvPr id="4" name="TextBox 3"/>
          <p:cNvSpPr txBox="1"/>
          <p:nvPr/>
        </p:nvSpPr>
        <p:spPr>
          <a:xfrm>
            <a:off x="1691640" y="91440"/>
            <a:ext cx="8001000" cy="777240"/>
          </a:xfrm>
          <a:prstGeom prst="rect">
            <a:avLst/>
          </a:prstGeom>
          <a:noFill/>
        </p:spPr>
        <p:txBody>
          <a:bodyPr wrap="square" lIns="0" rIns="0" tIns="0" bIns="0">
            <a:spAutoFit/>
          </a:bodyPr>
          <a:lstStyle/>
          <a:p>
            <a:pPr>
              <a:defRPr sz="1700" b="1">
                <a:solidFill>
                  <a:srgbClr val="0A2540"/>
                </a:solidFill>
                <a:latin typeface="Arial"/>
              </a:defRPr>
            </a:pPr>
            <a:r>
              <a:t>“FROM LOCATION TO DECISION: LIVE SIMULATION PIPELINE”</a:t>
            </a:r>
          </a:p>
          <a:p>
            <a:pPr>
              <a:defRPr sz="900">
                <a:solidFill>
                  <a:srgbClr val="64748B"/>
                </a:solidFill>
                <a:latin typeface="Arial"/>
              </a:defRPr>
            </a:pPr>
            <a:r>
              <a:t>End-to-end execution simulation demonstrating how ORCA processes a 9m FRP vessel navigating out of Kanyakumari harbor.</a:t>
            </a:r>
          </a:p>
        </p:txBody>
      </p:sp>
      <p:sp>
        <p:nvSpPr>
          <p:cNvPr id="5" name="Rounded Rectangle 4"/>
          <p:cNvSpPr/>
          <p:nvPr/>
        </p:nvSpPr>
        <p:spPr>
          <a:xfrm>
            <a:off x="548640" y="877824"/>
            <a:ext cx="11091672" cy="25603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800" b="1">
                <a:solidFill>
                  <a:srgbClr val="0284C7"/>
                </a:solidFill>
                <a:latin typeface="Arial"/>
              </a:rPr>
              <a:t>07/10  ·  PROTOTYPE VALIDATION    |    </a:t>
            </a:r>
            <a:r>
              <a:rPr sz="750" b="1">
                <a:solidFill>
                  <a:srgbClr val="64748B"/>
                </a:solidFill>
                <a:latin typeface="Arial"/>
              </a:rPr>
              <a:t>FLOW: </a:t>
            </a:r>
            <a:r>
              <a:rPr sz="750" b="0">
                <a:solidFill>
                  <a:srgbClr val="64748B"/>
                </a:solidFill>
                <a:latin typeface="Arial"/>
              </a:rPr>
              <a:t>OCEAN</a:t>
            </a:r>
            <a:r>
              <a:rPr sz="700">
                <a:solidFill>
                  <a:srgbClr val="64748B"/>
                </a:solidFill>
                <a:latin typeface="Arial"/>
              </a:rPr>
              <a:t> ➔ </a:t>
            </a:r>
            <a:r>
              <a:rPr sz="750" b="0">
                <a:solidFill>
                  <a:srgbClr val="64748B"/>
                </a:solidFill>
                <a:latin typeface="Arial"/>
              </a:rPr>
              <a:t>WEATHER</a:t>
            </a:r>
            <a:r>
              <a:rPr sz="700">
                <a:solidFill>
                  <a:srgbClr val="64748B"/>
                </a:solidFill>
                <a:latin typeface="Arial"/>
              </a:rPr>
              <a:t> ➔ </a:t>
            </a:r>
            <a:r>
              <a:rPr sz="750" b="0">
                <a:solidFill>
                  <a:srgbClr val="64748B"/>
                </a:solidFill>
                <a:latin typeface="Arial"/>
              </a:rPr>
              <a:t>VESSEL</a:t>
            </a:r>
            <a:r>
              <a:rPr sz="700">
                <a:solidFill>
                  <a:srgbClr val="64748B"/>
                </a:solidFill>
                <a:latin typeface="Arial"/>
              </a:rPr>
              <a:t> ➔ </a:t>
            </a:r>
            <a:r>
              <a:rPr sz="750" b="0">
                <a:solidFill>
                  <a:srgbClr val="64748B"/>
                </a:solidFill>
                <a:latin typeface="Arial"/>
              </a:rPr>
              <a:t>ROUTE</a:t>
            </a:r>
            <a:r>
              <a:rPr sz="700">
                <a:solidFill>
                  <a:srgbClr val="64748B"/>
                </a:solidFill>
                <a:latin typeface="Arial"/>
              </a:rPr>
              <a:t> ➔ </a:t>
            </a:r>
            <a:r>
              <a:rPr sz="750" b="0">
                <a:solidFill>
                  <a:srgbClr val="64748B"/>
                </a:solidFill>
                <a:latin typeface="Arial"/>
              </a:rPr>
              <a:t>ORCA</a:t>
            </a:r>
            <a:r>
              <a:rPr sz="700">
                <a:solidFill>
                  <a:srgbClr val="64748B"/>
                </a:solidFill>
                <a:latin typeface="Arial"/>
              </a:rPr>
              <a:t> ➔ </a:t>
            </a:r>
            <a:r>
              <a:rPr sz="750" b="0">
                <a:solidFill>
                  <a:srgbClr val="64748B"/>
                </a:solidFill>
                <a:latin typeface="Arial"/>
              </a:rPr>
              <a:t>RISK</a:t>
            </a:r>
            <a:r>
              <a:rPr sz="700">
                <a:solidFill>
                  <a:srgbClr val="64748B"/>
                </a:solidFill>
                <a:latin typeface="Arial"/>
              </a:rPr>
              <a:t> ➔ </a:t>
            </a:r>
            <a:r>
              <a:rPr sz="750" b="1">
                <a:solidFill>
                  <a:srgbClr val="0284C7"/>
                </a:solidFill>
                <a:latin typeface="Arial"/>
              </a:rPr>
              <a:t>DECISION</a:t>
            </a:r>
          </a:p>
        </p:txBody>
      </p:sp>
      <p:sp>
        <p:nvSpPr>
          <p:cNvPr id="6" name="Rectangle 5"/>
          <p:cNvSpPr/>
          <p:nvPr/>
        </p:nvSpPr>
        <p:spPr>
          <a:xfrm>
            <a:off x="0" y="6355080"/>
            <a:ext cx="12191695" cy="5029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0" y="6419088"/>
            <a:ext cx="3959352" cy="320040"/>
          </a:xfrm>
          <a:prstGeom prst="rect">
            <a:avLst/>
          </a:prstGeom>
          <a:noFill/>
        </p:spPr>
        <p:txBody>
          <a:bodyPr wrap="none" lIns="0" rIns="0" tIns="0" bIns="0">
            <a:spAutoFit/>
          </a:bodyPr>
          <a:lstStyle/>
          <a:p>
            <a:pPr algn="ctr">
              <a:defRPr sz="850">
                <a:solidFill>
                  <a:srgbClr val="64748B"/>
                </a:solidFill>
                <a:latin typeface="Arial"/>
              </a:defRPr>
            </a:pPr>
            <a:r>
              <a:t>@SIH Idea submission- Template  ·  ORCA 4.0</a:t>
            </a:r>
          </a:p>
        </p:txBody>
      </p:sp>
      <p:sp>
        <p:nvSpPr>
          <p:cNvPr id="8" name="TextBox 7"/>
          <p:cNvSpPr txBox="1"/>
          <p:nvPr/>
        </p:nvSpPr>
        <p:spPr>
          <a:xfrm>
            <a:off x="10058400" y="6419088"/>
            <a:ext cx="1554480" cy="320040"/>
          </a:xfrm>
          <a:prstGeom prst="rect">
            <a:avLst/>
          </a:prstGeom>
          <a:noFill/>
        </p:spPr>
        <p:txBody>
          <a:bodyPr wrap="none" lIns="0" rIns="0" tIns="0" bIns="0">
            <a:spAutoFit/>
          </a:bodyPr>
          <a:lstStyle/>
          <a:p>
            <a:pPr algn="r">
              <a:defRPr sz="900" b="1">
                <a:solidFill>
                  <a:srgbClr val="0A2540"/>
                </a:solidFill>
                <a:latin typeface="Arial"/>
              </a:defRPr>
            </a:pPr>
            <a:r>
              <a:t>7</a:t>
            </a:r>
          </a:p>
        </p:txBody>
      </p:sp>
      <p:sp>
        <p:nvSpPr>
          <p:cNvPr id="9" name="Rounded Rectangle 8"/>
          <p:cNvSpPr/>
          <p:nvPr/>
        </p:nvSpPr>
        <p:spPr>
          <a:xfrm>
            <a:off x="548640" y="1188720"/>
            <a:ext cx="6583680" cy="5074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defRPr b="1" sz="950">
                <a:solidFill>
                  <a:srgbClr val="0A2540"/>
                </a:solidFill>
                <a:latin typeface="Arial"/>
              </a:defRPr>
            </a:pPr>
            <a:r>
              <a:t>6-STAGE PROTOTYPE EXECUTION FLOW</a:t>
            </a:r>
          </a:p>
          <a:p>
            <a:pPr>
              <a:spcAft>
                <a:spcPts val="350"/>
              </a:spcAft>
            </a:pPr>
            <a:r>
              <a:rPr b="1" sz="800">
                <a:solidFill>
                  <a:srgbClr val="0284C7"/>
                </a:solidFill>
                <a:latin typeface="Arial"/>
              </a:rPr>
              <a:t>STAGE 01: GPS VOYAGE QUERY
</a:t>
            </a:r>
            <a:r>
              <a:rPr sz="750">
                <a:solidFill>
                  <a:srgbClr val="334155"/>
                </a:solidFill>
                <a:latin typeface="Arial"/>
              </a:rPr>
              <a:t>  POST /api/v1/assess-trip (Lat: 8.08°N, Lon: 77.55°E, Kanyakumari Port)</a:t>
            </a:r>
          </a:p>
          <a:p>
            <a:pPr>
              <a:spcAft>
                <a:spcPts val="350"/>
              </a:spcAft>
            </a:pPr>
            <a:r>
              <a:rPr b="1" sz="800">
                <a:solidFill>
                  <a:srgbClr val="0A2540"/>
                </a:solidFill>
                <a:latin typeface="Arial"/>
              </a:rPr>
              <a:t>STAGE 02: LIVE OCEAN INGESTION
</a:t>
            </a:r>
            <a:r>
              <a:rPr sz="750">
                <a:solidFill>
                  <a:srgbClr val="334155"/>
                </a:solidFill>
                <a:latin typeface="Arial"/>
              </a:rPr>
              <a:t>  Open-Meteo &amp; IMD Feeds: Wave Hs = 2.8m, Swell Tp = 8.2s, Wind Gusts = 24 kts</a:t>
            </a:r>
          </a:p>
          <a:p>
            <a:pPr>
              <a:spcAft>
                <a:spcPts val="350"/>
              </a:spcAft>
            </a:pPr>
            <a:r>
              <a:rPr b="1" sz="800">
                <a:solidFill>
                  <a:srgbClr val="0A2540"/>
                </a:solidFill>
                <a:latin typeface="Arial"/>
              </a:rPr>
              <a:t>STAGE 03: VESSEL TWIN INSTANTIATION
</a:t>
            </a:r>
            <a:r>
              <a:rPr sz="750">
                <a:solidFill>
                  <a:srgbClr val="334155"/>
                </a:solidFill>
                <a:latin typeface="Arial"/>
              </a:rPr>
              <a:t>  Parametric Profile: 9m FRP artisanal gillnetter, 1.1m draft, 2.4m beam</a:t>
            </a:r>
          </a:p>
          <a:p>
            <a:pPr>
              <a:spcAft>
                <a:spcPts val="350"/>
              </a:spcAft>
            </a:pPr>
            <a:r>
              <a:rPr b="1" sz="800">
                <a:solidFill>
                  <a:srgbClr val="10B981"/>
                </a:solidFill>
                <a:latin typeface="Arial"/>
              </a:rPr>
              <a:t>STAGE 04: DETERMINISTIC PHYSICS CHECK
</a:t>
            </a:r>
            <a:r>
              <a:rPr sz="750">
                <a:solidFill>
                  <a:srgbClr val="334155"/>
                </a:solidFill>
                <a:latin typeface="Arial"/>
              </a:rPr>
              <a:t>  Hcrit = 0.6 · 9m = 5.4m &gt; 2.8m (Safe from immediate open-water capsize)</a:t>
            </a:r>
          </a:p>
          <a:p>
            <a:pPr>
              <a:spcAft>
                <a:spcPts val="350"/>
              </a:spcAft>
            </a:pPr>
            <a:r>
              <a:rPr b="1" sz="800">
                <a:solidFill>
                  <a:srgbClr val="D97706"/>
                </a:solidFill>
                <a:latin typeface="Arial"/>
              </a:rPr>
              <a:t>STAGE 05: A* ROUTE RISK DIVERSION
</a:t>
            </a:r>
            <a:r>
              <a:rPr sz="750">
                <a:solidFill>
                  <a:srgbClr val="334155"/>
                </a:solidFill>
                <a:latin typeface="Arial"/>
              </a:rPr>
              <a:t>  Detects shallow shoal wave breaker on direct path ➔ Diverts route 3.2 NM East</a:t>
            </a:r>
          </a:p>
          <a:p>
            <a:pPr>
              <a:spcAft>
                <a:spcPts val="350"/>
              </a:spcAft>
            </a:pPr>
            <a:r>
              <a:rPr b="1" sz="800">
                <a:solidFill>
                  <a:srgbClr val="10B981"/>
                </a:solidFill>
                <a:latin typeface="Arial"/>
              </a:rPr>
              <a:t>STAGE 06: MULTILINGUAL VERDICT &amp; AUDIO
</a:t>
            </a:r>
            <a:r>
              <a:rPr sz="750">
                <a:solidFill>
                  <a:srgbClr val="334155"/>
                </a:solidFill>
                <a:latin typeface="Arial"/>
              </a:rPr>
              <a:t>  Verdict: PROCEED WITH CAUTION  ·  Synthesizes Tamil Voice Advisory &amp; Map</a:t>
            </a:r>
          </a:p>
        </p:txBody>
      </p:sp>
      <p:sp>
        <p:nvSpPr>
          <p:cNvPr id="10" name="Rounded Rectangle 9"/>
          <p:cNvSpPr/>
          <p:nvPr/>
        </p:nvSpPr>
        <p:spPr>
          <a:xfrm>
            <a:off x="7315200" y="1188720"/>
            <a:ext cx="4325112" cy="292608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300"/>
              </a:spcAft>
              <a:defRPr b="1" sz="900">
                <a:solidFill>
                  <a:srgbClr val="0284C7"/>
                </a:solidFill>
                <a:latin typeface="Arial"/>
              </a:defRPr>
            </a:pPr>
            <a:r>
              <a:t>MARITIME COMMAND MAP: DYNAMIC ROUTE</a:t>
            </a:r>
          </a:p>
          <a:p>
            <a:pPr>
              <a:defRPr b="1" sz="800">
                <a:solidFill>
                  <a:srgbClr val="0A2540"/>
                </a:solidFill>
                <a:latin typeface="Arial"/>
              </a:defRPr>
            </a:pPr>
            <a:r>
              <a:t>📍 KANYAKUMARI HARBOR (Start Point)</a:t>
            </a:r>
            <a:br/>
          </a:p>
          <a:p>
            <a:pPr>
              <a:defRPr sz="750">
                <a:solidFill>
                  <a:srgbClr val="334155"/>
                </a:solidFill>
                <a:latin typeface="Arial"/>
              </a:defRPr>
            </a:pPr>
            <a:r>
              <a:t>   |─── ❌ Direct Path: Crosses High-Risk Shoal Breaker Zone (Risk Score: 0.88)</a:t>
            </a:r>
            <a:br/>
            <a:r>
              <a:t>   └─── ✅ ORCA A* Diversion: +3.2 NM East (Risk Score: 0.24, Fuel Est: 14.2 L)</a:t>
            </a:r>
            <a:br/>
          </a:p>
          <a:p>
            <a:pPr>
              <a:defRPr b="1" sz="800">
                <a:solidFill>
                  <a:srgbClr val="10B981"/>
                </a:solidFill>
                <a:latin typeface="Arial"/>
              </a:defRPr>
            </a:pPr>
            <a:r>
              <a:t>🏁 PELAGIC FISHING GROUND (Target Zone: HSI Score 0.82)</a:t>
            </a:r>
          </a:p>
        </p:txBody>
      </p:sp>
      <p:sp>
        <p:nvSpPr>
          <p:cNvPr id="11" name="Rounded Rectangle 10"/>
          <p:cNvSpPr/>
          <p:nvPr/>
        </p:nvSpPr>
        <p:spPr>
          <a:xfrm>
            <a:off x="7315200" y="4251960"/>
            <a:ext cx="4325112"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200"/>
              </a:spcAft>
              <a:defRPr b="1" sz="900">
                <a:solidFill>
                  <a:srgbClr val="0A2540"/>
                </a:solidFill>
                <a:latin typeface="Arial"/>
              </a:defRPr>
            </a:pPr>
            <a:r>
              <a:t>BENCHMARK PERFORMANCE (SIMULATION)</a:t>
            </a:r>
          </a:p>
          <a:p>
            <a:pPr>
              <a:spcAft>
                <a:spcPts val="150"/>
              </a:spcAft>
            </a:pPr>
            <a:r>
              <a:rPr b="1" sz="750">
                <a:solidFill>
                  <a:srgbClr val="0284C7"/>
                </a:solidFill>
                <a:latin typeface="Arial"/>
              </a:rPr>
              <a:t>• DAG Pipeline Execution Latency: </a:t>
            </a:r>
            <a:r>
              <a:rPr sz="700">
                <a:solidFill>
                  <a:srgbClr val="334155"/>
                </a:solidFill>
                <a:latin typeface="Arial"/>
              </a:rPr>
              <a:t>&lt; 85ms (FastAPI + SQLite WAL)</a:t>
            </a:r>
          </a:p>
          <a:p>
            <a:pPr>
              <a:spcAft>
                <a:spcPts val="150"/>
              </a:spcAft>
            </a:pPr>
            <a:r>
              <a:rPr b="1" sz="750">
                <a:solidFill>
                  <a:srgbClr val="0284C7"/>
                </a:solidFill>
                <a:latin typeface="Arial"/>
              </a:rPr>
              <a:t>• Safety Circuit Breaker Eval: </a:t>
            </a:r>
            <a:r>
              <a:rPr sz="700">
                <a:solidFill>
                  <a:srgbClr val="334155"/>
                </a:solidFill>
                <a:latin typeface="Arial"/>
              </a:rPr>
              <a:t>&lt; 8ms (Compiled Deterministic Pure Python)</a:t>
            </a:r>
          </a:p>
          <a:p>
            <a:pPr>
              <a:spcAft>
                <a:spcPts val="150"/>
              </a:spcAft>
            </a:pPr>
            <a:r>
              <a:rPr b="1" sz="750">
                <a:solidFill>
                  <a:srgbClr val="0284C7"/>
                </a:solidFill>
                <a:latin typeface="Arial"/>
              </a:rPr>
              <a:t>• A* Pathfinder Grid Compute: </a:t>
            </a:r>
            <a:r>
              <a:rPr sz="700">
                <a:solidFill>
                  <a:srgbClr val="334155"/>
                </a:solidFill>
                <a:latin typeface="Arial"/>
              </a:rPr>
              <a:t>&lt; 35ms (100x100 Spatial Cost Surface)</a:t>
            </a:r>
          </a:p>
          <a:p>
            <a:pPr>
              <a:spcAft>
                <a:spcPts val="150"/>
              </a:spcAft>
            </a:pPr>
            <a:r>
              <a:rPr b="1" sz="750">
                <a:solidFill>
                  <a:srgbClr val="0284C7"/>
                </a:solidFill>
                <a:latin typeface="Arial"/>
              </a:rPr>
              <a:t>• Offline Voice Audio Generation: </a:t>
            </a:r>
            <a:r>
              <a:rPr sz="700">
                <a:solidFill>
                  <a:srgbClr val="334155"/>
                </a:solidFill>
                <a:latin typeface="Arial"/>
              </a:rPr>
              <a:t>Pre-cached vernacular phoneme synthesis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329184" y="164592"/>
            <a:ext cx="1234440" cy="658368"/>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sz="1100" b="1">
                <a:solidFill>
                  <a:srgbClr val="FFFFFF"/>
                </a:solidFill>
                <a:latin typeface="Arial"/>
              </a:defRPr>
            </a:pPr>
            <a:r>
              <a:t>ORCA 4.0</a:t>
            </a:r>
          </a:p>
        </p:txBody>
      </p:sp>
      <p:pic>
        <p:nvPicPr>
          <p:cNvPr id="3" name="Picture 2" descr="sih_logo_extracted.png"/>
          <p:cNvPicPr>
            <a:picLocks noChangeAspect="1"/>
          </p:cNvPicPr>
          <p:nvPr/>
        </p:nvPicPr>
        <p:blipFill>
          <a:blip r:embed="rId2"/>
          <a:stretch>
            <a:fillRect/>
          </a:stretch>
        </p:blipFill>
        <p:spPr>
          <a:xfrm>
            <a:off x="9784080" y="18288"/>
            <a:ext cx="2249424" cy="1005840"/>
          </a:xfrm>
          <a:prstGeom prst="rect">
            <a:avLst/>
          </a:prstGeom>
        </p:spPr>
      </p:pic>
      <p:sp>
        <p:nvSpPr>
          <p:cNvPr id="4" name="TextBox 3"/>
          <p:cNvSpPr txBox="1"/>
          <p:nvPr/>
        </p:nvSpPr>
        <p:spPr>
          <a:xfrm>
            <a:off x="1691640" y="91440"/>
            <a:ext cx="8001000" cy="777240"/>
          </a:xfrm>
          <a:prstGeom prst="rect">
            <a:avLst/>
          </a:prstGeom>
          <a:noFill/>
        </p:spPr>
        <p:txBody>
          <a:bodyPr wrap="square" lIns="0" rIns="0" tIns="0" bIns="0">
            <a:spAutoFit/>
          </a:bodyPr>
          <a:lstStyle/>
          <a:p>
            <a:pPr>
              <a:defRPr sz="1700" b="1">
                <a:solidFill>
                  <a:srgbClr val="0A2540"/>
                </a:solidFill>
                <a:latin typeface="Arial"/>
              </a:defRPr>
            </a:pPr>
            <a:r>
              <a:t>“DESIGNED FOR WHEN THE SYSTEM IS WRONG”</a:t>
            </a:r>
          </a:p>
          <a:p>
            <a:pPr>
              <a:defRPr sz="900">
                <a:solidFill>
                  <a:srgbClr val="64748B"/>
                </a:solidFill>
                <a:latin typeface="Arial"/>
              </a:defRPr>
            </a:pPr>
            <a:r>
              <a:t>Maritime environments are hostile and unpredictable. ORCA assumes data will be stale, APIs will fail, and signals will drop.</a:t>
            </a:r>
          </a:p>
        </p:txBody>
      </p:sp>
      <p:sp>
        <p:nvSpPr>
          <p:cNvPr id="5" name="Rounded Rectangle 4"/>
          <p:cNvSpPr/>
          <p:nvPr/>
        </p:nvSpPr>
        <p:spPr>
          <a:xfrm>
            <a:off x="548640" y="877824"/>
            <a:ext cx="11091672" cy="25603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800" b="1">
                <a:solidFill>
                  <a:srgbClr val="0284C7"/>
                </a:solidFill>
                <a:latin typeface="Arial"/>
              </a:rPr>
              <a:t>08/10  ·  RESILIENCE &amp; FAILSAFES    |    </a:t>
            </a:r>
            <a:r>
              <a:rPr sz="750" b="1">
                <a:solidFill>
                  <a:srgbClr val="64748B"/>
                </a:solidFill>
                <a:latin typeface="Arial"/>
              </a:rPr>
              <a:t>FLOW: </a:t>
            </a:r>
            <a:r>
              <a:rPr sz="750" b="0">
                <a:solidFill>
                  <a:srgbClr val="64748B"/>
                </a:solidFill>
                <a:latin typeface="Arial"/>
              </a:rPr>
              <a:t>OCEAN</a:t>
            </a:r>
            <a:r>
              <a:rPr sz="700">
                <a:solidFill>
                  <a:srgbClr val="64748B"/>
                </a:solidFill>
                <a:latin typeface="Arial"/>
              </a:rPr>
              <a:t> ➔ </a:t>
            </a:r>
            <a:r>
              <a:rPr sz="750" b="0">
                <a:solidFill>
                  <a:srgbClr val="64748B"/>
                </a:solidFill>
                <a:latin typeface="Arial"/>
              </a:rPr>
              <a:t>WEATHER</a:t>
            </a:r>
            <a:r>
              <a:rPr sz="700">
                <a:solidFill>
                  <a:srgbClr val="64748B"/>
                </a:solidFill>
                <a:latin typeface="Arial"/>
              </a:rPr>
              <a:t> ➔ </a:t>
            </a:r>
            <a:r>
              <a:rPr sz="750" b="0">
                <a:solidFill>
                  <a:srgbClr val="64748B"/>
                </a:solidFill>
                <a:latin typeface="Arial"/>
              </a:rPr>
              <a:t>VESSEL</a:t>
            </a:r>
            <a:r>
              <a:rPr sz="700">
                <a:solidFill>
                  <a:srgbClr val="64748B"/>
                </a:solidFill>
                <a:latin typeface="Arial"/>
              </a:rPr>
              <a:t> ➔ </a:t>
            </a:r>
            <a:r>
              <a:rPr sz="750" b="0">
                <a:solidFill>
                  <a:srgbClr val="64748B"/>
                </a:solidFill>
                <a:latin typeface="Arial"/>
              </a:rPr>
              <a:t>ROUTE</a:t>
            </a:r>
            <a:r>
              <a:rPr sz="700">
                <a:solidFill>
                  <a:srgbClr val="64748B"/>
                </a:solidFill>
                <a:latin typeface="Arial"/>
              </a:rPr>
              <a:t> ➔ </a:t>
            </a:r>
            <a:r>
              <a:rPr sz="750" b="0">
                <a:solidFill>
                  <a:srgbClr val="64748B"/>
                </a:solidFill>
                <a:latin typeface="Arial"/>
              </a:rPr>
              <a:t>ORCA</a:t>
            </a:r>
            <a:r>
              <a:rPr sz="700">
                <a:solidFill>
                  <a:srgbClr val="64748B"/>
                </a:solidFill>
                <a:latin typeface="Arial"/>
              </a:rPr>
              <a:t> ➔ </a:t>
            </a:r>
            <a:r>
              <a:rPr sz="750" b="0">
                <a:solidFill>
                  <a:srgbClr val="64748B"/>
                </a:solidFill>
                <a:latin typeface="Arial"/>
              </a:rPr>
              <a:t>RISK</a:t>
            </a:r>
            <a:r>
              <a:rPr sz="700">
                <a:solidFill>
                  <a:srgbClr val="64748B"/>
                </a:solidFill>
                <a:latin typeface="Arial"/>
              </a:rPr>
              <a:t> ➔ </a:t>
            </a:r>
            <a:r>
              <a:rPr sz="750" b="1">
                <a:solidFill>
                  <a:srgbClr val="0284C7"/>
                </a:solidFill>
                <a:latin typeface="Arial"/>
              </a:rPr>
              <a:t>DECISION</a:t>
            </a:r>
          </a:p>
        </p:txBody>
      </p:sp>
      <p:sp>
        <p:nvSpPr>
          <p:cNvPr id="6" name="Rectangle 5"/>
          <p:cNvSpPr/>
          <p:nvPr/>
        </p:nvSpPr>
        <p:spPr>
          <a:xfrm>
            <a:off x="0" y="6355080"/>
            <a:ext cx="12191695" cy="5029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0" y="6419088"/>
            <a:ext cx="3959352" cy="320040"/>
          </a:xfrm>
          <a:prstGeom prst="rect">
            <a:avLst/>
          </a:prstGeom>
          <a:noFill/>
        </p:spPr>
        <p:txBody>
          <a:bodyPr wrap="none" lIns="0" rIns="0" tIns="0" bIns="0">
            <a:spAutoFit/>
          </a:bodyPr>
          <a:lstStyle/>
          <a:p>
            <a:pPr algn="ctr">
              <a:defRPr sz="850">
                <a:solidFill>
                  <a:srgbClr val="64748B"/>
                </a:solidFill>
                <a:latin typeface="Arial"/>
              </a:defRPr>
            </a:pPr>
            <a:r>
              <a:t>@SIH Idea submission- Template  ·  ORCA 4.0</a:t>
            </a:r>
          </a:p>
        </p:txBody>
      </p:sp>
      <p:sp>
        <p:nvSpPr>
          <p:cNvPr id="8" name="TextBox 7"/>
          <p:cNvSpPr txBox="1"/>
          <p:nvPr/>
        </p:nvSpPr>
        <p:spPr>
          <a:xfrm>
            <a:off x="10058400" y="6419088"/>
            <a:ext cx="1554480" cy="320040"/>
          </a:xfrm>
          <a:prstGeom prst="rect">
            <a:avLst/>
          </a:prstGeom>
          <a:noFill/>
        </p:spPr>
        <p:txBody>
          <a:bodyPr wrap="none" lIns="0" rIns="0" tIns="0" bIns="0">
            <a:spAutoFit/>
          </a:bodyPr>
          <a:lstStyle/>
          <a:p>
            <a:pPr algn="r">
              <a:defRPr sz="900" b="1">
                <a:solidFill>
                  <a:srgbClr val="0A2540"/>
                </a:solidFill>
                <a:latin typeface="Arial"/>
              </a:defRPr>
            </a:pPr>
            <a:r>
              <a:t>8</a:t>
            </a:r>
          </a:p>
        </p:txBody>
      </p:sp>
      <p:sp>
        <p:nvSpPr>
          <p:cNvPr id="9" name="Rounded Rectangle 8"/>
          <p:cNvSpPr/>
          <p:nvPr/>
        </p:nvSpPr>
        <p:spPr>
          <a:xfrm>
            <a:off x="548640" y="1188720"/>
            <a:ext cx="5120640" cy="5074920"/>
          </a:xfrm>
          <a:prstGeom prst="roundRect">
            <a:avLst/>
          </a:prstGeom>
          <a:solidFill>
            <a:srgbClr val="FFF1F2"/>
          </a:solidFill>
          <a:ln w="1270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defRPr b="1" sz="1000">
                <a:solidFill>
                  <a:srgbClr val="E11D48"/>
                </a:solidFill>
                <a:latin typeface="Arial"/>
              </a:defRPr>
            </a:pPr>
            <a:r>
              <a:t>HOSTILE SEA FAILURE CONDITIONS</a:t>
            </a:r>
          </a:p>
          <a:p>
            <a:pPr>
              <a:spcAft>
                <a:spcPts val="350"/>
              </a:spcAft>
            </a:pPr>
            <a:r>
              <a:rPr b="1" sz="800">
                <a:solidFill>
                  <a:srgbClr val="0F172A"/>
                </a:solidFill>
                <a:latin typeface="Arial"/>
              </a:rPr>
              <a:t>⚠️ 1. Data Stale / Cache Expired
</a:t>
            </a:r>
            <a:r>
              <a:rPr sz="750">
                <a:solidFill>
                  <a:srgbClr val="334155"/>
                </a:solidFill>
                <a:latin typeface="Arial"/>
              </a:rPr>
              <a:t>  Satellite pass delayed or forecast timestamp older than 3 hours.</a:t>
            </a:r>
          </a:p>
          <a:p>
            <a:pPr>
              <a:spcAft>
                <a:spcPts val="350"/>
              </a:spcAft>
            </a:pPr>
            <a:r>
              <a:rPr b="1" sz="800">
                <a:solidFill>
                  <a:srgbClr val="0F172A"/>
                </a:solidFill>
                <a:latin typeface="Arial"/>
              </a:rPr>
              <a:t>⚠️ 2. API Provider Downtime
</a:t>
            </a:r>
            <a:r>
              <a:rPr sz="750">
                <a:solidFill>
                  <a:srgbClr val="334155"/>
                </a:solidFill>
                <a:latin typeface="Arial"/>
              </a:rPr>
              <a:t>  INCOIS or Open-Meteo external REST gateway timeout or HTTP 500.</a:t>
            </a:r>
          </a:p>
          <a:p>
            <a:pPr>
              <a:spcAft>
                <a:spcPts val="350"/>
              </a:spcAft>
            </a:pPr>
            <a:r>
              <a:rPr b="1" sz="800">
                <a:solidFill>
                  <a:srgbClr val="0F172A"/>
                </a:solidFill>
                <a:latin typeface="Arial"/>
              </a:rPr>
              <a:t>⚠️ 3. Source Disagreement
</a:t>
            </a:r>
            <a:r>
              <a:rPr sz="750">
                <a:solidFill>
                  <a:srgbClr val="334155"/>
                </a:solidFill>
                <a:latin typeface="Arial"/>
              </a:rPr>
              <a:t>  IMD predicts 18 kt wind while ECMWF model indicates 32 kt gusts.</a:t>
            </a:r>
          </a:p>
          <a:p>
            <a:pPr>
              <a:spcAft>
                <a:spcPts val="350"/>
              </a:spcAft>
            </a:pPr>
            <a:r>
              <a:rPr b="1" sz="800">
                <a:solidFill>
                  <a:srgbClr val="0F172A"/>
                </a:solidFill>
                <a:latin typeface="Arial"/>
              </a:rPr>
              <a:t>⚠️ 4. Offshore Signal Blackout
</a:t>
            </a:r>
            <a:r>
              <a:rPr sz="750">
                <a:solidFill>
                  <a:srgbClr val="334155"/>
                </a:solidFill>
                <a:latin typeface="Arial"/>
              </a:rPr>
              <a:t>  Vessel sails 15 NM offshore, 4G/5G mobile signal drops to 0%.</a:t>
            </a:r>
          </a:p>
          <a:p>
            <a:pPr>
              <a:spcAft>
                <a:spcPts val="350"/>
              </a:spcAft>
            </a:pPr>
            <a:r>
              <a:rPr b="1" sz="800">
                <a:solidFill>
                  <a:srgbClr val="0F172A"/>
                </a:solidFill>
                <a:latin typeface="Arial"/>
              </a:rPr>
              <a:t>⚠️ 5. Onboard Sensor Failure
</a:t>
            </a:r>
            <a:r>
              <a:rPr sz="750">
                <a:solidFill>
                  <a:srgbClr val="334155"/>
                </a:solidFill>
                <a:latin typeface="Arial"/>
              </a:rPr>
              <a:t>  GPS or pitch-roll IMU disconnects or outputs erratic noisy data.</a:t>
            </a:r>
          </a:p>
          <a:p>
            <a:pPr>
              <a:spcAft>
                <a:spcPts val="350"/>
              </a:spcAft>
            </a:pPr>
            <a:r>
              <a:rPr b="1" sz="800">
                <a:solidFill>
                  <a:srgbClr val="0F172A"/>
                </a:solidFill>
                <a:latin typeface="Arial"/>
              </a:rPr>
              <a:t>⚠️ 6. ML Uncertainty Spikes
</a:t>
            </a:r>
            <a:r>
              <a:rPr sz="750">
                <a:solidFill>
                  <a:srgbClr val="334155"/>
                </a:solidFill>
                <a:latin typeface="Arial"/>
              </a:rPr>
              <a:t>  Habitat model or drift simulator encounters out-of-distribution state.</a:t>
            </a:r>
          </a:p>
        </p:txBody>
      </p:sp>
      <p:sp>
        <p:nvSpPr>
          <p:cNvPr id="10" name="Rounded Rectangle 9"/>
          <p:cNvSpPr/>
          <p:nvPr/>
        </p:nvSpPr>
        <p:spPr>
          <a:xfrm>
            <a:off x="5852160" y="1188720"/>
            <a:ext cx="5788152" cy="507492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defRPr b="1" sz="1000">
                <a:solidFill>
                  <a:srgbClr val="10B981"/>
                </a:solidFill>
                <a:latin typeface="Arial"/>
              </a:defRPr>
            </a:pPr>
            <a:r>
              <a:t>ORCA RESILIENCE &amp; SAFETY ARCHITECTURE</a:t>
            </a:r>
          </a:p>
          <a:p>
            <a:pPr>
              <a:spcAft>
                <a:spcPts val="350"/>
              </a:spcAft>
            </a:pPr>
            <a:r>
              <a:rPr b="1" sz="800">
                <a:solidFill>
                  <a:srgbClr val="0A2540"/>
                </a:solidFill>
                <a:latin typeface="Arial"/>
              </a:rPr>
              <a:t>🛡️ Automated TTL Freshness Monitoring
</a:t>
            </a:r>
            <a:r>
              <a:rPr sz="750">
                <a:solidFill>
                  <a:srgbClr val="334155"/>
                </a:solidFill>
                <a:latin typeface="Arial"/>
              </a:rPr>
              <a:t>  Flags data older than 30 min; falls back to conservative historical wave bounds.</a:t>
            </a:r>
          </a:p>
          <a:p>
            <a:pPr>
              <a:spcAft>
                <a:spcPts val="350"/>
              </a:spcAft>
            </a:pPr>
            <a:r>
              <a:rPr b="1" sz="800">
                <a:solidFill>
                  <a:srgbClr val="0A2540"/>
                </a:solidFill>
                <a:latin typeface="Arial"/>
              </a:rPr>
              <a:t>🛡️ Multi-Source Cascade Circuit Breaker
</a:t>
            </a:r>
            <a:r>
              <a:rPr sz="750">
                <a:solidFill>
                  <a:srgbClr val="334155"/>
                </a:solidFill>
                <a:latin typeface="Arial"/>
              </a:rPr>
              <a:t>  Automated failover: INCOIS ERDDAP ➔ Open-Meteo Marine ➔ MOSDAC Backup.</a:t>
            </a:r>
          </a:p>
          <a:p>
            <a:pPr>
              <a:spcAft>
                <a:spcPts val="350"/>
              </a:spcAft>
            </a:pPr>
            <a:r>
              <a:rPr b="1" sz="800">
                <a:solidFill>
                  <a:srgbClr val="0A2540"/>
                </a:solidFill>
                <a:latin typeface="Arial"/>
              </a:rPr>
              <a:t>🛡️ Provenance &amp; Confidence Weighting
</a:t>
            </a:r>
            <a:r>
              <a:rPr sz="750">
                <a:solidFill>
                  <a:srgbClr val="334155"/>
                </a:solidFill>
                <a:latin typeface="Arial"/>
              </a:rPr>
              <a:t>  Calculates ensemble disagreement bounds; defaults to highest-risk scenario.</a:t>
            </a:r>
          </a:p>
          <a:p>
            <a:pPr>
              <a:spcAft>
                <a:spcPts val="350"/>
              </a:spcAft>
            </a:pPr>
            <a:r>
              <a:rPr b="1" sz="800">
                <a:solidFill>
                  <a:srgbClr val="0A2540"/>
                </a:solidFill>
                <a:latin typeface="Arial"/>
              </a:rPr>
              <a:t>🛡️ Multi-Hop LoRa Fleet Mesh (OLSR)
</a:t>
            </a:r>
            <a:r>
              <a:rPr sz="750">
                <a:solidFill>
                  <a:srgbClr val="334155"/>
                </a:solidFill>
                <a:latin typeface="Arial"/>
              </a:rPr>
              <a:t>  Vessels relay 16-byte emergency packets across 3-8 km hops to 60m lighthouse masts.</a:t>
            </a:r>
          </a:p>
          <a:p>
            <a:pPr>
              <a:spcAft>
                <a:spcPts val="350"/>
              </a:spcAft>
            </a:pPr>
            <a:r>
              <a:rPr b="1" sz="800">
                <a:solidFill>
                  <a:srgbClr val="0A2540"/>
                </a:solidFill>
                <a:latin typeface="Arial"/>
              </a:rPr>
              <a:t>🛡️ Kalman Filter Sensor Sanity Gate
</a:t>
            </a:r>
            <a:r>
              <a:rPr sz="750">
                <a:solidFill>
                  <a:srgbClr val="334155"/>
                </a:solidFill>
                <a:latin typeface="Arial"/>
              </a:rPr>
              <a:t>  Rejects IMU spikes &gt; 3 sigma; defaults to vessel class static stability envelope.</a:t>
            </a:r>
          </a:p>
          <a:p>
            <a:pPr>
              <a:spcAft>
                <a:spcPts val="350"/>
              </a:spcAft>
            </a:pPr>
            <a:r>
              <a:rPr b="1" sz="800">
                <a:solidFill>
                  <a:srgbClr val="0A2540"/>
                </a:solidFill>
                <a:latin typeface="Arial"/>
              </a:rPr>
              <a:t>🛡️ 100% Deterministic Safety Override
</a:t>
            </a:r>
            <a:r>
              <a:rPr sz="750">
                <a:solidFill>
                  <a:srgbClr val="334155"/>
                </a:solidFill>
                <a:latin typeface="Arial"/>
              </a:rPr>
              <a:t>  Zero AI in safety gate; pure compiled physical logic enforces non-negotiable stop.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329184" y="164592"/>
            <a:ext cx="1234440" cy="658368"/>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sz="1100" b="1">
                <a:solidFill>
                  <a:srgbClr val="FFFFFF"/>
                </a:solidFill>
                <a:latin typeface="Arial"/>
              </a:defRPr>
            </a:pPr>
            <a:r>
              <a:t>ORCA 4.0</a:t>
            </a:r>
          </a:p>
        </p:txBody>
      </p:sp>
      <p:pic>
        <p:nvPicPr>
          <p:cNvPr id="3" name="Picture 2" descr="sih_logo_extracted.png"/>
          <p:cNvPicPr>
            <a:picLocks noChangeAspect="1"/>
          </p:cNvPicPr>
          <p:nvPr/>
        </p:nvPicPr>
        <p:blipFill>
          <a:blip r:embed="rId2"/>
          <a:stretch>
            <a:fillRect/>
          </a:stretch>
        </p:blipFill>
        <p:spPr>
          <a:xfrm>
            <a:off x="9784080" y="18288"/>
            <a:ext cx="2249424" cy="1005840"/>
          </a:xfrm>
          <a:prstGeom prst="rect">
            <a:avLst/>
          </a:prstGeom>
        </p:spPr>
      </p:pic>
      <p:sp>
        <p:nvSpPr>
          <p:cNvPr id="4" name="TextBox 3"/>
          <p:cNvSpPr txBox="1"/>
          <p:nvPr/>
        </p:nvSpPr>
        <p:spPr>
          <a:xfrm>
            <a:off x="1691640" y="91440"/>
            <a:ext cx="8001000" cy="777240"/>
          </a:xfrm>
          <a:prstGeom prst="rect">
            <a:avLst/>
          </a:prstGeom>
          <a:noFill/>
        </p:spPr>
        <p:txBody>
          <a:bodyPr wrap="square" lIns="0" rIns="0" tIns="0" bIns="0">
            <a:spAutoFit/>
          </a:bodyPr>
          <a:lstStyle/>
          <a:p>
            <a:pPr>
              <a:defRPr sz="1700" b="1">
                <a:solidFill>
                  <a:srgbClr val="0A2540"/>
                </a:solidFill>
                <a:latin typeface="Arial"/>
              </a:defRPr>
            </a:pPr>
            <a:r>
              <a:t>“FROM PROTOTYPE TO COASTAL INFRASTRUCTURE”</a:t>
            </a:r>
          </a:p>
          <a:p>
            <a:pPr>
              <a:defRPr sz="900">
                <a:solidFill>
                  <a:srgbClr val="64748B"/>
                </a:solidFill>
                <a:latin typeface="Arial"/>
              </a:defRPr>
            </a:pPr>
            <a:r>
              <a:t>Verified engineering status, multi-hop LoRa hardware mesh, and low-cost deployment economics.</a:t>
            </a:r>
          </a:p>
        </p:txBody>
      </p:sp>
      <p:sp>
        <p:nvSpPr>
          <p:cNvPr id="5" name="Rounded Rectangle 4"/>
          <p:cNvSpPr/>
          <p:nvPr/>
        </p:nvSpPr>
        <p:spPr>
          <a:xfrm>
            <a:off x="548640" y="877824"/>
            <a:ext cx="11091672" cy="25603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800" b="1">
                <a:solidFill>
                  <a:srgbClr val="0284C7"/>
                </a:solidFill>
                <a:latin typeface="Arial"/>
              </a:rPr>
              <a:t>09/10  ·  EXECUTION &amp; SCALE    |    </a:t>
            </a:r>
            <a:r>
              <a:rPr sz="750" b="1">
                <a:solidFill>
                  <a:srgbClr val="64748B"/>
                </a:solidFill>
                <a:latin typeface="Arial"/>
              </a:rPr>
              <a:t>FLOW: </a:t>
            </a:r>
            <a:r>
              <a:rPr sz="750" b="0">
                <a:solidFill>
                  <a:srgbClr val="64748B"/>
                </a:solidFill>
                <a:latin typeface="Arial"/>
              </a:rPr>
              <a:t>OCEAN</a:t>
            </a:r>
            <a:r>
              <a:rPr sz="700">
                <a:solidFill>
                  <a:srgbClr val="64748B"/>
                </a:solidFill>
                <a:latin typeface="Arial"/>
              </a:rPr>
              <a:t> ➔ </a:t>
            </a:r>
            <a:r>
              <a:rPr sz="750" b="0">
                <a:solidFill>
                  <a:srgbClr val="64748B"/>
                </a:solidFill>
                <a:latin typeface="Arial"/>
              </a:rPr>
              <a:t>WEATHER</a:t>
            </a:r>
            <a:r>
              <a:rPr sz="700">
                <a:solidFill>
                  <a:srgbClr val="64748B"/>
                </a:solidFill>
                <a:latin typeface="Arial"/>
              </a:rPr>
              <a:t> ➔ </a:t>
            </a:r>
            <a:r>
              <a:rPr sz="750" b="0">
                <a:solidFill>
                  <a:srgbClr val="64748B"/>
                </a:solidFill>
                <a:latin typeface="Arial"/>
              </a:rPr>
              <a:t>VESSEL</a:t>
            </a:r>
            <a:r>
              <a:rPr sz="700">
                <a:solidFill>
                  <a:srgbClr val="64748B"/>
                </a:solidFill>
                <a:latin typeface="Arial"/>
              </a:rPr>
              <a:t> ➔ </a:t>
            </a:r>
            <a:r>
              <a:rPr sz="750" b="0">
                <a:solidFill>
                  <a:srgbClr val="64748B"/>
                </a:solidFill>
                <a:latin typeface="Arial"/>
              </a:rPr>
              <a:t>ROUTE</a:t>
            </a:r>
            <a:r>
              <a:rPr sz="700">
                <a:solidFill>
                  <a:srgbClr val="64748B"/>
                </a:solidFill>
                <a:latin typeface="Arial"/>
              </a:rPr>
              <a:t> ➔ </a:t>
            </a:r>
            <a:r>
              <a:rPr sz="750" b="0">
                <a:solidFill>
                  <a:srgbClr val="64748B"/>
                </a:solidFill>
                <a:latin typeface="Arial"/>
              </a:rPr>
              <a:t>ORCA</a:t>
            </a:r>
            <a:r>
              <a:rPr sz="700">
                <a:solidFill>
                  <a:srgbClr val="64748B"/>
                </a:solidFill>
                <a:latin typeface="Arial"/>
              </a:rPr>
              <a:t> ➔ </a:t>
            </a:r>
            <a:r>
              <a:rPr sz="750" b="0">
                <a:solidFill>
                  <a:srgbClr val="64748B"/>
                </a:solidFill>
                <a:latin typeface="Arial"/>
              </a:rPr>
              <a:t>RISK</a:t>
            </a:r>
            <a:r>
              <a:rPr sz="700">
                <a:solidFill>
                  <a:srgbClr val="64748B"/>
                </a:solidFill>
                <a:latin typeface="Arial"/>
              </a:rPr>
              <a:t> ➔ </a:t>
            </a:r>
            <a:r>
              <a:rPr sz="750" b="1">
                <a:solidFill>
                  <a:srgbClr val="0284C7"/>
                </a:solidFill>
                <a:latin typeface="Arial"/>
              </a:rPr>
              <a:t>DECISION</a:t>
            </a:r>
          </a:p>
        </p:txBody>
      </p:sp>
      <p:sp>
        <p:nvSpPr>
          <p:cNvPr id="6" name="Rectangle 5"/>
          <p:cNvSpPr/>
          <p:nvPr/>
        </p:nvSpPr>
        <p:spPr>
          <a:xfrm>
            <a:off x="0" y="6355080"/>
            <a:ext cx="12191695" cy="5029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0" y="6419088"/>
            <a:ext cx="3959352" cy="320040"/>
          </a:xfrm>
          <a:prstGeom prst="rect">
            <a:avLst/>
          </a:prstGeom>
          <a:noFill/>
        </p:spPr>
        <p:txBody>
          <a:bodyPr wrap="none" lIns="0" rIns="0" tIns="0" bIns="0">
            <a:spAutoFit/>
          </a:bodyPr>
          <a:lstStyle/>
          <a:p>
            <a:pPr algn="ctr">
              <a:defRPr sz="850">
                <a:solidFill>
                  <a:srgbClr val="64748B"/>
                </a:solidFill>
                <a:latin typeface="Arial"/>
              </a:defRPr>
            </a:pPr>
            <a:r>
              <a:t>@SIH Idea submission- Template  ·  ORCA 4.0</a:t>
            </a:r>
          </a:p>
        </p:txBody>
      </p:sp>
      <p:sp>
        <p:nvSpPr>
          <p:cNvPr id="8" name="TextBox 7"/>
          <p:cNvSpPr txBox="1"/>
          <p:nvPr/>
        </p:nvSpPr>
        <p:spPr>
          <a:xfrm>
            <a:off x="10058400" y="6419088"/>
            <a:ext cx="1554480" cy="320040"/>
          </a:xfrm>
          <a:prstGeom prst="rect">
            <a:avLst/>
          </a:prstGeom>
          <a:noFill/>
        </p:spPr>
        <p:txBody>
          <a:bodyPr wrap="none" lIns="0" rIns="0" tIns="0" bIns="0">
            <a:spAutoFit/>
          </a:bodyPr>
          <a:lstStyle/>
          <a:p>
            <a:pPr algn="r">
              <a:defRPr sz="900" b="1">
                <a:solidFill>
                  <a:srgbClr val="0A2540"/>
                </a:solidFill>
                <a:latin typeface="Arial"/>
              </a:defRPr>
            </a:pPr>
            <a:r>
              <a:t>9</a:t>
            </a:r>
          </a:p>
        </p:txBody>
      </p:sp>
      <p:sp>
        <p:nvSpPr>
          <p:cNvPr id="9" name="Rounded Rectangle 8"/>
          <p:cNvSpPr/>
          <p:nvPr/>
        </p:nvSpPr>
        <p:spPr>
          <a:xfrm>
            <a:off x="548640" y="1188720"/>
            <a:ext cx="3291840" cy="5074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defRPr b="1" sz="950">
                <a:solidFill>
                  <a:srgbClr val="0A2540"/>
                </a:solidFill>
                <a:latin typeface="Arial"/>
              </a:defRPr>
            </a:pPr>
            <a:r>
              <a:t>ZONE 1: VERIFIED ROADMAP</a:t>
            </a:r>
          </a:p>
          <a:p>
            <a:pPr>
              <a:spcAft>
                <a:spcPts val="350"/>
              </a:spcAft>
            </a:pPr>
            <a:r>
              <a:rPr b="1" sz="800">
                <a:solidFill>
                  <a:srgbClr val="10B981"/>
                </a:solidFill>
                <a:latin typeface="Arial"/>
              </a:rPr>
              <a:t>✓ END-TO-END PROTOTYPE
</a:t>
            </a:r>
            <a:r>
              <a:rPr sz="750">
                <a:solidFill>
                  <a:srgbClr val="334155"/>
                </a:solidFill>
                <a:latin typeface="Arial"/>
              </a:rPr>
              <a:t>FastAPI + React MapLibre working architecture [BUILT]</a:t>
            </a:r>
          </a:p>
          <a:p>
            <a:pPr>
              <a:spcAft>
                <a:spcPts val="350"/>
              </a:spcAft>
            </a:pPr>
            <a:r>
              <a:rPr b="1" sz="800">
                <a:solidFill>
                  <a:srgbClr val="10B981"/>
                </a:solidFill>
                <a:latin typeface="Arial"/>
              </a:rPr>
              <a:t>✓ MULTI-SOURCE INGESTION
</a:t>
            </a:r>
            <a:r>
              <a:rPr sz="750">
                <a:solidFill>
                  <a:srgbClr val="334155"/>
                </a:solidFill>
                <a:latin typeface="Arial"/>
              </a:rPr>
              <a:t>Open-Meteo, IMD, MOSDAC pipelines active [BUILT]</a:t>
            </a:r>
          </a:p>
          <a:p>
            <a:pPr>
              <a:spcAft>
                <a:spcPts val="350"/>
              </a:spcAft>
            </a:pPr>
            <a:r>
              <a:rPr b="1" sz="800">
                <a:solidFill>
                  <a:srgbClr val="10B981"/>
                </a:solidFill>
                <a:latin typeface="Arial"/>
              </a:rPr>
              <a:t>✓ DETERMINISTIC RISK ENGINE
</a:t>
            </a:r>
            <a:r>
              <a:rPr sz="750">
                <a:solidFill>
                  <a:srgbClr val="334155"/>
                </a:solidFill>
                <a:latin typeface="Arial"/>
              </a:rPr>
              <a:t>Physical capsizing &amp; Hcrit circuit breaker [BUILT]</a:t>
            </a:r>
          </a:p>
          <a:p>
            <a:pPr>
              <a:spcAft>
                <a:spcPts val="350"/>
              </a:spcAft>
            </a:pPr>
            <a:r>
              <a:rPr b="1" sz="800">
                <a:solidFill>
                  <a:srgbClr val="10B981"/>
                </a:solidFill>
                <a:latin typeface="Arial"/>
              </a:rPr>
              <a:t>✓ DYNAMIC A* PATHFINDER
</a:t>
            </a:r>
            <a:r>
              <a:rPr sz="750">
                <a:solidFill>
                  <a:srgbClr val="334155"/>
                </a:solidFill>
                <a:latin typeface="Arial"/>
              </a:rPr>
              <a:t>Time-varying 2D risk surface routing [BUILT]</a:t>
            </a:r>
          </a:p>
          <a:p>
            <a:pPr>
              <a:spcAft>
                <a:spcPts val="350"/>
              </a:spcAft>
            </a:pPr>
            <a:r>
              <a:rPr b="1" sz="800">
                <a:solidFill>
                  <a:srgbClr val="D97706"/>
                </a:solidFill>
                <a:latin typeface="Arial"/>
              </a:rPr>
              <a:t>◐ HARBOR PILOT TRIAL
</a:t>
            </a:r>
            <a:r>
              <a:rPr sz="750">
                <a:solidFill>
                  <a:srgbClr val="334155"/>
                </a:solidFill>
                <a:latin typeface="Arial"/>
              </a:rPr>
              <a:t>Kanyakumari &amp; Munambam field trials [IN PROGRESS]</a:t>
            </a:r>
          </a:p>
          <a:p>
            <a:pPr>
              <a:spcAft>
                <a:spcPts val="350"/>
              </a:spcAft>
            </a:pPr>
            <a:r>
              <a:rPr b="1" sz="800">
                <a:solidFill>
                  <a:srgbClr val="64748B"/>
                </a:solidFill>
                <a:latin typeface="Arial"/>
              </a:rPr>
              <a:t>◌ PAN-INDIA EXPANSION
</a:t>
            </a:r>
            <a:r>
              <a:rPr sz="750">
                <a:solidFill>
                  <a:srgbClr val="334155"/>
                </a:solidFill>
                <a:latin typeface="Arial"/>
              </a:rPr>
              <a:t>Integration across 9 coastal states &amp; Satcom [PLANNED]</a:t>
            </a:r>
          </a:p>
        </p:txBody>
      </p:sp>
      <p:sp>
        <p:nvSpPr>
          <p:cNvPr id="10" name="Rounded Rectangle 9"/>
          <p:cNvSpPr/>
          <p:nvPr/>
        </p:nvSpPr>
        <p:spPr>
          <a:xfrm>
            <a:off x="4023360" y="1188720"/>
            <a:ext cx="3840480" cy="5074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defRPr b="1" sz="950">
                <a:solidFill>
                  <a:srgbClr val="0284C7"/>
                </a:solidFill>
                <a:latin typeface="Arial"/>
              </a:defRPr>
            </a:pPr>
            <a:r>
              <a:t>ZONE 2: DEPLOYMENT ARCHITECTURE</a:t>
            </a:r>
          </a:p>
          <a:p>
            <a:pPr>
              <a:spcAft>
                <a:spcPts val="400"/>
              </a:spcAft>
            </a:pPr>
            <a:r>
              <a:rPr b="1" sz="800">
                <a:solidFill>
                  <a:srgbClr val="0A2540"/>
                </a:solidFill>
                <a:latin typeface="Arial"/>
              </a:rPr>
              <a:t>1. Vessel Edge Node
</a:t>
            </a:r>
            <a:r>
              <a:rPr sz="750">
                <a:solidFill>
                  <a:srgbClr val="334155"/>
                </a:solidFill>
                <a:latin typeface="Arial"/>
              </a:rPr>
              <a:t>Low-power ESP32 MCU + LoRa SX1262 transceiver + GPS NEO-6M.</a:t>
            </a:r>
          </a:p>
          <a:p>
            <a:pPr>
              <a:spcAft>
                <a:spcPts val="400"/>
              </a:spcAft>
            </a:pPr>
            <a:r>
              <a:rPr b="1" sz="800">
                <a:solidFill>
                  <a:srgbClr val="0A2540"/>
                </a:solidFill>
                <a:latin typeface="Arial"/>
              </a:rPr>
              <a:t>2. Fleet Ad-Hoc Relay
</a:t>
            </a:r>
            <a:r>
              <a:rPr sz="750">
                <a:solidFill>
                  <a:srgbClr val="334155"/>
                </a:solidFill>
                <a:latin typeface="Arial"/>
              </a:rPr>
              <a:t>Boats spaced 3–8 km apart form a dynamic peer-to-peer radio mesh.</a:t>
            </a:r>
          </a:p>
          <a:p>
            <a:pPr>
              <a:spcAft>
                <a:spcPts val="400"/>
              </a:spcAft>
            </a:pPr>
            <a:r>
              <a:rPr b="1" sz="800">
                <a:solidFill>
                  <a:srgbClr val="0A2540"/>
                </a:solidFill>
                <a:latin typeface="Arial"/>
              </a:rPr>
              <a:t>3. Coastal Lighthouse Mast
</a:t>
            </a:r>
            <a:r>
              <a:rPr sz="750">
                <a:solidFill>
                  <a:srgbClr val="334155"/>
                </a:solidFill>
                <a:latin typeface="Arial"/>
              </a:rPr>
              <a:t>60m lighthouse receiver with line-of-sight reach of 33.8 km to boats.</a:t>
            </a:r>
          </a:p>
          <a:p>
            <a:pPr>
              <a:spcAft>
                <a:spcPts val="400"/>
              </a:spcAft>
            </a:pPr>
            <a:r>
              <a:rPr b="1" sz="800">
                <a:solidFill>
                  <a:srgbClr val="0A2540"/>
                </a:solidFill>
                <a:latin typeface="Arial"/>
              </a:rPr>
              <a:t>4. ORCA Fast Cloud Engine
</a:t>
            </a:r>
            <a:r>
              <a:rPr sz="750">
                <a:solidFill>
                  <a:srgbClr val="334155"/>
                </a:solidFill>
                <a:latin typeface="Arial"/>
              </a:rPr>
              <a:t>Ingests 16-byte binary packets; executes A* &amp; HSI in &lt;85ms.</a:t>
            </a:r>
          </a:p>
          <a:p>
            <a:pPr>
              <a:spcAft>
                <a:spcPts val="400"/>
              </a:spcAft>
            </a:pPr>
            <a:r>
              <a:rPr b="1" sz="800">
                <a:solidFill>
                  <a:srgbClr val="0A2540"/>
                </a:solidFill>
                <a:latin typeface="Arial"/>
              </a:rPr>
              <a:t>5. Dual User Interface
</a:t>
            </a:r>
            <a:r>
              <a:rPr sz="750">
                <a:solidFill>
                  <a:srgbClr val="334155"/>
                </a:solidFill>
                <a:latin typeface="Arial"/>
              </a:rPr>
              <a:t>Offline PWA for fishers; real-time dashboard for Coast Guard.</a:t>
            </a:r>
          </a:p>
        </p:txBody>
      </p:sp>
      <p:sp>
        <p:nvSpPr>
          <p:cNvPr id="11" name="Rounded Rectangle 10"/>
          <p:cNvSpPr/>
          <p:nvPr/>
        </p:nvSpPr>
        <p:spPr>
          <a:xfrm>
            <a:off x="8046720" y="1188720"/>
            <a:ext cx="3593592" cy="5074920"/>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defRPr b="1" sz="950">
                <a:solidFill>
                  <a:srgbClr val="10B981"/>
                </a:solidFill>
                <a:latin typeface="Arial"/>
              </a:defRPr>
            </a:pPr>
            <a:r>
              <a:t>ZONE 3: ECONOMICS &amp; BOM</a:t>
            </a:r>
          </a:p>
          <a:p>
            <a:pPr>
              <a:spcAft>
                <a:spcPts val="250"/>
              </a:spcAft>
            </a:pPr>
            <a:r>
              <a:rPr sz="750">
                <a:solidFill>
                  <a:srgbClr val="0F172A"/>
                </a:solidFill>
                <a:latin typeface="Arial"/>
              </a:rPr>
              <a:t>• ESP32 MCU + LoRa SX1262: </a:t>
            </a:r>
            <a:r>
              <a:rPr b="1" sz="750">
                <a:solidFill>
                  <a:srgbClr val="0284C7"/>
                </a:solidFill>
                <a:latin typeface="Arial"/>
              </a:rPr>
              <a:t>₹1,800 (~$22)</a:t>
            </a:r>
          </a:p>
          <a:p>
            <a:pPr>
              <a:spcAft>
                <a:spcPts val="250"/>
              </a:spcAft>
            </a:pPr>
            <a:r>
              <a:rPr sz="750">
                <a:solidFill>
                  <a:srgbClr val="0F172A"/>
                </a:solidFill>
                <a:latin typeface="Arial"/>
              </a:rPr>
              <a:t>• GPS NEO-6M Receiver: </a:t>
            </a:r>
            <a:r>
              <a:rPr b="1" sz="750">
                <a:solidFill>
                  <a:srgbClr val="0284C7"/>
                </a:solidFill>
                <a:latin typeface="Arial"/>
              </a:rPr>
              <a:t>₹600 (~$7)</a:t>
            </a:r>
          </a:p>
          <a:p>
            <a:pPr>
              <a:spcAft>
                <a:spcPts val="250"/>
              </a:spcAft>
            </a:pPr>
            <a:r>
              <a:rPr sz="750">
                <a:solidFill>
                  <a:srgbClr val="0F172A"/>
                </a:solidFill>
                <a:latin typeface="Arial"/>
              </a:rPr>
              <a:t>• IP67 Enclosure + Solar Panel: </a:t>
            </a:r>
            <a:r>
              <a:rPr b="1" sz="750">
                <a:solidFill>
                  <a:srgbClr val="0284C7"/>
                </a:solidFill>
                <a:latin typeface="Arial"/>
              </a:rPr>
              <a:t>₹1,100 (~$13)</a:t>
            </a:r>
          </a:p>
          <a:p>
            <a:pPr>
              <a:spcAft>
                <a:spcPts val="250"/>
              </a:spcAft>
            </a:pPr>
            <a:r>
              <a:rPr sz="750">
                <a:solidFill>
                  <a:srgbClr val="0F172A"/>
                </a:solidFill>
                <a:latin typeface="Arial"/>
              </a:rPr>
              <a:t>• Total Hardware Cost / Boat: </a:t>
            </a:r>
            <a:r>
              <a:rPr b="1" sz="750">
                <a:solidFill>
                  <a:srgbClr val="10B981"/>
                </a:solidFill>
                <a:latin typeface="Arial"/>
              </a:rPr>
              <a:t>≈ ₹3,500 ($42) [INDICATIVE]</a:t>
            </a:r>
          </a:p>
          <a:p>
            <a:pPr>
              <a:spcAft>
                <a:spcPts val="250"/>
              </a:spcAft>
            </a:pPr>
            <a:r>
              <a:rPr sz="750">
                <a:solidFill>
                  <a:srgbClr val="0F172A"/>
                </a:solidFill>
                <a:latin typeface="Arial"/>
              </a:rPr>
              <a:t>• Public Data Ingestion Cost: </a:t>
            </a:r>
            <a:r>
              <a:rPr b="1" sz="750">
                <a:solidFill>
                  <a:srgbClr val="10B981"/>
                </a:solidFill>
                <a:latin typeface="Arial"/>
              </a:rPr>
              <a:t>₹0 (Open INCOIS &amp; MOSDAC)</a:t>
            </a:r>
          </a:p>
          <a:p>
            <a:pPr>
              <a:spcAft>
                <a:spcPts val="250"/>
              </a:spcAft>
            </a:pPr>
            <a:r>
              <a:rPr sz="750">
                <a:solidFill>
                  <a:srgbClr val="0F172A"/>
                </a:solidFill>
                <a:latin typeface="Arial"/>
              </a:rPr>
              <a:t>• Serverless Compute / Trip: </a:t>
            </a:r>
            <a:r>
              <a:rPr b="1" sz="750">
                <a:solidFill>
                  <a:srgbClr val="10B981"/>
                </a:solidFill>
                <a:latin typeface="Arial"/>
              </a:rPr>
              <a:t>₹0.04 per assessment [ESTIMATE]</a:t>
            </a:r>
          </a:p>
          <a:p>
            <a:pPr>
              <a:spcAft>
                <a:spcPts val="200"/>
              </a:spcAft>
            </a:pPr>
            <a:r>
              <a:rPr b="1" sz="800">
                <a:solidFill>
                  <a:srgbClr val="0A2540"/>
                </a:solidFill>
                <a:latin typeface="Arial"/>
              </a:rPr>
              <a:t>
SCALE PROGRESSION:
</a:t>
            </a:r>
            <a:r>
              <a:rPr sz="750">
                <a:solidFill>
                  <a:srgbClr val="334155"/>
                </a:solidFill>
                <a:latin typeface="Arial"/>
              </a:rPr>
              <a:t>1 Vessel ➔ Harbor Fleet (500+) ➔ Coastal State ➔ Pan-India Coast (7,516 km)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329184" y="164592"/>
            <a:ext cx="1234440" cy="658368"/>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sz="1100" b="1">
                <a:solidFill>
                  <a:srgbClr val="FFFFFF"/>
                </a:solidFill>
                <a:latin typeface="Arial"/>
              </a:defRPr>
            </a:pPr>
            <a:r>
              <a:t>ORCA 4.0</a:t>
            </a:r>
          </a:p>
        </p:txBody>
      </p:sp>
      <p:pic>
        <p:nvPicPr>
          <p:cNvPr id="3" name="Picture 2" descr="sih_logo_extracted.png"/>
          <p:cNvPicPr>
            <a:picLocks noChangeAspect="1"/>
          </p:cNvPicPr>
          <p:nvPr/>
        </p:nvPicPr>
        <p:blipFill>
          <a:blip r:embed="rId2"/>
          <a:stretch>
            <a:fillRect/>
          </a:stretch>
        </p:blipFill>
        <p:spPr>
          <a:xfrm>
            <a:off x="9784080" y="18288"/>
            <a:ext cx="2249424" cy="1005840"/>
          </a:xfrm>
          <a:prstGeom prst="rect">
            <a:avLst/>
          </a:prstGeom>
        </p:spPr>
      </p:pic>
      <p:sp>
        <p:nvSpPr>
          <p:cNvPr id="4" name="TextBox 3"/>
          <p:cNvSpPr txBox="1"/>
          <p:nvPr/>
        </p:nvSpPr>
        <p:spPr>
          <a:xfrm>
            <a:off x="1691640" y="91440"/>
            <a:ext cx="8001000" cy="777240"/>
          </a:xfrm>
          <a:prstGeom prst="rect">
            <a:avLst/>
          </a:prstGeom>
          <a:noFill/>
        </p:spPr>
        <p:txBody>
          <a:bodyPr wrap="square" lIns="0" rIns="0" tIns="0" bIns="0">
            <a:spAutoFit/>
          </a:bodyPr>
          <a:lstStyle/>
          <a:p>
            <a:pPr>
              <a:defRPr sz="1700" b="1">
                <a:solidFill>
                  <a:srgbClr val="0A2540"/>
                </a:solidFill>
                <a:latin typeface="Arial"/>
              </a:defRPr>
            </a:pPr>
            <a:r>
              <a:t>“ONE VESSEL. ONE HARBOR. ONE NATIONAL MARITIME INTELLIGENCE LAYER.”</a:t>
            </a:r>
          </a:p>
          <a:p>
            <a:pPr>
              <a:defRPr sz="900">
                <a:solidFill>
                  <a:srgbClr val="64748B"/>
                </a:solidFill>
                <a:latin typeface="Arial"/>
              </a:defRPr>
            </a:pPr>
            <a:r>
              <a:t>Transforming academic oceanographic research and space telemetry into sovereign digital infrastructure for India's Blue Economy.</a:t>
            </a:r>
          </a:p>
        </p:txBody>
      </p:sp>
      <p:sp>
        <p:nvSpPr>
          <p:cNvPr id="5" name="Rounded Rectangle 4"/>
          <p:cNvSpPr/>
          <p:nvPr/>
        </p:nvSpPr>
        <p:spPr>
          <a:xfrm>
            <a:off x="548640" y="877824"/>
            <a:ext cx="11091672" cy="25603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800" b="1">
                <a:solidFill>
                  <a:srgbClr val="0284C7"/>
                </a:solidFill>
                <a:latin typeface="Arial"/>
              </a:rPr>
              <a:t>10/10  ·  IMPACT &amp; VISION    |    </a:t>
            </a:r>
            <a:r>
              <a:rPr sz="750" b="1">
                <a:solidFill>
                  <a:srgbClr val="64748B"/>
                </a:solidFill>
                <a:latin typeface="Arial"/>
              </a:rPr>
              <a:t>FLOW: </a:t>
            </a:r>
            <a:r>
              <a:rPr sz="750" b="0">
                <a:solidFill>
                  <a:srgbClr val="64748B"/>
                </a:solidFill>
                <a:latin typeface="Arial"/>
              </a:rPr>
              <a:t>OCEAN</a:t>
            </a:r>
            <a:r>
              <a:rPr sz="700">
                <a:solidFill>
                  <a:srgbClr val="64748B"/>
                </a:solidFill>
                <a:latin typeface="Arial"/>
              </a:rPr>
              <a:t> ➔ </a:t>
            </a:r>
            <a:r>
              <a:rPr sz="750" b="0">
                <a:solidFill>
                  <a:srgbClr val="64748B"/>
                </a:solidFill>
                <a:latin typeface="Arial"/>
              </a:rPr>
              <a:t>WEATHER</a:t>
            </a:r>
            <a:r>
              <a:rPr sz="700">
                <a:solidFill>
                  <a:srgbClr val="64748B"/>
                </a:solidFill>
                <a:latin typeface="Arial"/>
              </a:rPr>
              <a:t> ➔ </a:t>
            </a:r>
            <a:r>
              <a:rPr sz="750" b="0">
                <a:solidFill>
                  <a:srgbClr val="64748B"/>
                </a:solidFill>
                <a:latin typeface="Arial"/>
              </a:rPr>
              <a:t>VESSEL</a:t>
            </a:r>
            <a:r>
              <a:rPr sz="700">
                <a:solidFill>
                  <a:srgbClr val="64748B"/>
                </a:solidFill>
                <a:latin typeface="Arial"/>
              </a:rPr>
              <a:t> ➔ </a:t>
            </a:r>
            <a:r>
              <a:rPr sz="750" b="0">
                <a:solidFill>
                  <a:srgbClr val="64748B"/>
                </a:solidFill>
                <a:latin typeface="Arial"/>
              </a:rPr>
              <a:t>ROUTE</a:t>
            </a:r>
            <a:r>
              <a:rPr sz="700">
                <a:solidFill>
                  <a:srgbClr val="64748B"/>
                </a:solidFill>
                <a:latin typeface="Arial"/>
              </a:rPr>
              <a:t> ➔ </a:t>
            </a:r>
            <a:r>
              <a:rPr sz="750" b="0">
                <a:solidFill>
                  <a:srgbClr val="64748B"/>
                </a:solidFill>
                <a:latin typeface="Arial"/>
              </a:rPr>
              <a:t>ORCA</a:t>
            </a:r>
            <a:r>
              <a:rPr sz="700">
                <a:solidFill>
                  <a:srgbClr val="64748B"/>
                </a:solidFill>
                <a:latin typeface="Arial"/>
              </a:rPr>
              <a:t> ➔ </a:t>
            </a:r>
            <a:r>
              <a:rPr sz="750" b="0">
                <a:solidFill>
                  <a:srgbClr val="64748B"/>
                </a:solidFill>
                <a:latin typeface="Arial"/>
              </a:rPr>
              <a:t>RISK</a:t>
            </a:r>
            <a:r>
              <a:rPr sz="700">
                <a:solidFill>
                  <a:srgbClr val="64748B"/>
                </a:solidFill>
                <a:latin typeface="Arial"/>
              </a:rPr>
              <a:t> ➔ </a:t>
            </a:r>
            <a:r>
              <a:rPr sz="750" b="1">
                <a:solidFill>
                  <a:srgbClr val="0284C7"/>
                </a:solidFill>
                <a:latin typeface="Arial"/>
              </a:rPr>
              <a:t>DECISION</a:t>
            </a:r>
          </a:p>
        </p:txBody>
      </p:sp>
      <p:sp>
        <p:nvSpPr>
          <p:cNvPr id="6" name="Rectangle 5"/>
          <p:cNvSpPr/>
          <p:nvPr/>
        </p:nvSpPr>
        <p:spPr>
          <a:xfrm>
            <a:off x="0" y="6355080"/>
            <a:ext cx="12191695" cy="5029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0" y="6419088"/>
            <a:ext cx="3959352" cy="320040"/>
          </a:xfrm>
          <a:prstGeom prst="rect">
            <a:avLst/>
          </a:prstGeom>
          <a:noFill/>
        </p:spPr>
        <p:txBody>
          <a:bodyPr wrap="none" lIns="0" rIns="0" tIns="0" bIns="0">
            <a:spAutoFit/>
          </a:bodyPr>
          <a:lstStyle/>
          <a:p>
            <a:pPr algn="ctr">
              <a:defRPr sz="850">
                <a:solidFill>
                  <a:srgbClr val="64748B"/>
                </a:solidFill>
                <a:latin typeface="Arial"/>
              </a:defRPr>
            </a:pPr>
            <a:r>
              <a:t>@SIH Idea submission- Template  ·  ORCA 4.0</a:t>
            </a:r>
          </a:p>
        </p:txBody>
      </p:sp>
      <p:sp>
        <p:nvSpPr>
          <p:cNvPr id="8" name="TextBox 7"/>
          <p:cNvSpPr txBox="1"/>
          <p:nvPr/>
        </p:nvSpPr>
        <p:spPr>
          <a:xfrm>
            <a:off x="10058400" y="6419088"/>
            <a:ext cx="1554480" cy="320040"/>
          </a:xfrm>
          <a:prstGeom prst="rect">
            <a:avLst/>
          </a:prstGeom>
          <a:noFill/>
        </p:spPr>
        <p:txBody>
          <a:bodyPr wrap="none" lIns="0" rIns="0" tIns="0" bIns="0">
            <a:spAutoFit/>
          </a:bodyPr>
          <a:lstStyle/>
          <a:p>
            <a:pPr algn="r">
              <a:defRPr sz="900" b="1">
                <a:solidFill>
                  <a:srgbClr val="0A2540"/>
                </a:solidFill>
                <a:latin typeface="Arial"/>
              </a:defRPr>
            </a:pPr>
            <a:r>
              <a:t>10</a:t>
            </a:r>
          </a:p>
        </p:txBody>
      </p:sp>
      <p:sp>
        <p:nvSpPr>
          <p:cNvPr id="9" name="Rounded Rectangle 8"/>
          <p:cNvSpPr/>
          <p:nvPr/>
        </p:nvSpPr>
        <p:spPr>
          <a:xfrm>
            <a:off x="548640" y="1188720"/>
            <a:ext cx="2651760" cy="1691640"/>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b="1" sz="800">
                <a:solidFill>
                  <a:srgbClr val="0284C7"/>
                </a:solidFill>
                <a:latin typeface="Arial"/>
              </a:defRPr>
            </a:pPr>
            <a:r>
              <a:t>📚 IMO Code on Intact Stability (2008)</a:t>
            </a:r>
          </a:p>
          <a:p>
            <a:pPr>
              <a:spcAft>
                <a:spcPts val="200"/>
              </a:spcAft>
              <a:defRPr i="1" sz="700">
                <a:solidFill>
                  <a:srgbClr val="64748B"/>
                </a:solidFill>
                <a:latin typeface="Arial"/>
              </a:defRPr>
            </a:pPr>
            <a:r>
              <a:t>Source: Res. MSC.267(85)</a:t>
            </a:r>
          </a:p>
          <a:p>
            <a:r>
              <a:rPr b="1" sz="750">
                <a:solidFill>
                  <a:srgbClr val="0A2540"/>
                </a:solidFill>
                <a:latin typeface="Arial"/>
              </a:rPr>
              <a:t>ORCA Implementation: </a:t>
            </a:r>
            <a:r>
              <a:rPr sz="750">
                <a:solidFill>
                  <a:srgbClr val="334155"/>
                </a:solidFill>
                <a:latin typeface="Arial"/>
              </a:rPr>
              <a:t>Hcrit ≈ 0.6·Lhull capsizing threshold</a:t>
            </a:r>
          </a:p>
        </p:txBody>
      </p:sp>
      <p:sp>
        <p:nvSpPr>
          <p:cNvPr id="10" name="Rounded Rectangle 9"/>
          <p:cNvSpPr/>
          <p:nvPr/>
        </p:nvSpPr>
        <p:spPr>
          <a:xfrm>
            <a:off x="3364992" y="1188720"/>
            <a:ext cx="2651760" cy="1691640"/>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b="1" sz="800">
                <a:solidFill>
                  <a:srgbClr val="10B981"/>
                </a:solidFill>
                <a:latin typeface="Arial"/>
              </a:defRPr>
            </a:pPr>
            <a:r>
              <a:t>📚 Wave Hydrodynamics (Faltinsen)</a:t>
            </a:r>
          </a:p>
          <a:p>
            <a:pPr>
              <a:spcAft>
                <a:spcPts val="200"/>
              </a:spcAft>
              <a:defRPr i="1" sz="700">
                <a:solidFill>
                  <a:srgbClr val="64748B"/>
                </a:solidFill>
                <a:latin typeface="Arial"/>
              </a:defRPr>
            </a:pPr>
            <a:r>
              <a:t>Source: Encounter Physics</a:t>
            </a:r>
          </a:p>
          <a:p>
            <a:r>
              <a:rPr b="1" sz="750">
                <a:solidFill>
                  <a:srgbClr val="0A2540"/>
                </a:solidFill>
                <a:latin typeface="Arial"/>
              </a:rPr>
              <a:t>ORCA Implementation: </a:t>
            </a:r>
            <a:r>
              <a:rPr sz="750">
                <a:solidFill>
                  <a:srgbClr val="334155"/>
                </a:solidFill>
                <a:latin typeface="Arial"/>
              </a:rPr>
              <a:t>Wave steepness (S = Hs/λ) &amp; roll resonance</a:t>
            </a:r>
          </a:p>
        </p:txBody>
      </p:sp>
      <p:sp>
        <p:nvSpPr>
          <p:cNvPr id="11" name="Rounded Rectangle 10"/>
          <p:cNvSpPr/>
          <p:nvPr/>
        </p:nvSpPr>
        <p:spPr>
          <a:xfrm>
            <a:off x="6181344" y="1188720"/>
            <a:ext cx="2651760" cy="169164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b="1" sz="800">
                <a:solidFill>
                  <a:srgbClr val="D97706"/>
                </a:solidFill>
                <a:latin typeface="Arial"/>
              </a:defRPr>
            </a:pPr>
            <a:r>
              <a:t>📚 Satellite Oceanography (INCOIS)</a:t>
            </a:r>
          </a:p>
          <a:p>
            <a:pPr>
              <a:spcAft>
                <a:spcPts val="200"/>
              </a:spcAft>
              <a:defRPr i="1" sz="700">
                <a:solidFill>
                  <a:srgbClr val="64748B"/>
                </a:solidFill>
                <a:latin typeface="Arial"/>
              </a:defRPr>
            </a:pPr>
            <a:r>
              <a:t>Source: MOSDAC Telemetry</a:t>
            </a:r>
          </a:p>
          <a:p>
            <a:r>
              <a:rPr b="1" sz="750">
                <a:solidFill>
                  <a:srgbClr val="0A2540"/>
                </a:solidFill>
                <a:latin typeface="Arial"/>
              </a:rPr>
              <a:t>ORCA Implementation: </a:t>
            </a:r>
            <a:r>
              <a:rPr sz="750">
                <a:solidFill>
                  <a:srgbClr val="334155"/>
                </a:solidFill>
                <a:latin typeface="Arial"/>
              </a:rPr>
              <a:t>Sobel thermal fronts &amp; Multi-species HSI</a:t>
            </a:r>
          </a:p>
        </p:txBody>
      </p:sp>
      <p:sp>
        <p:nvSpPr>
          <p:cNvPr id="12" name="Rounded Rectangle 11"/>
          <p:cNvSpPr/>
          <p:nvPr/>
        </p:nvSpPr>
        <p:spPr>
          <a:xfrm>
            <a:off x="8997696" y="1188720"/>
            <a:ext cx="2651760" cy="1691640"/>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b="1" sz="800">
                <a:solidFill>
                  <a:srgbClr val="0284C7"/>
                </a:solidFill>
                <a:latin typeface="Arial"/>
              </a:defRPr>
            </a:pPr>
            <a:r>
              <a:t>📚 Dynamic Pathfinding (Modified A*)</a:t>
            </a:r>
          </a:p>
          <a:p>
            <a:pPr>
              <a:spcAft>
                <a:spcPts val="200"/>
              </a:spcAft>
              <a:defRPr i="1" sz="700">
                <a:solidFill>
                  <a:srgbClr val="64748B"/>
                </a:solidFill>
                <a:latin typeface="Arial"/>
              </a:defRPr>
            </a:pPr>
            <a:r>
              <a:t>Source: Risk Cost Surfaces</a:t>
            </a:r>
          </a:p>
          <a:p>
            <a:r>
              <a:rPr b="1" sz="750">
                <a:solidFill>
                  <a:srgbClr val="0A2540"/>
                </a:solidFill>
                <a:latin typeface="Arial"/>
              </a:rPr>
              <a:t>ORCA Implementation: </a:t>
            </a:r>
            <a:r>
              <a:rPr sz="750">
                <a:solidFill>
                  <a:srgbClr val="334155"/>
                </a:solidFill>
                <a:latin typeface="Arial"/>
              </a:rPr>
              <a:t>4-Point waypoint storm avoidance routing</a:t>
            </a:r>
          </a:p>
        </p:txBody>
      </p:sp>
      <p:sp>
        <p:nvSpPr>
          <p:cNvPr id="13" name="Rounded Rectangle 12"/>
          <p:cNvSpPr/>
          <p:nvPr/>
        </p:nvSpPr>
        <p:spPr>
          <a:xfrm>
            <a:off x="548640" y="2962656"/>
            <a:ext cx="11091672"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300"/>
              </a:spcAft>
              <a:defRPr b="1" sz="950">
                <a:solidFill>
                  <a:srgbClr val="0A2540"/>
                </a:solidFill>
                <a:latin typeface="Arial"/>
              </a:defRPr>
            </a:pPr>
            <a:r>
              <a:t>NATIONAL BLUE ECONOMY STAKEHOLDER MULTIPLIER</a:t>
            </a:r>
          </a:p>
          <a:p>
            <a:pPr>
              <a:spcAft>
                <a:spcPts val="200"/>
              </a:spcAft>
            </a:pPr>
            <a:r>
              <a:rPr b="1" sz="800">
                <a:solidFill>
                  <a:srgbClr val="0284C7"/>
                </a:solidFill>
                <a:latin typeface="Arial"/>
              </a:rPr>
              <a:t>🎣 4.5M Artisanal Fishers: </a:t>
            </a:r>
            <a:r>
              <a:rPr sz="750">
                <a:solidFill>
                  <a:srgbClr val="334155"/>
                </a:solidFill>
                <a:latin typeface="Arial"/>
              </a:rPr>
              <a:t>Zero preventable drownings, timely voice warnings in native dialect, precise fishing spots.</a:t>
            </a:r>
          </a:p>
          <a:p>
            <a:pPr>
              <a:spcAft>
                <a:spcPts val="200"/>
              </a:spcAft>
            </a:pPr>
            <a:r>
              <a:rPr b="1" sz="800">
                <a:solidFill>
                  <a:srgbClr val="0284C7"/>
                </a:solidFill>
                <a:latin typeface="Arial"/>
              </a:rPr>
              <a:t>⚓ Harbors &amp; Port Authorities: </a:t>
            </a:r>
            <a:r>
              <a:rPr sz="750">
                <a:solidFill>
                  <a:srgbClr val="334155"/>
                </a:solidFill>
                <a:latin typeface="Arial"/>
              </a:rPr>
              <a:t>Automated safety clearance, harbor fleet congestion management &amp; departure scheduling.</a:t>
            </a:r>
          </a:p>
          <a:p>
            <a:pPr>
              <a:spcAft>
                <a:spcPts val="200"/>
              </a:spcAft>
            </a:pPr>
            <a:r>
              <a:rPr b="1" sz="800">
                <a:solidFill>
                  <a:srgbClr val="0284C7"/>
                </a:solidFill>
                <a:latin typeface="Arial"/>
              </a:rPr>
              <a:t>🚢 Commercial Trawlers: </a:t>
            </a:r>
            <a:r>
              <a:rPr sz="750">
                <a:solidFill>
                  <a:srgbClr val="334155"/>
                </a:solidFill>
                <a:latin typeface="Arial"/>
              </a:rPr>
              <a:t>20–30% fuel savings via current-assisted A* routing; higher pelagic catch ROI.</a:t>
            </a:r>
          </a:p>
          <a:p>
            <a:pPr>
              <a:spcAft>
                <a:spcPts val="200"/>
              </a:spcAft>
            </a:pPr>
            <a:r>
              <a:rPr b="1" sz="800">
                <a:solidFill>
                  <a:srgbClr val="0284C7"/>
                </a:solidFill>
                <a:latin typeface="Arial"/>
              </a:rPr>
              <a:t>🛡️ Coast Guard &amp; NDRF: </a:t>
            </a:r>
            <a:r>
              <a:rPr sz="750">
                <a:solidFill>
                  <a:srgbClr val="334155"/>
                </a:solidFill>
                <a:latin typeface="Arial"/>
              </a:rPr>
              <a:t>Instant Dark-Fleet anomaly matching &amp; 1,000-particle Monte Carlo SAR drift tracking.</a:t>
            </a:r>
          </a:p>
          <a:p>
            <a:pPr>
              <a:spcAft>
                <a:spcPts val="200"/>
              </a:spcAft>
            </a:pPr>
            <a:r>
              <a:rPr b="1" sz="800">
                <a:solidFill>
                  <a:srgbClr val="0284C7"/>
                </a:solidFill>
                <a:latin typeface="Arial"/>
              </a:rPr>
              <a:t>🔬 Oceanographic Scientists: </a:t>
            </a:r>
            <a:r>
              <a:rPr sz="750">
                <a:solidFill>
                  <a:srgbClr val="334155"/>
                </a:solidFill>
                <a:latin typeface="Arial"/>
              </a:rPr>
              <a:t>Crowdsourced ground-truth sea state telemetry across India's 2.37M sq km EEZ.</a:t>
            </a:r>
          </a:p>
        </p:txBody>
      </p:sp>
      <p:sp>
        <p:nvSpPr>
          <p:cNvPr id="14" name="Rounded Rectangle 13"/>
          <p:cNvSpPr/>
          <p:nvPr/>
        </p:nvSpPr>
        <p:spPr>
          <a:xfrm>
            <a:off x="548640" y="4553712"/>
            <a:ext cx="11091672" cy="1691640"/>
          </a:xfrm>
          <a:prstGeom prst="roundRect">
            <a:avLst/>
          </a:prstGeom>
          <a:solidFill>
            <a:srgbClr val="0A254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300"/>
              </a:spcAft>
              <a:defRPr sz="1200" b="1">
                <a:solidFill>
                  <a:srgbClr val="FFFFFF"/>
                </a:solidFill>
                <a:latin typeface="Arial"/>
              </a:defRPr>
            </a:pPr>
            <a:r>
              <a:t>“ORCA DOESN’T JUST PREDICT THE OCEAN. IT HELPS PEOPLE DECIDE WHAT TO DO NEXT.”</a:t>
            </a:r>
          </a:p>
          <a:p>
            <a:pPr algn="ctr">
              <a:spcAft>
                <a:spcPts val="500"/>
              </a:spcAft>
              <a:defRPr sz="900">
                <a:solidFill>
                  <a:srgbClr val="CBD5E1"/>
                </a:solidFill>
                <a:latin typeface="Arial"/>
              </a:defRPr>
            </a:pPr>
            <a:r>
              <a:t>From a single artisanal fishing boat in Kanyakumari to a sovereign digital intelligence layer for India’s entire 7,516 km coastline.</a:t>
            </a:r>
          </a:p>
          <a:p>
            <a:pPr algn="ctr">
              <a:defRPr sz="850" b="1">
                <a:solidFill>
                  <a:srgbClr val="06B6D4"/>
                </a:solidFill>
                <a:latin typeface="Arial"/>
              </a:defRPr>
            </a:pPr>
            <a:r>
              <a:t>OCEAN  ➔  WEATHER  ➔  VESSEL  ➔  ROUTE  ➔  ORCA  ➔  RISK  ➔  DECISION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