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r>
              <a:t>TITLE PAGE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700"/>
              </a:spcAft>
            </a:pPr>
            <a:r>
              <a:rPr b="1" sz="1200">
                <a:solidFill>
                  <a:srgbClr val="0A2540"/>
                </a:solidFill>
                <a:latin typeface="Arial"/>
              </a:rPr>
              <a:t>Problem Statement ID:</a:t>
            </a:r>
            <a:r>
              <a:rPr b="0" sz="1200">
                <a:solidFill>
                  <a:srgbClr val="0F172A"/>
                </a:solidFill>
                <a:latin typeface="Arial"/>
              </a:rPr>
              <a:t> SIH26176</a:t>
            </a:r>
            <a:endParaRPr lang="en-US" dirty="0"/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0A2540"/>
                </a:solidFill>
                <a:latin typeface="Arial"/>
              </a:rPr>
              <a:t>Problem Statement Title:</a:t>
            </a:r>
            <a:r>
              <a:rPr b="0" sz="1200">
                <a:solidFill>
                  <a:srgbClr val="0F172A"/>
                </a:solidFill>
                <a:latin typeface="Arial"/>
              </a:rPr>
              <a:t> AI-Assisted Maritime Decision Intelligence &amp; Bio-Physical Safety Platform for Artisanal Fishermen &amp; Coastal Fleets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0A2540"/>
                </a:solidFill>
                <a:latin typeface="Arial"/>
              </a:rPr>
              <a:t>Theme:</a:t>
            </a:r>
            <a:r>
              <a:rPr b="0" sz="1200">
                <a:solidFill>
                  <a:srgbClr val="0F172A"/>
                </a:solidFill>
                <a:latin typeface="Arial"/>
              </a:rPr>
              <a:t> Space Technology / Blue Economy / Disaster Management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0A2540"/>
                </a:solidFill>
                <a:latin typeface="Arial"/>
              </a:rPr>
              <a:t>PS Category:</a:t>
            </a:r>
            <a:r>
              <a:rPr b="0" sz="1200">
                <a:solidFill>
                  <a:srgbClr val="0F172A"/>
                </a:solidFill>
                <a:latin typeface="Arial"/>
              </a:rPr>
              <a:t> Software (with Edge Hardware compatibility)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0A2540"/>
                </a:solidFill>
                <a:latin typeface="Arial"/>
              </a:rPr>
              <a:t>Team ID:</a:t>
            </a:r>
            <a:r>
              <a:rPr b="0" sz="1200">
                <a:solidFill>
                  <a:srgbClr val="0F172A"/>
                </a:solidFill>
                <a:latin typeface="Arial"/>
              </a:rPr>
              <a:t> [Team ID]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0A2540"/>
                </a:solidFill>
                <a:latin typeface="Arial"/>
              </a:rPr>
              <a:t>Team Name:</a:t>
            </a:r>
            <a:r>
              <a:rPr b="0" sz="1200">
                <a:solidFill>
                  <a:srgbClr val="0F172A"/>
                </a:solidFill>
                <a:latin typeface="Arial"/>
              </a:rPr>
              <a:t> ORCA 4.0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6400800" y="1188720"/>
            <a:ext cx="5303520" cy="5029200"/>
          </a:xfrm>
          <a:prstGeom prst="roundRect">
            <a:avLst/>
          </a:prstGeom>
          <a:solidFill>
            <a:srgbClr val="0A2540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400"/>
              </a:spcAft>
              <a:defRPr sz="1000" b="1">
                <a:solidFill>
                  <a:srgbClr val="0E7490"/>
                </a:solidFill>
                <a:latin typeface="Arial"/>
              </a:defRPr>
            </a:pPr>
            <a:r>
              <a:t>SMART INDIA HACKATHON 2026 · NATIONAL FINALS</a:t>
            </a:r>
          </a:p>
          <a:p>
            <a:pPr>
              <a:spcAft>
                <a:spcPts val="2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ORCA 4.0</a:t>
            </a:r>
          </a:p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  <a:latin typeface="Arial"/>
              </a:defRPr>
            </a:pPr>
            <a:r>
              <a:t>“FROM OCEAN DATA TO SAFER DECISIONS”</a:t>
            </a:r>
          </a:p>
          <a:p>
            <a:pPr>
              <a:spcAft>
                <a:spcPts val="1200"/>
              </a:spcAft>
              <a:defRPr sz="1000">
                <a:solidFill>
                  <a:srgbClr val="CBD5E1"/>
                </a:solidFill>
                <a:latin typeface="Arial"/>
              </a:defRPr>
            </a:pPr>
            <a:r>
              <a:t>Universal Bio-Physical Decision Operating System for India's 4.5M Marine Workforce</a:t>
            </a:r>
          </a:p>
          <a:p>
            <a:pPr>
              <a:defRPr sz="900" b="1">
                <a:solidFill>
                  <a:srgbClr val="10B981"/>
                </a:solidFill>
                <a:latin typeface="Arial"/>
              </a:defRPr>
            </a:pPr>
            <a:r>
              <a:t>CENTRAL OPERATIONAL CHAIN:</a:t>
            </a:r>
          </a:p>
          <a:p>
            <a:pPr>
              <a:spcAft>
                <a:spcPts val="1400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OCEAN  ➔  WEATHER  ➔  VESSEL  ➔  ROUTE  ➔  ORCA  ➔  RISK  ➔  DECISION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10B981"/>
                </a:solidFill>
                <a:latin typeface="Arial"/>
              </a:rPr>
              <a:t>🛡️ Deterministic Safety Shield: </a:t>
            </a:r>
            <a:r>
              <a:rPr sz="850">
                <a:solidFill>
                  <a:srgbClr val="CBD5E1"/>
                </a:solidFill>
                <a:latin typeface="Arial"/>
              </a:rPr>
              <a:t>Non-bypassable capsizing physics (&lt;10ms) with zero AI hallucination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38BDF8"/>
                </a:solidFill>
                <a:latin typeface="Arial"/>
              </a:rPr>
              <a:t>🚢 Parametric Vessel Twin: </a:t>
            </a:r>
            <a:r>
              <a:rPr sz="850">
                <a:solidFill>
                  <a:srgbClr val="CBD5E1"/>
                </a:solidFill>
                <a:latin typeface="Arial"/>
              </a:rPr>
              <a:t>Dynamic wave encounter math tailored to hull length, draft &amp; beam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D97706"/>
                </a:solidFill>
                <a:latin typeface="Arial"/>
              </a:rPr>
              <a:t>📻 Multi-Hop LoRa Fleet Mesh: </a:t>
            </a:r>
            <a:r>
              <a:rPr sz="850">
                <a:solidFill>
                  <a:srgbClr val="CBD5E1"/>
                </a:solidFill>
                <a:latin typeface="Arial"/>
              </a:rPr>
              <a:t>Overcomes 12 NM 4G blackout for zero-cost telemetry up to 50 km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109728"/>
            <a:ext cx="8001000" cy="731520"/>
          </a:xfrm>
        </p:spPr>
        <p:txBody>
          <a:bodyPr wrap="square"/>
          <a:lstStyle/>
          <a:p>
            <a:pPr eaLnBrk="1" hangingPunct="1" algn="l">
              <a:defRPr sz="1700" b="1">
                <a:solidFill>
                  <a:srgbClr val="0A2540"/>
                </a:solidFill>
                <a:latin typeface="Arial"/>
              </a:defRPr>
            </a:pPr>
            <a:r>
              <a:t>IDEA TITLE: ORCA 4.0 — Maritime Decision Intelligence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184" y="164592"/>
            <a:ext cx="1234440" cy="658368"/>
          </a:xfrm>
          <a:prstGeom prst="ellipse">
            <a:avLst/>
          </a:prstGeom>
          <a:solidFill>
            <a:srgbClr val="0A2540"/>
          </a:solidFill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ORCA 4.0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548640" y="896112"/>
            <a:ext cx="2697480" cy="256032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sz="850" b="1">
                <a:solidFill>
                  <a:srgbClr val="0E7490"/>
                </a:solidFill>
                <a:latin typeface="Arial"/>
              </a:defRPr>
            </a:pPr>
            <a:r>
              <a:t>PROPOSED SOLUTION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3346704" y="896112"/>
            <a:ext cx="2697480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sz="850" b="1">
                <a:solidFill>
                  <a:srgbClr val="334155"/>
                </a:solidFill>
                <a:latin typeface="Arial"/>
              </a:defRPr>
            </a:pPr>
            <a:r>
              <a:t>DETAILED EXPLANATION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6144768" y="896112"/>
            <a:ext cx="2697480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sz="850" b="1">
                <a:solidFill>
                  <a:srgbClr val="334155"/>
                </a:solidFill>
                <a:latin typeface="Arial"/>
              </a:defRPr>
            </a:pPr>
            <a:r>
              <a:t>HOW IT ADDRESSES PROBLEM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8942832" y="896112"/>
            <a:ext cx="2697480" cy="256032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sz="850" b="1">
                <a:solidFill>
                  <a:srgbClr val="10B981"/>
                </a:solidFill>
                <a:latin typeface="Arial"/>
              </a:defRPr>
            </a:pPr>
            <a:r>
              <a:t>INNOVATION &amp; UNIQUENESS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548640" y="1225296"/>
            <a:ext cx="11091672" cy="45720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b="1" sz="950">
                <a:solidFill>
                  <a:srgbClr val="0E7490"/>
                </a:solidFill>
                <a:latin typeface="Arial"/>
              </a:rPr>
              <a:t>CORE PARADIGM SHIFT:  FORECAST ≠ OPERATIONAL RISK.  </a:t>
            </a:r>
            <a:r>
              <a:rPr sz="900">
                <a:solidFill>
                  <a:srgbClr val="0F172A"/>
                </a:solidFill>
                <a:latin typeface="Arial"/>
              </a:rPr>
              <a:t>Existing apps ask 'What is happening at sea?'. ORCA computes 'What does it mean for THIS vessel, on THIS route, at THIS time?'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548640" y="1737360"/>
            <a:ext cx="658368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950">
                <a:solidFill>
                  <a:srgbClr val="0A2540"/>
                </a:solidFill>
                <a:latin typeface="Arial"/>
              </a:defRPr>
            </a:pPr>
            <a:r>
              <a:t>VISUAL TRANSFORMATION: FROM DATA CHAOS TO ACTIONABLE DECISION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658368" y="2066543"/>
            <a:ext cx="17830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850">
                <a:solidFill>
                  <a:srgbClr val="0E7490"/>
                </a:solidFill>
                <a:latin typeface="Arial"/>
              </a:defRPr>
            </a:pPr>
            <a:r>
              <a:t>🌊 WAVES (Hs, Swell Tp)</a:t>
            </a:r>
          </a:p>
          <a:p>
            <a:pPr>
              <a:defRPr sz="700">
                <a:solidFill>
                  <a:srgbClr val="64748B"/>
                </a:solidFill>
                <a:latin typeface="Arial"/>
              </a:defRPr>
            </a:pPr>
            <a:r>
              <a:t>Sea &amp; swell wave energy spectra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658368" y="2907791"/>
            <a:ext cx="17830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850">
                <a:solidFill>
                  <a:srgbClr val="0E7490"/>
                </a:solidFill>
                <a:latin typeface="Arial"/>
              </a:defRPr>
            </a:pPr>
            <a:r>
              <a:t>💨 WIND (Vel, Gusts)</a:t>
            </a:r>
          </a:p>
          <a:p>
            <a:pPr>
              <a:defRPr sz="700">
                <a:solidFill>
                  <a:srgbClr val="64748B"/>
                </a:solidFill>
                <a:latin typeface="Arial"/>
              </a:defRPr>
            </a:pPr>
            <a:r>
              <a:t>Surface boundary wind vectors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658368" y="3749039"/>
            <a:ext cx="17830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850">
                <a:solidFill>
                  <a:srgbClr val="0E7490"/>
                </a:solidFill>
                <a:latin typeface="Arial"/>
              </a:defRPr>
            </a:pPr>
            <a:r>
              <a:t>🌀 CYCLONES (IMD Alerts)</a:t>
            </a:r>
          </a:p>
          <a:p>
            <a:pPr>
              <a:defRPr sz="700">
                <a:solidFill>
                  <a:srgbClr val="64748B"/>
                </a:solidFill>
                <a:latin typeface="Arial"/>
              </a:defRPr>
            </a:pPr>
            <a:r>
              <a:t>Active storm center coordinates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658368" y="4590288"/>
            <a:ext cx="17830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850">
                <a:solidFill>
                  <a:srgbClr val="0E7490"/>
                </a:solidFill>
                <a:latin typeface="Arial"/>
              </a:defRPr>
            </a:pPr>
            <a:r>
              <a:t>🌊 CURRENTS (Surface u,v)</a:t>
            </a:r>
          </a:p>
          <a:p>
            <a:pPr>
              <a:defRPr sz="700">
                <a:solidFill>
                  <a:srgbClr val="64748B"/>
                </a:solidFill>
                <a:latin typeface="Arial"/>
              </a:defRPr>
            </a:pPr>
            <a:r>
              <a:t>Ocean surface drift velocity</a:t>
            </a:r>
          </a:p>
        </p:txBody>
      </p:sp>
      <p:sp>
        <p:nvSpPr>
          <p:cNvPr id="15373" name="Rounded Rectangle 15372"/>
          <p:cNvSpPr/>
          <p:nvPr/>
        </p:nvSpPr>
        <p:spPr>
          <a:xfrm>
            <a:off x="2523744" y="2066543"/>
            <a:ext cx="17830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850">
                <a:solidFill>
                  <a:srgbClr val="0E7490"/>
                </a:solidFill>
                <a:latin typeface="Arial"/>
              </a:defRPr>
            </a:pPr>
            <a:r>
              <a:t>🛰️ SATELLITES (SST / Chlor)</a:t>
            </a:r>
          </a:p>
          <a:p>
            <a:pPr>
              <a:defRPr sz="700">
                <a:solidFill>
                  <a:srgbClr val="64748B"/>
                </a:solidFill>
                <a:latin typeface="Arial"/>
              </a:defRPr>
            </a:pPr>
            <a:r>
              <a:t>Thermal front boundaries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2523744" y="2907791"/>
            <a:ext cx="17830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850">
                <a:solidFill>
                  <a:srgbClr val="0E7490"/>
                </a:solidFill>
                <a:latin typeface="Arial"/>
              </a:defRPr>
            </a:pPr>
            <a:r>
              <a:t>🚢 VESSEL (Lwl, Draft, Beam)</a:t>
            </a:r>
          </a:p>
          <a:p>
            <a:pPr>
              <a:defRPr sz="700">
                <a:solidFill>
                  <a:srgbClr val="64748B"/>
                </a:solidFill>
                <a:latin typeface="Arial"/>
              </a:defRPr>
            </a:pPr>
            <a:r>
              <a:t>Displacement hull profile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2523744" y="3749039"/>
            <a:ext cx="17830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850">
                <a:solidFill>
                  <a:srgbClr val="0E7490"/>
                </a:solidFill>
                <a:latin typeface="Arial"/>
              </a:defRPr>
            </a:pPr>
            <a:r>
              <a:t>📡 AIS FEEDS (MMSI Data)</a:t>
            </a:r>
          </a:p>
          <a:p>
            <a:pPr>
              <a:defRPr sz="700">
                <a:solidFill>
                  <a:srgbClr val="64748B"/>
                </a:solidFill>
                <a:latin typeface="Arial"/>
              </a:defRPr>
            </a:pPr>
            <a:r>
              <a:t>Real-time vessel position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2523744" y="4590288"/>
            <a:ext cx="17830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850">
                <a:solidFill>
                  <a:srgbClr val="0E7490"/>
                </a:solidFill>
                <a:latin typeface="Arial"/>
              </a:defRPr>
            </a:pPr>
            <a:r>
              <a:t>🗺️ ROUTE (Waypoints)</a:t>
            </a:r>
          </a:p>
          <a:p>
            <a:pPr>
              <a:defRPr sz="700">
                <a:solidFill>
                  <a:srgbClr val="64748B"/>
                </a:solidFill>
                <a:latin typeface="Arial"/>
              </a:defRPr>
            </a:pPr>
            <a:r>
              <a:t>Departure &amp; target docks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4407408" y="2066543"/>
            <a:ext cx="2615184" cy="1554480"/>
          </a:xfrm>
          <a:prstGeom prst="roundRect">
            <a:avLst/>
          </a:prstGeom>
          <a:solidFill>
            <a:srgbClr val="0A2540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1100">
                <a:solidFill>
                  <a:srgbClr val="FFFFFF"/>
                </a:solidFill>
                <a:latin typeface="Arial"/>
              </a:defRPr>
            </a:pPr>
            <a:r>
              <a:t>⚡ ORCA 4.0 ENGINE</a:t>
            </a:r>
          </a:p>
          <a:p>
            <a:pPr>
              <a:defRPr sz="800">
                <a:solidFill>
                  <a:srgbClr val="CBD5E1"/>
                </a:solidFill>
                <a:latin typeface="Arial"/>
              </a:defRPr>
            </a:pPr>
            <a:r>
              <a:t>• 0.083° Spatial Normalization</a:t>
            </a:r>
            <a:br/>
            <a:r>
              <a:t>• Parametric Vessel Digital Twin</a:t>
            </a:r>
            <a:br/>
            <a:r>
              <a:t>• Multi-Species Habitat Index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4407408" y="3712463"/>
            <a:ext cx="2615184" cy="56692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b="1" sz="850">
                <a:solidFill>
                  <a:srgbClr val="10B981"/>
                </a:solidFill>
                <a:latin typeface="Arial"/>
              </a:rPr>
              <a:t>🛡️ DETERMINISTIC RISK: </a:t>
            </a:r>
            <a:r>
              <a:rPr sz="750">
                <a:solidFill>
                  <a:srgbClr val="0F172A"/>
                </a:solidFill>
                <a:latin typeface="Arial"/>
              </a:rPr>
              <a:t>Hcrit capsizing check (&lt;10ms)</a:t>
            </a:r>
          </a:p>
        </p:txBody>
      </p:sp>
      <p:sp>
        <p:nvSpPr>
          <p:cNvPr id="15379" name="Rounded Rectangle 15378"/>
          <p:cNvSpPr/>
          <p:nvPr/>
        </p:nvSpPr>
        <p:spPr>
          <a:xfrm>
            <a:off x="4407408" y="4352544"/>
            <a:ext cx="2615184" cy="566928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b="1" sz="850">
                <a:solidFill>
                  <a:srgbClr val="0E7490"/>
                </a:solidFill>
                <a:latin typeface="Arial"/>
              </a:rPr>
              <a:t>🗺️ ROUTE RISK FIELD: </a:t>
            </a:r>
            <a:r>
              <a:rPr sz="750">
                <a:solidFill>
                  <a:srgbClr val="0F172A"/>
                </a:solidFill>
                <a:latin typeface="Arial"/>
              </a:rPr>
              <a:t>Dynamic 2D risk surface A*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4407408" y="4992623"/>
            <a:ext cx="2615184" cy="566928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b="1" sz="850">
                <a:solidFill>
                  <a:srgbClr val="D97706"/>
                </a:solidFill>
                <a:latin typeface="Arial"/>
              </a:rPr>
              <a:t>📢 ACTIONABLE VERDICT: </a:t>
            </a:r>
            <a:r>
              <a:rPr sz="750">
                <a:solidFill>
                  <a:srgbClr val="0F172A"/>
                </a:solidFill>
                <a:latin typeface="Arial"/>
              </a:rPr>
              <a:t>Clear Go/No-Go + Audio Voice</a:t>
            </a:r>
          </a:p>
        </p:txBody>
      </p:sp>
      <p:sp>
        <p:nvSpPr>
          <p:cNvPr id="15381" name="Rounded Rectangle 15380"/>
          <p:cNvSpPr/>
          <p:nvPr/>
        </p:nvSpPr>
        <p:spPr>
          <a:xfrm>
            <a:off x="7269480" y="1737360"/>
            <a:ext cx="4370832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400"/>
              </a:spcAft>
              <a:defRPr b="1" sz="1000">
                <a:solidFill>
                  <a:srgbClr val="0A2540"/>
                </a:solidFill>
                <a:latin typeface="Arial"/>
              </a:defRPr>
            </a:pPr>
            <a:r>
              <a:t>COMPETITIVE DIFFERENTIATION MATRIX</a:t>
            </a:r>
          </a:p>
          <a:p>
            <a:pPr>
              <a:spcAft>
                <a:spcPts val="250"/>
              </a:spcAft>
            </a:pPr>
            <a:r>
              <a:rPr b="1" sz="800">
                <a:solidFill>
                  <a:srgbClr val="0A2540"/>
                </a:solidFill>
                <a:latin typeface="Arial"/>
              </a:rPr>
              <a:t>Capability          : </a:t>
            </a:r>
            <a:r>
              <a:rPr sz="750">
                <a:solidFill>
                  <a:srgbClr val="64748B"/>
                </a:solidFill>
                <a:latin typeface="Arial"/>
              </a:rPr>
              <a:t>Existing Systems  ➔  </a:t>
            </a:r>
            <a:r>
              <a:rPr b="1" sz="800">
                <a:solidFill>
                  <a:srgbClr val="0F172A"/>
                </a:solidFill>
                <a:latin typeface="Arial"/>
              </a:rPr>
              <a:t>ORCA 4.0</a:t>
            </a:r>
          </a:p>
          <a:p>
            <a:pPr>
              <a:spcAft>
                <a:spcPts val="250"/>
              </a:spcAft>
            </a:pPr>
            <a:r>
              <a:rPr b="0" sz="800">
                <a:solidFill>
                  <a:srgbClr val="0F172A"/>
                </a:solidFill>
                <a:latin typeface="Arial"/>
              </a:rPr>
              <a:t>Weather Forecast    : </a:t>
            </a:r>
            <a:r>
              <a:rPr sz="750">
                <a:solidFill>
                  <a:srgbClr val="64748B"/>
                </a:solidFill>
                <a:latin typeface="Arial"/>
              </a:rPr>
              <a:t>● Regional Only  ➔  </a:t>
            </a:r>
            <a:r>
              <a:rPr b="1" sz="800">
                <a:solidFill>
                  <a:srgbClr val="10B981"/>
                </a:solidFill>
                <a:latin typeface="Arial"/>
              </a:rPr>
              <a:t>✓ High-Res (0.083°)</a:t>
            </a:r>
          </a:p>
          <a:p>
            <a:pPr>
              <a:spcAft>
                <a:spcPts val="250"/>
              </a:spcAft>
            </a:pPr>
            <a:r>
              <a:rPr b="0" sz="800">
                <a:solidFill>
                  <a:srgbClr val="0F172A"/>
                </a:solidFill>
                <a:latin typeface="Arial"/>
              </a:rPr>
              <a:t>Cyclone Warnings    : </a:t>
            </a:r>
            <a:r>
              <a:rPr sz="750">
                <a:solidFill>
                  <a:srgbClr val="64748B"/>
                </a:solidFill>
                <a:latin typeface="Arial"/>
              </a:rPr>
              <a:t>● Generic SMS  ➔  </a:t>
            </a:r>
            <a:r>
              <a:rPr b="1" sz="800">
                <a:solidFill>
                  <a:srgbClr val="10B981"/>
                </a:solidFill>
                <a:latin typeface="Arial"/>
              </a:rPr>
              <a:t>✓ Dynamic Geofenced</a:t>
            </a:r>
          </a:p>
          <a:p>
            <a:pPr>
              <a:spcAft>
                <a:spcPts val="250"/>
              </a:spcAft>
            </a:pPr>
            <a:r>
              <a:rPr b="0" sz="800">
                <a:solidFill>
                  <a:srgbClr val="0F172A"/>
                </a:solidFill>
                <a:latin typeface="Arial"/>
              </a:rPr>
              <a:t>Vessel Hull Context : </a:t>
            </a:r>
            <a:r>
              <a:rPr sz="750">
                <a:solidFill>
                  <a:srgbClr val="E11D48"/>
                </a:solidFill>
                <a:latin typeface="Arial"/>
              </a:rPr>
              <a:t>— Ignored  ➔  </a:t>
            </a:r>
            <a:r>
              <a:rPr b="1" sz="800">
                <a:solidFill>
                  <a:srgbClr val="10B981"/>
                </a:solidFill>
                <a:latin typeface="Arial"/>
              </a:rPr>
              <a:t>✓ Vessel Twin (Lwl, Draft)</a:t>
            </a:r>
          </a:p>
          <a:p>
            <a:pPr>
              <a:spcAft>
                <a:spcPts val="250"/>
              </a:spcAft>
            </a:pPr>
            <a:r>
              <a:rPr b="0" sz="800">
                <a:solidFill>
                  <a:srgbClr val="0F172A"/>
                </a:solidFill>
                <a:latin typeface="Arial"/>
              </a:rPr>
              <a:t>Wave Physics Math   : </a:t>
            </a:r>
            <a:r>
              <a:rPr sz="750">
                <a:solidFill>
                  <a:srgbClr val="E11D48"/>
                </a:solidFill>
                <a:latin typeface="Arial"/>
              </a:rPr>
              <a:t>— None  ➔  </a:t>
            </a:r>
            <a:r>
              <a:rPr b="1" sz="800">
                <a:solidFill>
                  <a:srgbClr val="10B981"/>
                </a:solidFill>
                <a:latin typeface="Arial"/>
              </a:rPr>
              <a:t>✓ Hcrit &amp; Resonance Math</a:t>
            </a:r>
          </a:p>
          <a:p>
            <a:pPr>
              <a:spcAft>
                <a:spcPts val="250"/>
              </a:spcAft>
            </a:pPr>
            <a:r>
              <a:rPr b="0" sz="800">
                <a:solidFill>
                  <a:srgbClr val="0F172A"/>
                </a:solidFill>
                <a:latin typeface="Arial"/>
              </a:rPr>
              <a:t>Safe Route Pathfinder: </a:t>
            </a:r>
            <a:r>
              <a:rPr sz="750">
                <a:solidFill>
                  <a:srgbClr val="E11D48"/>
                </a:solidFill>
                <a:latin typeface="Arial"/>
              </a:rPr>
              <a:t>— Static Path  ➔  </a:t>
            </a:r>
            <a:r>
              <a:rPr b="1" sz="800">
                <a:solidFill>
                  <a:srgbClr val="10B981"/>
                </a:solidFill>
                <a:latin typeface="Arial"/>
              </a:rPr>
              <a:t>✓ Dynamic A* Avoidance</a:t>
            </a:r>
          </a:p>
          <a:p>
            <a:pPr>
              <a:spcAft>
                <a:spcPts val="250"/>
              </a:spcAft>
            </a:pPr>
            <a:r>
              <a:rPr b="0" sz="800">
                <a:solidFill>
                  <a:srgbClr val="0F172A"/>
                </a:solidFill>
                <a:latin typeface="Arial"/>
              </a:rPr>
              <a:t>Deterministic Safety: </a:t>
            </a:r>
            <a:r>
              <a:rPr sz="750">
                <a:solidFill>
                  <a:srgbClr val="E11D48"/>
                </a:solidFill>
                <a:latin typeface="Arial"/>
              </a:rPr>
              <a:t>— Unverified  ➔  </a:t>
            </a:r>
            <a:r>
              <a:rPr b="1" sz="800">
                <a:solidFill>
                  <a:srgbClr val="10B981"/>
                </a:solidFill>
                <a:latin typeface="Arial"/>
              </a:rPr>
              <a:t>✓ Non-bypassable Rule</a:t>
            </a:r>
          </a:p>
          <a:p>
            <a:pPr>
              <a:spcAft>
                <a:spcPts val="250"/>
              </a:spcAft>
            </a:pPr>
            <a:r>
              <a:rPr b="0" sz="800">
                <a:solidFill>
                  <a:srgbClr val="0F172A"/>
                </a:solidFill>
                <a:latin typeface="Arial"/>
              </a:rPr>
              <a:t>Offshore Reach      : </a:t>
            </a:r>
            <a:r>
              <a:rPr sz="750">
                <a:solidFill>
                  <a:srgbClr val="E11D48"/>
                </a:solidFill>
                <a:latin typeface="Arial"/>
              </a:rPr>
              <a:t>— Dead &gt;12 NM  ➔  </a:t>
            </a:r>
            <a:r>
              <a:rPr b="1" sz="800">
                <a:solidFill>
                  <a:srgbClr val="10B981"/>
                </a:solidFill>
                <a:latin typeface="Arial"/>
              </a:rPr>
              <a:t>✓ LoRa Mesh (50 km)</a:t>
            </a:r>
          </a:p>
        </p:txBody>
      </p:sp>
      <p:sp>
        <p:nvSpPr>
          <p:cNvPr id="15382" name="Rounded Rectangle 15381"/>
          <p:cNvSpPr/>
          <p:nvPr/>
        </p:nvSpPr>
        <p:spPr>
          <a:xfrm>
            <a:off x="548640" y="5742432"/>
            <a:ext cx="11091672" cy="38404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900">
                <a:solidFill>
                  <a:srgbClr val="0A2540"/>
                </a:solidFill>
                <a:latin typeface="Arial"/>
              </a:defRPr>
            </a:pPr>
            <a:r>
              <a:t>① MULTI-SOURCE HARMONIZATION   ➔   ② VESSEL-AWARE PHYSICS TWIN   ➔   ③ ROUTE RISK OPTIMIZATION   ➔   ④ EXPLAINABLE SAFETY SHIELD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09728"/>
            <a:ext cx="8001000" cy="731520"/>
          </a:xfrm>
        </p:spPr>
        <p:txBody>
          <a:bodyPr wrap="square"/>
          <a:lstStyle/>
          <a:p>
            <a:pPr eaLnBrk="1" hangingPunct="1" algn="l">
              <a:defRPr sz="1700" b="1">
                <a:solidFill>
                  <a:srgbClr val="0A2540"/>
                </a:solidFill>
                <a:latin typeface="Arial"/>
              </a:defRPr>
            </a:pPr>
            <a:r>
              <a:t>TECHNICAL APPROACH: End-to-End Architecture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184" y="164592"/>
            <a:ext cx="1234440" cy="658368"/>
          </a:xfrm>
          <a:prstGeom prst="ellipse">
            <a:avLst/>
          </a:prstGeom>
          <a:solidFill>
            <a:srgbClr val="0A2540"/>
          </a:solidFill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ORCA 4.0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48640" y="896112"/>
            <a:ext cx="2697480" cy="256032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sz="850" b="1">
                <a:solidFill>
                  <a:srgbClr val="0E7490"/>
                </a:solidFill>
                <a:latin typeface="Arial"/>
              </a:defRPr>
            </a:pPr>
            <a:r>
              <a:t>TECHNOLOGIES TO BE USED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346704" y="896112"/>
            <a:ext cx="2697480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sz="850" b="1">
                <a:solidFill>
                  <a:srgbClr val="334155"/>
                </a:solidFill>
                <a:latin typeface="Arial"/>
              </a:defRPr>
            </a:pPr>
            <a:r>
              <a:t>METHODOLOGY &amp; PROCESS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44768" y="896112"/>
            <a:ext cx="2697480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sz="850" b="1">
                <a:solidFill>
                  <a:srgbClr val="334155"/>
                </a:solidFill>
                <a:latin typeface="Arial"/>
              </a:defRPr>
            </a:pPr>
            <a:r>
              <a:t>SYSTEM FLOWCHARTS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8942832" y="896112"/>
            <a:ext cx="2697480" cy="256032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sz="850" b="1">
                <a:solidFill>
                  <a:srgbClr val="10B981"/>
                </a:solidFill>
                <a:latin typeface="Arial"/>
              </a:defRPr>
            </a:pPr>
            <a:r>
              <a:t>PROTOTYPE SIMULATION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48640" y="1225296"/>
            <a:ext cx="11091672" cy="3017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658368" y="1316736"/>
            <a:ext cx="1719072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800">
                <a:solidFill>
                  <a:srgbClr val="0E7490"/>
                </a:solidFill>
                <a:latin typeface="Arial"/>
              </a:defRPr>
            </a:pPr>
            <a:r>
              <a:t>📡 INCOIS ERDDAP</a:t>
            </a:r>
          </a:p>
          <a:p>
            <a:pPr>
              <a:defRPr sz="700">
                <a:solidFill>
                  <a:srgbClr val="64748B"/>
                </a:solidFill>
                <a:latin typeface="Arial"/>
              </a:defRPr>
            </a:pPr>
            <a:r>
              <a:t>Wave spectra &amp; currents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2450591" y="1316736"/>
            <a:ext cx="1719072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800">
                <a:solidFill>
                  <a:srgbClr val="0E7490"/>
                </a:solidFill>
                <a:latin typeface="Arial"/>
              </a:defRPr>
            </a:pPr>
            <a:r>
              <a:t>📡 IMD Alerts</a:t>
            </a:r>
          </a:p>
          <a:p>
            <a:pPr>
              <a:defRPr sz="700">
                <a:solidFill>
                  <a:srgbClr val="64748B"/>
                </a:solidFill>
                <a:latin typeface="Arial"/>
              </a:defRPr>
            </a:pPr>
            <a:r>
              <a:t>Real-time cyclone tracks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242816" y="1316736"/>
            <a:ext cx="1719072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800">
                <a:solidFill>
                  <a:srgbClr val="0E7490"/>
                </a:solidFill>
                <a:latin typeface="Arial"/>
              </a:defRPr>
            </a:pPr>
            <a:r>
              <a:t>📡 Copernicus Marine</a:t>
            </a:r>
          </a:p>
          <a:p>
            <a:pPr>
              <a:defRPr sz="700">
                <a:solidFill>
                  <a:srgbClr val="64748B"/>
                </a:solidFill>
                <a:latin typeface="Arial"/>
              </a:defRPr>
            </a:pPr>
            <a:r>
              <a:t>0.083° global ocean grids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6035040" y="1316736"/>
            <a:ext cx="1719072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800">
                <a:solidFill>
                  <a:srgbClr val="0E7490"/>
                </a:solidFill>
                <a:latin typeface="Arial"/>
              </a:defRPr>
            </a:pPr>
            <a:r>
              <a:t>📡 ISRO MOSDAC</a:t>
            </a:r>
          </a:p>
          <a:p>
            <a:pPr>
              <a:defRPr sz="700">
                <a:solidFill>
                  <a:srgbClr val="64748B"/>
                </a:solidFill>
                <a:latin typeface="Arial"/>
              </a:defRPr>
            </a:pPr>
            <a:r>
              <a:t>INSAT-3DR SST &amp; Oceansat-3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7827264" y="1316736"/>
            <a:ext cx="1719072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800">
                <a:solidFill>
                  <a:srgbClr val="0E7490"/>
                </a:solidFill>
                <a:latin typeface="Arial"/>
              </a:defRPr>
            </a:pPr>
            <a:r>
              <a:t>📡 AIS Streams</a:t>
            </a:r>
          </a:p>
          <a:p>
            <a:pPr>
              <a:defRPr sz="700">
                <a:solidFill>
                  <a:srgbClr val="64748B"/>
                </a:solidFill>
                <a:latin typeface="Arial"/>
              </a:defRPr>
            </a:pPr>
            <a:r>
              <a:t>Vessel transponder data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9619488" y="1316736"/>
            <a:ext cx="1719072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800">
                <a:solidFill>
                  <a:srgbClr val="0E7490"/>
                </a:solidFill>
                <a:latin typeface="Arial"/>
              </a:defRPr>
            </a:pPr>
            <a:r>
              <a:t>📡 NMEA Sensors</a:t>
            </a:r>
          </a:p>
          <a:p>
            <a:pPr>
              <a:defRPr sz="700">
                <a:solidFill>
                  <a:srgbClr val="64748B"/>
                </a:solidFill>
                <a:latin typeface="Arial"/>
              </a:defRPr>
            </a:pPr>
            <a:r>
              <a:t>Onboard GPS / IMU pitch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658368" y="1975104"/>
            <a:ext cx="10872216" cy="384048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850">
                <a:solidFill>
                  <a:srgbClr val="FFFFFF"/>
                </a:solidFill>
                <a:latin typeface="Arial"/>
              </a:defRPr>
            </a:pPr>
            <a:r>
              <a:t>⚡ DATA ENGINE &amp; DUAL DIGITAL STATE: Spatial H3 Indexing (0.083°) + Environmental State  ⟷  Parametric Vessel Digital Twin (Lwl, Draft, Beam)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58368" y="2432304"/>
            <a:ext cx="3520440" cy="1133856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850">
                <a:solidFill>
                  <a:srgbClr val="10B981"/>
                </a:solidFill>
                <a:latin typeface="Arial"/>
              </a:defRPr>
            </a:pPr>
            <a:r>
              <a:t>⚙️ DETERMINISTIC PHYSICS (&lt;10ms)</a:t>
            </a:r>
          </a:p>
          <a:p>
            <a:pPr>
              <a:defRPr sz="750">
                <a:solidFill>
                  <a:srgbClr val="0F172A"/>
                </a:solidFill>
                <a:latin typeface="Arial"/>
              </a:defRPr>
            </a:pPr>
            <a:r>
              <a:t>• Critical Wave Height (Hcrit = 0.6 · Lhull)</a:t>
            </a:r>
            <a:br/>
            <a:r>
              <a:t>• Wave Steepness (S = Hs / λ) &amp; Period</a:t>
            </a:r>
            <a:br/>
            <a:r>
              <a:t>• Beam-Sea Encounter Angle &amp; Roll Resonance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4334255" y="2432304"/>
            <a:ext cx="3520440" cy="1133856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850">
                <a:solidFill>
                  <a:srgbClr val="0E7490"/>
                </a:solidFill>
                <a:latin typeface="Arial"/>
              </a:defRPr>
            </a:pPr>
            <a:r>
              <a:t>🧠 PREDICTIVE ML &amp; ANALYTICS</a:t>
            </a:r>
          </a:p>
          <a:p>
            <a:pPr>
              <a:defRPr sz="750">
                <a:solidFill>
                  <a:srgbClr val="0F172A"/>
                </a:solidFill>
                <a:latin typeface="Arial"/>
              </a:defRPr>
            </a:pPr>
            <a:r>
              <a:t>• Multi-Species Habitat Index (HSI XGBoost)</a:t>
            </a:r>
            <a:br/>
            <a:r>
              <a:t>• 2D Sobel Filter SST Thermal Fronts</a:t>
            </a:r>
            <a:br/>
            <a:r>
              <a:t>• 1,000-Particle Monte Carlo SAR Drift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8010144" y="2432304"/>
            <a:ext cx="3520440" cy="1133856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850">
                <a:solidFill>
                  <a:srgbClr val="D97706"/>
                </a:solidFill>
                <a:latin typeface="Arial"/>
              </a:defRPr>
            </a:pPr>
            <a:r>
              <a:t>📍 DYNAMIC A* OPTIMIZATION</a:t>
            </a:r>
          </a:p>
          <a:p>
            <a:pPr>
              <a:defRPr sz="750">
                <a:solidFill>
                  <a:srgbClr val="0F172A"/>
                </a:solidFill>
                <a:latin typeface="Arial"/>
              </a:defRPr>
            </a:pPr>
            <a:r>
              <a:t>• 2D Dynamic Risk Cost Surface Mesh</a:t>
            </a:r>
            <a:br/>
            <a:r>
              <a:t>• A* Navigational Pathfinding &amp; Avoidance</a:t>
            </a:r>
            <a:br/>
            <a:r>
              <a:t>• Optimal Fuel Burn &amp; Dock Allocation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58368" y="3639312"/>
            <a:ext cx="10872216" cy="493776"/>
          </a:xfrm>
          <a:prstGeom prst="roundRect">
            <a:avLst/>
          </a:prstGeom>
          <a:solidFill>
            <a:srgbClr val="0A254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b="1" sz="900">
                <a:solidFill>
                  <a:srgbClr val="10B981"/>
                </a:solidFill>
                <a:latin typeface="Arial"/>
              </a:rPr>
              <a:t>🛡️ NON-BYPASSABLE SAFETY CIRCUIT BREAKER: </a:t>
            </a:r>
            <a:r>
              <a:rPr sz="800">
                <a:solidFill>
                  <a:srgbClr val="FFFFFF"/>
                </a:solidFill>
                <a:latin typeface="Arial"/>
              </a:rPr>
              <a:t>Pure deterministic compiled logic evaluates physical capsizing risk (&lt;10ms). LLM is strictly constrained downstream for vernacular audio synthesis only.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548640" y="4315968"/>
            <a:ext cx="5394960" cy="18105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defRPr b="1" sz="950">
                <a:solidFill>
                  <a:srgbClr val="0A2540"/>
                </a:solidFill>
                <a:latin typeface="Arial"/>
              </a:defRPr>
            </a:pPr>
            <a:r>
              <a:t>LIVE WORKING PROTOTYPE SIMULATION (KANYAKUMARI CASE)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A2540"/>
                </a:solidFill>
                <a:latin typeface="Arial"/>
              </a:rPr>
              <a:t>1. Input: </a:t>
            </a:r>
            <a:r>
              <a:rPr sz="750">
                <a:solidFill>
                  <a:srgbClr val="0F172A"/>
                </a:solidFill>
                <a:latin typeface="Arial"/>
              </a:rPr>
              <a:t>Kanyakumari Port (8.08°N, 77.55°E), 9m FRP Craft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A2540"/>
                </a:solidFill>
                <a:latin typeface="Arial"/>
              </a:rPr>
              <a:t>2. Live State: </a:t>
            </a:r>
            <a:r>
              <a:rPr sz="750">
                <a:solidFill>
                  <a:srgbClr val="0F172A"/>
                </a:solidFill>
                <a:latin typeface="Arial"/>
              </a:rPr>
              <a:t>Wave Hs = 2.8m, Swell Tp = 8.2s, Wind = 24 kts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A2540"/>
                </a:solidFill>
                <a:latin typeface="Arial"/>
              </a:rPr>
              <a:t>3. Physics Check: </a:t>
            </a:r>
            <a:r>
              <a:rPr sz="750">
                <a:solidFill>
                  <a:srgbClr val="0F172A"/>
                </a:solidFill>
                <a:latin typeface="Arial"/>
              </a:rPr>
              <a:t>Hcrit = 5.4m &gt; 2.8m (Safe from Immediate Capsize)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A2540"/>
                </a:solidFill>
                <a:latin typeface="Arial"/>
              </a:rPr>
              <a:t>4. Route Engine: </a:t>
            </a:r>
            <a:r>
              <a:rPr sz="750">
                <a:solidFill>
                  <a:srgbClr val="0F172A"/>
                </a:solidFill>
                <a:latin typeface="Arial"/>
              </a:rPr>
              <a:t>Diverts 3.2 NM East to avoid shallow reef breaker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A2540"/>
                </a:solidFill>
                <a:latin typeface="Arial"/>
              </a:rPr>
              <a:t>5. Output Verdict: </a:t>
            </a:r>
            <a:r>
              <a:rPr sz="750">
                <a:solidFill>
                  <a:srgbClr val="0F172A"/>
                </a:solidFill>
                <a:latin typeface="Arial"/>
              </a:rPr>
              <a:t>PROCEED WITH CAUTION (Audio Advisory Generated)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6080760" y="4315968"/>
            <a:ext cx="5559552" cy="18105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defRPr b="1" sz="950">
                <a:solidFill>
                  <a:srgbClr val="0A2540"/>
                </a:solidFill>
                <a:latin typeface="Arial"/>
              </a:defRPr>
            </a:pPr>
            <a:r>
              <a:t>PRODUCTION TECHNOLOGY STACK</a:t>
            </a:r>
          </a:p>
          <a:p>
            <a:pPr>
              <a:spcAft>
                <a:spcPts val="250"/>
              </a:spcAft>
            </a:pPr>
            <a:r>
              <a:rPr b="1" sz="800">
                <a:solidFill>
                  <a:srgbClr val="0E7490"/>
                </a:solidFill>
                <a:latin typeface="Arial"/>
              </a:rPr>
              <a:t>• Frontend / UI: </a:t>
            </a:r>
            <a:r>
              <a:rPr sz="750">
                <a:solidFill>
                  <a:srgbClr val="334155"/>
                </a:solidFill>
                <a:latin typeface="Arial"/>
              </a:rPr>
              <a:t>React 18, TypeScript, Vite, MapLibre GL, WebGL, TailwindCSS, PWA</a:t>
            </a:r>
          </a:p>
          <a:p>
            <a:pPr>
              <a:spcAft>
                <a:spcPts val="250"/>
              </a:spcAft>
            </a:pPr>
            <a:r>
              <a:rPr b="1" sz="800">
                <a:solidFill>
                  <a:srgbClr val="0E7490"/>
                </a:solidFill>
                <a:latin typeface="Arial"/>
              </a:rPr>
              <a:t>• Backend / API: </a:t>
            </a:r>
            <a:r>
              <a:rPr sz="750">
                <a:solidFill>
                  <a:srgbClr val="334155"/>
                </a:solidFill>
                <a:latin typeface="Arial"/>
              </a:rPr>
              <a:t>FastAPI, Python 3.10+, Asynchronous DAG Orchestrator, SQLite/WAL</a:t>
            </a:r>
          </a:p>
          <a:p>
            <a:pPr>
              <a:spcAft>
                <a:spcPts val="250"/>
              </a:spcAft>
            </a:pPr>
            <a:r>
              <a:rPr b="1" sz="800">
                <a:solidFill>
                  <a:srgbClr val="0E7490"/>
                </a:solidFill>
                <a:latin typeface="Arial"/>
              </a:rPr>
              <a:t>• Intelligence: </a:t>
            </a:r>
            <a:r>
              <a:rPr sz="750">
                <a:solidFill>
                  <a:srgbClr val="334155"/>
                </a:solidFill>
                <a:latin typeface="Arial"/>
              </a:rPr>
              <a:t>NumPy, SciPy, XGBoost (HSI Matrix), Modified A* Graph Pathfinder</a:t>
            </a:r>
          </a:p>
          <a:p>
            <a:pPr>
              <a:spcAft>
                <a:spcPts val="250"/>
              </a:spcAft>
            </a:pPr>
            <a:r>
              <a:rPr b="1" sz="800">
                <a:solidFill>
                  <a:srgbClr val="0E7490"/>
                </a:solidFill>
                <a:latin typeface="Arial"/>
              </a:rPr>
              <a:t>• IoT / Telecom: </a:t>
            </a:r>
            <a:r>
              <a:rPr sz="750">
                <a:solidFill>
                  <a:srgbClr val="334155"/>
                </a:solidFill>
                <a:latin typeface="Arial"/>
              </a:rPr>
              <a:t>ESP32 LoRa Gateway (868/433 MHz), Multi-Hop Mesh (OLSR/BATMAN)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09728"/>
            <a:ext cx="8001000" cy="731520"/>
          </a:xfrm>
        </p:spPr>
        <p:txBody>
          <a:bodyPr wrap="square"/>
          <a:lstStyle/>
          <a:p>
            <a:pPr eaLnBrk="1" hangingPunct="1" algn="l">
              <a:defRPr sz="1700" b="1">
                <a:solidFill>
                  <a:srgbClr val="0A2540"/>
                </a:solidFill>
                <a:latin typeface="Arial"/>
              </a:defRPr>
            </a:pPr>
            <a:r>
              <a:t>FEASIBILITY AND VIABILITY: Build, Mitigate &amp; Deploy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184" y="164592"/>
            <a:ext cx="1234440" cy="658368"/>
          </a:xfrm>
          <a:prstGeom prst="ellipse">
            <a:avLst/>
          </a:prstGeom>
          <a:solidFill>
            <a:srgbClr val="0A2540"/>
          </a:solidFill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ORCA 4.0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48640" y="896112"/>
            <a:ext cx="2697480" cy="256032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sz="850" b="1">
                <a:solidFill>
                  <a:srgbClr val="0E7490"/>
                </a:solidFill>
                <a:latin typeface="Arial"/>
              </a:defRPr>
            </a:pPr>
            <a:r>
              <a:t>FEASIBILITY ANALYSIS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346704" y="896112"/>
            <a:ext cx="2697480" cy="25603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sz="850" b="1">
                <a:solidFill>
                  <a:srgbClr val="D97706"/>
                </a:solidFill>
                <a:latin typeface="Arial"/>
              </a:defRPr>
            </a:pPr>
            <a:r>
              <a:t>POTENTIAL RISKS &amp; CHALLENGES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44768" y="896112"/>
            <a:ext cx="2697480" cy="256032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sz="850" b="1">
                <a:solidFill>
                  <a:srgbClr val="10B981"/>
                </a:solidFill>
                <a:latin typeface="Arial"/>
              </a:defRPr>
            </a:pPr>
            <a:r>
              <a:t>STRATEGIES FOR OVERCOMING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8942832" y="896112"/>
            <a:ext cx="2697480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sz="850" b="1">
                <a:solidFill>
                  <a:srgbClr val="334155"/>
                </a:solidFill>
                <a:latin typeface="Arial"/>
              </a:defRPr>
            </a:pPr>
            <a:r>
              <a:t>DEPLOYMENT &amp; ECONOMICS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48640" y="1225296"/>
            <a:ext cx="2743200" cy="490118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  <a:defRPr b="1" sz="1000">
                <a:solidFill>
                  <a:srgbClr val="0A2540"/>
                </a:solidFill>
                <a:latin typeface="Arial"/>
              </a:defRPr>
            </a:pPr>
            <a:r>
              <a:t>IMPLEMENTATION ROADMAP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0B981"/>
                </a:solidFill>
                <a:latin typeface="Arial"/>
              </a:rPr>
              <a:t>✓ PROTOTYPE
</a:t>
            </a:r>
            <a:r>
              <a:rPr sz="750">
                <a:solidFill>
                  <a:srgbClr val="0F172A"/>
                </a:solidFill>
                <a:latin typeface="Arial"/>
              </a:rPr>
              <a:t>End-to-End FastAPI &amp; React UI working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0B981"/>
                </a:solidFill>
                <a:latin typeface="Arial"/>
              </a:rPr>
              <a:t>✓ LIVE DATA
</a:t>
            </a:r>
            <a:r>
              <a:rPr sz="750">
                <a:solidFill>
                  <a:srgbClr val="0F172A"/>
                </a:solidFill>
                <a:latin typeface="Arial"/>
              </a:rPr>
              <a:t>Open-Meteo &amp; IMD ingestion active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0B981"/>
                </a:solidFill>
                <a:latin typeface="Arial"/>
              </a:rPr>
              <a:t>✓ RISK ENGINE
</a:t>
            </a:r>
            <a:r>
              <a:rPr sz="750">
                <a:solidFill>
                  <a:srgbClr val="0F172A"/>
                </a:solidFill>
                <a:latin typeface="Arial"/>
              </a:rPr>
              <a:t>Deterministic safety breaker active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0B981"/>
                </a:solidFill>
                <a:latin typeface="Arial"/>
              </a:rPr>
              <a:t>✓ ROUTE ENGINE
</a:t>
            </a:r>
            <a:r>
              <a:rPr sz="750">
                <a:solidFill>
                  <a:srgbClr val="0F172A"/>
                </a:solidFill>
                <a:latin typeface="Arial"/>
              </a:rPr>
              <a:t>A* dynamic pathfinder &amp; HSI matrix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D97706"/>
                </a:solidFill>
                <a:latin typeface="Arial"/>
              </a:rPr>
              <a:t>◐ HARBOR PILOT
</a:t>
            </a:r>
            <a:r>
              <a:rPr sz="750">
                <a:solidFill>
                  <a:srgbClr val="0F172A"/>
                </a:solidFill>
                <a:latin typeface="Arial"/>
              </a:rPr>
              <a:t>Kanyakumari &amp; Munambam trial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64748B"/>
                </a:solidFill>
                <a:latin typeface="Arial"/>
              </a:rPr>
              <a:t>◌ SCALE PHASE
</a:t>
            </a:r>
            <a:r>
              <a:rPr sz="750">
                <a:solidFill>
                  <a:srgbClr val="0F172A"/>
                </a:solidFill>
                <a:latin typeface="Arial"/>
              </a:rPr>
              <a:t>9 Coastal States &amp; ISRO Satcom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429000" y="1225296"/>
            <a:ext cx="4709160" cy="4901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  <a:defRPr b="1" sz="1000">
                <a:solidFill>
                  <a:srgbClr val="0A2540"/>
                </a:solidFill>
                <a:latin typeface="Arial"/>
              </a:defRPr>
            </a:pPr>
            <a:r>
              <a:t>CRITICAL RISKS ➔ PROVEN MITIGATION STRATEGIES</a:t>
            </a:r>
          </a:p>
          <a:p>
            <a:pPr>
              <a:spcAft>
                <a:spcPts val="400"/>
              </a:spcAft>
            </a:pPr>
            <a:r>
              <a:rPr b="1" sz="800">
                <a:solidFill>
                  <a:srgbClr val="E11D48"/>
                </a:solidFill>
                <a:latin typeface="Arial"/>
              </a:rPr>
              <a:t>⚠️ Data Latency / Stale Feeds
</a:t>
            </a:r>
            <a:r>
              <a:rPr sz="750">
                <a:solidFill>
                  <a:srgbClr val="0F172A"/>
                </a:solidFill>
                <a:latin typeface="Arial"/>
              </a:rPr>
              <a:t>  ➔ 🛡️ Automated TTL monitoring (&lt;30m) &amp; cached offline fallback</a:t>
            </a:r>
          </a:p>
          <a:p>
            <a:pPr>
              <a:spcAft>
                <a:spcPts val="400"/>
              </a:spcAft>
            </a:pPr>
            <a:r>
              <a:rPr b="1" sz="800">
                <a:solidFill>
                  <a:srgbClr val="E11D48"/>
                </a:solidFill>
                <a:latin typeface="Arial"/>
              </a:rPr>
              <a:t>⚠️ API Provider Outages
</a:t>
            </a:r>
            <a:r>
              <a:rPr sz="750">
                <a:solidFill>
                  <a:srgbClr val="0F172A"/>
                </a:solidFill>
                <a:latin typeface="Arial"/>
              </a:rPr>
              <a:t>  ➔ 🛡️ Multi-source failover cascade (INCOIS ➔ Open-Meteo ➔ MOSDAC)</a:t>
            </a:r>
          </a:p>
          <a:p>
            <a:pPr>
              <a:spcAft>
                <a:spcPts val="400"/>
              </a:spcAft>
            </a:pPr>
            <a:r>
              <a:rPr b="1" sz="800">
                <a:solidFill>
                  <a:srgbClr val="E11D48"/>
                </a:solidFill>
                <a:latin typeface="Arial"/>
              </a:rPr>
              <a:t>⚠️ Source Disagreements
</a:t>
            </a:r>
            <a:r>
              <a:rPr sz="750">
                <a:solidFill>
                  <a:srgbClr val="0F172A"/>
                </a:solidFill>
                <a:latin typeface="Arial"/>
              </a:rPr>
              <a:t>  ➔ 🛡️ Provenance-weighted ensemble &amp; explicit uncertainty bounds</a:t>
            </a:r>
          </a:p>
          <a:p>
            <a:pPr>
              <a:spcAft>
                <a:spcPts val="400"/>
              </a:spcAft>
            </a:pPr>
            <a:r>
              <a:rPr b="1" sz="800">
                <a:solidFill>
                  <a:srgbClr val="E11D48"/>
                </a:solidFill>
                <a:latin typeface="Arial"/>
              </a:rPr>
              <a:t>⚠️ Offshore Signal Blackout
</a:t>
            </a:r>
            <a:r>
              <a:rPr sz="750">
                <a:solidFill>
                  <a:srgbClr val="0F172A"/>
                </a:solidFill>
                <a:latin typeface="Arial"/>
              </a:rPr>
              <a:t>  ➔ 🛡️ Multi-Hop LoRa Fleet Mesh (up to 50 km) + Offline PWA Caching</a:t>
            </a:r>
          </a:p>
          <a:p>
            <a:pPr>
              <a:spcAft>
                <a:spcPts val="400"/>
              </a:spcAft>
            </a:pPr>
            <a:r>
              <a:rPr b="1" sz="800">
                <a:solidFill>
                  <a:srgbClr val="E11D48"/>
                </a:solidFill>
                <a:latin typeface="Arial"/>
              </a:rPr>
              <a:t>⚠️ Vessel Hull Diversity
</a:t>
            </a:r>
            <a:r>
              <a:rPr sz="750">
                <a:solidFill>
                  <a:srgbClr val="0F172A"/>
                </a:solidFill>
                <a:latin typeface="Arial"/>
              </a:rPr>
              <a:t>  ➔ 🛡️ Parametric Digital Twin model library (Catamaran, FRP, Trawler)</a:t>
            </a:r>
          </a:p>
          <a:p>
            <a:pPr>
              <a:spcAft>
                <a:spcPts val="400"/>
              </a:spcAft>
            </a:pPr>
            <a:r>
              <a:rPr b="1" sz="800">
                <a:solidFill>
                  <a:srgbClr val="E11D48"/>
                </a:solidFill>
                <a:latin typeface="Arial"/>
              </a:rPr>
              <a:t>⚠️ Model Hallucination
</a:t>
            </a:r>
            <a:r>
              <a:rPr sz="750">
                <a:solidFill>
                  <a:srgbClr val="0F172A"/>
                </a:solidFill>
                <a:latin typeface="Arial"/>
              </a:rPr>
              <a:t>  ➔ 🛡️ 100% Deterministic Safety Rules (Zero AI in safety path)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275320" y="1225296"/>
            <a:ext cx="3364992" cy="23957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400"/>
              </a:spcAft>
              <a:defRPr b="1" sz="950">
                <a:solidFill>
                  <a:srgbClr val="0A2540"/>
                </a:solidFill>
                <a:latin typeface="Arial"/>
              </a:defRPr>
            </a:pPr>
            <a:r>
              <a:t>DEPLOYMENT ARCHITECTURE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E7490"/>
                </a:solidFill>
                <a:latin typeface="Arial"/>
              </a:rPr>
              <a:t>1. Vessel Edge: </a:t>
            </a:r>
            <a:r>
              <a:rPr sz="750">
                <a:solidFill>
                  <a:srgbClr val="0F172A"/>
                </a:solidFill>
                <a:latin typeface="Arial"/>
              </a:rPr>
              <a:t>GPS / IMU + ESP32 LoRa Node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E7490"/>
                </a:solidFill>
                <a:latin typeface="Arial"/>
              </a:rPr>
              <a:t>2. Fleet Relay: </a:t>
            </a:r>
            <a:r>
              <a:rPr sz="750">
                <a:solidFill>
                  <a:srgbClr val="0F172A"/>
                </a:solidFill>
                <a:latin typeface="Arial"/>
              </a:rPr>
              <a:t>Multi-Hop Boat Mesh (3-8 km hops)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E7490"/>
                </a:solidFill>
                <a:latin typeface="Arial"/>
              </a:rPr>
              <a:t>3. Coastal Mast: </a:t>
            </a:r>
            <a:r>
              <a:rPr sz="750">
                <a:solidFill>
                  <a:srgbClr val="0F172A"/>
                </a:solidFill>
                <a:latin typeface="Arial"/>
              </a:rPr>
              <a:t>Lighthouse LoRa Gateway (60m mast)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E7490"/>
                </a:solidFill>
                <a:latin typeface="Arial"/>
              </a:rPr>
              <a:t>4. Cloud Engine: </a:t>
            </a:r>
            <a:r>
              <a:rPr sz="750">
                <a:solidFill>
                  <a:srgbClr val="0F172A"/>
                </a:solidFill>
                <a:latin typeface="Arial"/>
              </a:rPr>
              <a:t>FastAPI / SQLite / Orchestrator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E7490"/>
                </a:solidFill>
                <a:latin typeface="Arial"/>
              </a:rPr>
              <a:t>5. User Tiers: </a:t>
            </a:r>
            <a:r>
              <a:rPr sz="750">
                <a:solidFill>
                  <a:srgbClr val="0F172A"/>
                </a:solidFill>
                <a:latin typeface="Arial"/>
              </a:rPr>
              <a:t>Fisher PWA | Fleet Web | Coast Guard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8275320" y="3730752"/>
            <a:ext cx="3364992" cy="239572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400"/>
              </a:spcAft>
              <a:defRPr b="1" sz="950">
                <a:solidFill>
                  <a:srgbClr val="10B981"/>
                </a:solidFill>
                <a:latin typeface="Arial"/>
              </a:defRPr>
            </a:pPr>
            <a:r>
              <a:t>DEPLOYMENT ECONOMICS &amp; BOM</a:t>
            </a:r>
          </a:p>
          <a:p>
            <a:pPr>
              <a:spcAft>
                <a:spcPts val="200"/>
              </a:spcAft>
            </a:pPr>
            <a:r>
              <a:rPr sz="750">
                <a:solidFill>
                  <a:srgbClr val="0F172A"/>
                </a:solidFill>
                <a:latin typeface="Arial"/>
              </a:rPr>
              <a:t>• ESP32 MCU + LoRa SX1262: </a:t>
            </a:r>
            <a:r>
              <a:rPr b="1" sz="750">
                <a:solidFill>
                  <a:srgbClr val="0E7490"/>
                </a:solidFill>
                <a:latin typeface="Arial"/>
              </a:rPr>
              <a:t>₹1,800 (~$22)</a:t>
            </a:r>
          </a:p>
          <a:p>
            <a:pPr>
              <a:spcAft>
                <a:spcPts val="200"/>
              </a:spcAft>
            </a:pPr>
            <a:r>
              <a:rPr sz="750">
                <a:solidFill>
                  <a:srgbClr val="0F172A"/>
                </a:solidFill>
                <a:latin typeface="Arial"/>
              </a:rPr>
              <a:t>• GPS NEO-6M Receiver: </a:t>
            </a:r>
            <a:r>
              <a:rPr b="1" sz="750">
                <a:solidFill>
                  <a:srgbClr val="0E7490"/>
                </a:solidFill>
                <a:latin typeface="Arial"/>
              </a:rPr>
              <a:t>₹600 (~$7)</a:t>
            </a:r>
          </a:p>
          <a:p>
            <a:pPr>
              <a:spcAft>
                <a:spcPts val="200"/>
              </a:spcAft>
            </a:pPr>
            <a:r>
              <a:rPr sz="750">
                <a:solidFill>
                  <a:srgbClr val="0F172A"/>
                </a:solidFill>
                <a:latin typeface="Arial"/>
              </a:rPr>
              <a:t>• IP67 Enclosure + Solar: </a:t>
            </a:r>
            <a:r>
              <a:rPr b="1" sz="750">
                <a:solidFill>
                  <a:srgbClr val="0E7490"/>
                </a:solidFill>
                <a:latin typeface="Arial"/>
              </a:rPr>
              <a:t>₹1,100 (~$13)</a:t>
            </a:r>
          </a:p>
          <a:p>
            <a:pPr>
              <a:spcAft>
                <a:spcPts val="200"/>
              </a:spcAft>
            </a:pPr>
            <a:r>
              <a:rPr sz="750">
                <a:solidFill>
                  <a:srgbClr val="0F172A"/>
                </a:solidFill>
                <a:latin typeface="Arial"/>
              </a:rPr>
              <a:t>• Total Hardware Cost / Boat: </a:t>
            </a:r>
            <a:r>
              <a:rPr b="1" sz="750">
                <a:solidFill>
                  <a:srgbClr val="10B981"/>
                </a:solidFill>
                <a:latin typeface="Arial"/>
              </a:rPr>
              <a:t>≈ ₹3,500 ($42)</a:t>
            </a:r>
          </a:p>
          <a:p>
            <a:pPr>
              <a:spcAft>
                <a:spcPts val="200"/>
              </a:spcAft>
            </a:pPr>
            <a:r>
              <a:rPr sz="750">
                <a:solidFill>
                  <a:srgbClr val="0F172A"/>
                </a:solidFill>
                <a:latin typeface="Arial"/>
              </a:rPr>
              <a:t>• Data &amp; Server API Cost: </a:t>
            </a:r>
            <a:r>
              <a:rPr b="1" sz="750">
                <a:solidFill>
                  <a:srgbClr val="10B981"/>
                </a:solidFill>
                <a:latin typeface="Arial"/>
              </a:rPr>
              <a:t>₹0 (Open Feeds / Serverless)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09728"/>
            <a:ext cx="8001000" cy="731520"/>
          </a:xfrm>
        </p:spPr>
        <p:txBody>
          <a:bodyPr wrap="square"/>
          <a:lstStyle/>
          <a:p>
            <a:pPr eaLnBrk="1" hangingPunct="1" algn="l">
              <a:defRPr sz="1700" b="1">
                <a:solidFill>
                  <a:srgbClr val="0A2540"/>
                </a:solidFill>
                <a:latin typeface="Arial"/>
              </a:defRPr>
            </a:pPr>
            <a:r>
              <a:t>IMPACT AND BENEFITS: Empowering India's Blue Economy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184" y="164592"/>
            <a:ext cx="1234440" cy="658368"/>
          </a:xfrm>
          <a:prstGeom prst="ellipse">
            <a:avLst/>
          </a:prstGeom>
          <a:solidFill>
            <a:srgbClr val="0A2540"/>
          </a:solidFill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ORCA 4.0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48640" y="896112"/>
            <a:ext cx="2697480" cy="256032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sz="850" b="1">
                <a:solidFill>
                  <a:srgbClr val="0E7490"/>
                </a:solidFill>
                <a:latin typeface="Arial"/>
              </a:defRPr>
            </a:pPr>
            <a:r>
              <a:t>TARGET AUDIENCE IMPACT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346704" y="896112"/>
            <a:ext cx="2697480" cy="256032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sz="850" b="1">
                <a:solidFill>
                  <a:srgbClr val="10B981"/>
                </a:solidFill>
                <a:latin typeface="Arial"/>
              </a:defRPr>
            </a:pPr>
            <a:r>
              <a:t>SOCIAL &amp; HUMAN BENEFITS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44768" y="896112"/>
            <a:ext cx="2697480" cy="25603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sz="850" b="1">
                <a:solidFill>
                  <a:srgbClr val="D97706"/>
                </a:solidFill>
                <a:latin typeface="Arial"/>
              </a:defRPr>
            </a:pPr>
            <a:r>
              <a:t>ECONOMIC &amp; OPERATIONAL ROI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8942832" y="896112"/>
            <a:ext cx="2697480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sz="850" b="1">
                <a:solidFill>
                  <a:srgbClr val="334155"/>
                </a:solidFill>
                <a:latin typeface="Arial"/>
              </a:defRPr>
            </a:pPr>
            <a:r>
              <a:t>NATIONAL STRATEGIC SCALE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48640" y="1225296"/>
            <a:ext cx="5029200" cy="440740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  <a:defRPr b="1" sz="1050">
                <a:solidFill>
                  <a:srgbClr val="0A2540"/>
                </a:solidFill>
                <a:latin typeface="Arial"/>
              </a:defRPr>
            </a:pPr>
            <a:r>
              <a:t>ORCA MULTI-STAKEHOLDER ECOSYSTEM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0E7490"/>
                </a:solidFill>
                <a:latin typeface="Arial"/>
              </a:rPr>
              <a:t>🎣 Artisanal Fishermen (4.5M Lives)
</a:t>
            </a:r>
            <a:r>
              <a:rPr sz="750">
                <a:solidFill>
                  <a:srgbClr val="334155"/>
                </a:solidFill>
                <a:latin typeface="Arial"/>
              </a:rPr>
              <a:t>  • Zero preventable capsizings, localized vernacular audio safety alerts, precision PFZ fishing hotspots.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0E7490"/>
                </a:solidFill>
                <a:latin typeface="Arial"/>
              </a:rPr>
              <a:t>⚓ Harbors &amp; Port Authorities
</a:t>
            </a:r>
            <a:r>
              <a:rPr sz="750">
                <a:solidFill>
                  <a:srgbClr val="334155"/>
                </a:solidFill>
                <a:latin typeface="Arial"/>
              </a:rPr>
              <a:t>  • Live harbor fleet tracking, automated departure safety clearances, harbor congestion mitigation.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0E7490"/>
                </a:solidFill>
                <a:latin typeface="Arial"/>
              </a:rPr>
              <a:t>🚢 Commercial Fishing Fleets
</a:t>
            </a:r>
            <a:r>
              <a:rPr sz="750">
                <a:solidFill>
                  <a:srgbClr val="334155"/>
                </a:solidFill>
                <a:latin typeface="Arial"/>
              </a:rPr>
              <a:t>  • Optimal fuel-saving route planning, dynamic weather avoidance, higher catch yield ROI.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0E7490"/>
                </a:solidFill>
                <a:latin typeface="Arial"/>
              </a:rPr>
              <a:t>🛡️ Coast Guard &amp; NDRF
</a:t>
            </a:r>
            <a:r>
              <a:rPr sz="750">
                <a:solidFill>
                  <a:srgbClr val="334155"/>
                </a:solidFill>
                <a:latin typeface="Arial"/>
              </a:rPr>
              <a:t>  • Real-time Dark-Fleet anomaly alerts, 1,000-particle Monte Carlo SAR drift tracking.</a:t>
            </a:r>
          </a:p>
          <a:p>
            <a:pPr>
              <a:spcAft>
                <a:spcPts val="400"/>
              </a:spcAft>
            </a:pPr>
            <a:r>
              <a:rPr b="1" sz="850">
                <a:solidFill>
                  <a:srgbClr val="0E7490"/>
                </a:solidFill>
                <a:latin typeface="Arial"/>
              </a:rPr>
              <a:t>🔬 Oceanographic Institutes
</a:t>
            </a:r>
            <a:r>
              <a:rPr sz="750">
                <a:solidFill>
                  <a:srgbClr val="334155"/>
                </a:solidFill>
                <a:latin typeface="Arial"/>
              </a:rPr>
              <a:t>  • Crowdsourced ground-truth sea state telemetry &amp; high-resolution model validation.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5715000" y="1225296"/>
            <a:ext cx="5925312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  <a:defRPr b="1" sz="1050">
                <a:solidFill>
                  <a:srgbClr val="0A2540"/>
                </a:solidFill>
                <a:latin typeface="Arial"/>
              </a:defRPr>
            </a:pPr>
            <a:r>
              <a:t>THE FOUR PILLARS OF NATIONAL IMPACT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10B981"/>
                </a:solidFill>
                <a:latin typeface="Arial"/>
              </a:rPr>
              <a:t>👥 SOCIAL IMPACT (Saving Lives)
</a:t>
            </a:r>
            <a:r>
              <a:rPr sz="750">
                <a:solidFill>
                  <a:srgbClr val="0F172A"/>
                </a:solidFill>
                <a:latin typeface="Arial"/>
              </a:rPr>
              <a:t>Eliminates fatal capsizings by calculating real-time wave-vessel physical resonance. Delivers plain-language voice alerts in Tamil, Malayalam, Bengali, Telugu, and Hindi for non-literate crews.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D97706"/>
                </a:solidFill>
                <a:latin typeface="Arial"/>
              </a:rPr>
              <a:t>💰 ECONOMIC IMPACT (Fuel &amp; Yield)
</a:t>
            </a:r>
            <a:r>
              <a:rPr sz="750">
                <a:solidFill>
                  <a:srgbClr val="0F172A"/>
                </a:solidFill>
                <a:latin typeface="Arial"/>
              </a:rPr>
              <a:t>Reduces diesel expenditure by 20–30% through current-assisted dynamic A* pathfinding. Maximizes high-value pelagic catch yields via multi-species Habitat Suitability Index (HSI) mapping.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0E7490"/>
                </a:solidFill>
                <a:latin typeface="Arial"/>
              </a:rPr>
              <a:t>🌿 ENVIRONMENTAL IMPACT (Ocean Health)
</a:t>
            </a:r>
            <a:r>
              <a:rPr sz="750">
                <a:solidFill>
                  <a:srgbClr val="0F172A"/>
                </a:solidFill>
                <a:latin typeface="Arial"/>
              </a:rPr>
              <a:t>Substantially lowers maritime diesel emissions per fishing voyage. Provides automated geofencing to prevent accidental intrusion into Marine Protected Areas (MPAs) and international boundaries.</a:t>
            </a:r>
          </a:p>
          <a:p>
            <a:pPr>
              <a:spcAft>
                <a:spcPts val="500"/>
              </a:spcAft>
            </a:pPr>
            <a:r>
              <a:rPr b="1" sz="850">
                <a:solidFill>
                  <a:srgbClr val="0A2540"/>
                </a:solidFill>
                <a:latin typeface="Arial"/>
              </a:rPr>
              <a:t>🇮🇳 STRATEGIC IMPACT (Digital Sovereignty)
</a:t>
            </a:r>
            <a:r>
              <a:rPr sz="750">
                <a:solidFill>
                  <a:srgbClr val="0F172A"/>
                </a:solidFill>
                <a:latin typeface="Arial"/>
              </a:rPr>
              <a:t>Delivers end-to-end sovereign maritime domain awareness across India's 7,516 km coastline and 2.37M sq km EEZ, creating an integrated national ocean safety infrastructure.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548640" y="5742432"/>
            <a:ext cx="11091672" cy="38404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900">
                <a:solidFill>
                  <a:srgbClr val="0A2540"/>
                </a:solidFill>
                <a:latin typeface="Arial"/>
              </a:defRPr>
            </a:pPr>
            <a:r>
              <a:t>1 ARTISANAL VESSEL   ➔   HARBOR FLEET (500+)   ➔   COASTAL STATE   ➔   PAN-INDIA MARITIME DIGITAL TWIN LAYER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09728"/>
            <a:ext cx="8001000" cy="731520"/>
          </a:xfrm>
        </p:spPr>
        <p:txBody>
          <a:bodyPr wrap="square"/>
          <a:lstStyle/>
          <a:p>
            <a:pPr eaLnBrk="1" hangingPunct="1" algn="l">
              <a:defRPr sz="1700" b="1">
                <a:solidFill>
                  <a:srgbClr val="0A2540"/>
                </a:solidFill>
                <a:latin typeface="Arial"/>
              </a:defRPr>
            </a:pPr>
            <a:r>
              <a:t>RESEARCH  AND REFERENCES: Science to Implementation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184" y="164592"/>
            <a:ext cx="1234440" cy="658368"/>
          </a:xfrm>
          <a:prstGeom prst="ellipse">
            <a:avLst/>
          </a:prstGeom>
          <a:solidFill>
            <a:srgbClr val="0A2540"/>
          </a:solidFill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ORCA 4.0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48640" y="896112"/>
            <a:ext cx="2697480" cy="256032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sz="850" b="1">
                <a:solidFill>
                  <a:srgbClr val="0E7490"/>
                </a:solidFill>
                <a:latin typeface="Arial"/>
              </a:defRPr>
            </a:pPr>
            <a:r>
              <a:t>DETAILS OF RESEARCH WORK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346704" y="896112"/>
            <a:ext cx="2697480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sz="850" b="1">
                <a:solidFill>
                  <a:srgbClr val="334155"/>
                </a:solidFill>
                <a:latin typeface="Arial"/>
              </a:defRPr>
            </a:pPr>
            <a:r>
              <a:t>IMO STABILITY CRITERIA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44768" y="896112"/>
            <a:ext cx="2697480" cy="25603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sz="850" b="1">
                <a:solidFill>
                  <a:srgbClr val="334155"/>
                </a:solidFill>
                <a:latin typeface="Arial"/>
              </a:defRPr>
            </a:pPr>
            <a:r>
              <a:t>HYDRODYNAMIC WAVE PHYSICS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8942832" y="896112"/>
            <a:ext cx="2697480" cy="256032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sz="850" b="1">
                <a:solidFill>
                  <a:srgbClr val="10B981"/>
                </a:solidFill>
                <a:latin typeface="Arial"/>
              </a:defRPr>
            </a:pPr>
            <a:r>
              <a:t>VERIFIED ACADEMIC CITATIONS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48640" y="1225296"/>
            <a:ext cx="54406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900">
                <a:solidFill>
                  <a:srgbClr val="0A2540"/>
                </a:solidFill>
                <a:latin typeface="Arial"/>
              </a:defRPr>
            </a:pPr>
            <a:r>
              <a:t>📚 IMO Code on Intact Stability (2008)</a:t>
            </a:r>
          </a:p>
          <a:p>
            <a:pPr>
              <a:spcAft>
                <a:spcPts val="200"/>
              </a:spcAft>
              <a:defRPr i="1" sz="700">
                <a:solidFill>
                  <a:srgbClr val="64748B"/>
                </a:solidFill>
                <a:latin typeface="Arial"/>
              </a:defRPr>
            </a:pPr>
            <a:r>
              <a:t>Source: Resolution MSC.267(85) / Small Craft Capsizing Dynamics</a:t>
            </a:r>
          </a:p>
          <a:p>
            <a:pPr>
              <a:spcAft>
                <a:spcPts val="200"/>
              </a:spcAft>
            </a:pPr>
            <a:r>
              <a:rPr b="1" sz="750">
                <a:solidFill>
                  <a:srgbClr val="D97706"/>
                </a:solidFill>
                <a:latin typeface="Arial"/>
              </a:rPr>
              <a:t>Key Insight: </a:t>
            </a:r>
            <a:r>
              <a:rPr sz="750">
                <a:solidFill>
                  <a:srgbClr val="0F172A"/>
                </a:solidFill>
                <a:latin typeface="Arial"/>
              </a:rPr>
              <a:t>Small vessel dynamic instability under steep wave action, beam-sea broaching, and parametric roll resonance.</a:t>
            </a:r>
          </a:p>
          <a:p>
            <a:r>
              <a:rPr b="1" sz="750">
                <a:solidFill>
                  <a:srgbClr val="10B981"/>
                </a:solidFill>
                <a:latin typeface="Arial"/>
              </a:rPr>
              <a:t>ORCA Implementation: </a:t>
            </a:r>
            <a:r>
              <a:rPr sz="750">
                <a:solidFill>
                  <a:srgbClr val="334155"/>
                </a:solidFill>
                <a:latin typeface="Arial"/>
              </a:rPr>
              <a:t>Deterministic Safety Engine: Computes critical wave threshold (Hcrit ≈ 0.6 · Lhull) and enforces non-bypassable hazard overrides (&lt;10ms).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199631" y="1225296"/>
            <a:ext cx="54406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900">
                <a:solidFill>
                  <a:srgbClr val="0A2540"/>
                </a:solidFill>
                <a:latin typeface="Arial"/>
              </a:defRPr>
            </a:pPr>
            <a:r>
              <a:t>📚 Marine Hydrodynamics &amp; Encounter Physics</a:t>
            </a:r>
          </a:p>
          <a:p>
            <a:pPr>
              <a:spcAft>
                <a:spcPts val="200"/>
              </a:spcAft>
              <a:defRPr i="1" sz="700">
                <a:solidFill>
                  <a:srgbClr val="64748B"/>
                </a:solidFill>
                <a:latin typeface="Arial"/>
              </a:defRPr>
            </a:pPr>
            <a:r>
              <a:t>Source: O.M. Faltinsen (1990) &amp; J.N. Newman (1977)</a:t>
            </a:r>
          </a:p>
          <a:p>
            <a:pPr>
              <a:spcAft>
                <a:spcPts val="200"/>
              </a:spcAft>
            </a:pPr>
            <a:r>
              <a:rPr b="1" sz="750">
                <a:solidFill>
                  <a:srgbClr val="D97706"/>
                </a:solidFill>
                <a:latin typeface="Arial"/>
              </a:rPr>
              <a:t>Key Insight: </a:t>
            </a:r>
            <a:r>
              <a:rPr sz="750">
                <a:solidFill>
                  <a:srgbClr val="0F172A"/>
                </a:solidFill>
                <a:latin typeface="Arial"/>
              </a:rPr>
              <a:t>Wave steepness ratio (S = Hs / λ), deep-water dispersion relations (λ = g·Tp² / 2π), and encounter angle frequency shifts.</a:t>
            </a:r>
          </a:p>
          <a:p>
            <a:r>
              <a:rPr b="1" sz="750">
                <a:solidFill>
                  <a:srgbClr val="10B981"/>
                </a:solidFill>
                <a:latin typeface="Arial"/>
              </a:rPr>
              <a:t>ORCA Implementation: </a:t>
            </a:r>
            <a:r>
              <a:rPr sz="750">
                <a:solidFill>
                  <a:srgbClr val="334155"/>
                </a:solidFill>
                <a:latin typeface="Arial"/>
              </a:rPr>
              <a:t>Vessel Digital Twin: Dynamic calculation of wave steepness &amp; vessel-wave interaction rather than treating sea states as static point forecasts.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548640" y="3419856"/>
            <a:ext cx="54406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900">
                <a:solidFill>
                  <a:srgbClr val="0A2540"/>
                </a:solidFill>
                <a:latin typeface="Arial"/>
              </a:defRPr>
            </a:pPr>
            <a:r>
              <a:t>📚 Satellite Oceanography &amp; Pelagic Habitats</a:t>
            </a:r>
          </a:p>
          <a:p>
            <a:pPr>
              <a:spcAft>
                <a:spcPts val="200"/>
              </a:spcAft>
              <a:defRPr i="1" sz="700">
                <a:solidFill>
                  <a:srgbClr val="64748B"/>
                </a:solidFill>
                <a:latin typeface="Arial"/>
              </a:defRPr>
            </a:pPr>
            <a:r>
              <a:t>Source: INCOIS PFZ Mission &amp; ISRO MOSDAC Telemetry</a:t>
            </a:r>
          </a:p>
          <a:p>
            <a:pPr>
              <a:spcAft>
                <a:spcPts val="200"/>
              </a:spcAft>
            </a:pPr>
            <a:r>
              <a:rPr b="1" sz="750">
                <a:solidFill>
                  <a:srgbClr val="D97706"/>
                </a:solidFill>
                <a:latin typeface="Arial"/>
              </a:rPr>
              <a:t>Key Insight: </a:t>
            </a:r>
            <a:r>
              <a:rPr sz="750">
                <a:solidFill>
                  <a:srgbClr val="0F172A"/>
                </a:solidFill>
                <a:latin typeface="Arial"/>
              </a:rPr>
              <a:t>Aggregation of pelagic marine species along thermal gradients, SST frontal boundaries, and chlorophyll-a density concentration zones.</a:t>
            </a:r>
          </a:p>
          <a:p>
            <a:r>
              <a:rPr b="1" sz="750">
                <a:solidFill>
                  <a:srgbClr val="10B981"/>
                </a:solidFill>
                <a:latin typeface="Arial"/>
              </a:rPr>
              <a:t>ORCA Implementation: </a:t>
            </a:r>
            <a:r>
              <a:rPr sz="750">
                <a:solidFill>
                  <a:srgbClr val="334155"/>
                </a:solidFill>
                <a:latin typeface="Arial"/>
              </a:rPr>
              <a:t>Multi-Species Habitat Index (HSI): XGBoost model integrated with 2D Sobel spatial filter for high-precision fishery zone recommendations.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199631" y="3419856"/>
            <a:ext cx="54406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900">
                <a:solidFill>
                  <a:srgbClr val="0A2540"/>
                </a:solidFill>
                <a:latin typeface="Arial"/>
              </a:defRPr>
            </a:pPr>
            <a:r>
              <a:t>📚 Dynamic Constrained Pathfinding &amp; Graph Optimization</a:t>
            </a:r>
          </a:p>
          <a:p>
            <a:pPr>
              <a:spcAft>
                <a:spcPts val="200"/>
              </a:spcAft>
              <a:defRPr i="1" sz="700">
                <a:solidFill>
                  <a:srgbClr val="64748B"/>
                </a:solidFill>
                <a:latin typeface="Arial"/>
              </a:defRPr>
            </a:pPr>
            <a:r>
              <a:t>Source: Modified A* over Time-Varying Navigational Cost Surfaces</a:t>
            </a:r>
          </a:p>
          <a:p>
            <a:pPr>
              <a:spcAft>
                <a:spcPts val="200"/>
              </a:spcAft>
            </a:pPr>
            <a:r>
              <a:rPr b="1" sz="750">
                <a:solidFill>
                  <a:srgbClr val="D97706"/>
                </a:solidFill>
                <a:latin typeface="Arial"/>
              </a:rPr>
              <a:t>Key Insight: </a:t>
            </a:r>
            <a:r>
              <a:rPr sz="750">
                <a:solidFill>
                  <a:srgbClr val="0F172A"/>
                </a:solidFill>
                <a:latin typeface="Arial"/>
              </a:rPr>
              <a:t>Optimization of multiobjective vessel routes under dynamic weather constraints, geofenced boundaries, and risk cost penalization.</a:t>
            </a:r>
          </a:p>
          <a:p>
            <a:r>
              <a:rPr b="1" sz="750">
                <a:solidFill>
                  <a:srgbClr val="10B981"/>
                </a:solidFill>
                <a:latin typeface="Arial"/>
              </a:rPr>
              <a:t>ORCA Implementation: </a:t>
            </a:r>
            <a:r>
              <a:rPr sz="750">
                <a:solidFill>
                  <a:srgbClr val="334155"/>
                </a:solidFill>
                <a:latin typeface="Arial"/>
              </a:rPr>
              <a:t>ORCA Navigational Pathfinder: Computes 4-point optimized waypoints balancing weather safety, fuel consumption, and dock proximity.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548640" y="5687568"/>
            <a:ext cx="1109167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defRPr b="1" sz="800">
                <a:solidFill>
                  <a:srgbClr val="0A2540"/>
                </a:solidFill>
                <a:latin typeface="Arial"/>
              </a:defRPr>
            </a:pPr>
            <a:r>
              <a:t>AUTHENTIC OPERATIONAL &amp; SCIENTIFIC REFERENCES</a:t>
            </a:r>
          </a:p>
          <a:p>
            <a:pPr>
              <a:defRPr sz="700">
                <a:solidFill>
                  <a:srgbClr val="334155"/>
                </a:solidFill>
                <a:latin typeface="Arial"/>
              </a:defRPr>
            </a:pPr>
            <a:r>
              <a:t>[1] IMO Intact Stability Code (2008). Res. MSC.267(85). | [2] INCOIS Ocean State Forecast &amp; PFZ Protocols. | [3] ISRO MOSDAC Oceansat-3 &amp; INSAT-3DR Products. | [4] Copernicus Marine CMEMS Analysis. | [5] WMO-No. 558 Marine Services.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