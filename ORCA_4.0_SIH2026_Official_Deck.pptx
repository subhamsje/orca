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t>TITLE PAGE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0D47A1"/>
                </a:solidFill>
              </a:rPr>
              <a:t>Problem Statement ID:</a:t>
            </a:r>
            <a:r>
              <a:rPr b="0" sz="1300">
                <a:solidFill>
                  <a:srgbClr val="0F172A"/>
                </a:solidFill>
              </a:rPr>
              <a:t> SIH26176</a:t>
            </a:r>
            <a:endParaRPr lang="en-US" dirty="0"/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D47A1"/>
                </a:solidFill>
              </a:rPr>
              <a:t>Problem Statement Title:</a:t>
            </a:r>
            <a:r>
              <a:rPr b="0" sz="1300">
                <a:solidFill>
                  <a:srgbClr val="0F172A"/>
                </a:solidFill>
              </a:rPr>
              <a:t> AI-Assisted Maritime Decision Intelligence &amp; Bio-Physical Safety Platform for Artisanal Fishermen &amp; Coastal Fleets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D47A1"/>
                </a:solidFill>
              </a:rPr>
              <a:t>Theme:</a:t>
            </a:r>
            <a:r>
              <a:rPr b="0" sz="1300">
                <a:solidFill>
                  <a:srgbClr val="0F172A"/>
                </a:solidFill>
              </a:rPr>
              <a:t> Space Technology / Blue Economy / Disaster Management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D47A1"/>
                </a:solidFill>
              </a:rPr>
              <a:t>PS Category:</a:t>
            </a:r>
            <a:r>
              <a:rPr b="0" sz="1300">
                <a:solidFill>
                  <a:srgbClr val="0F172A"/>
                </a:solidFill>
              </a:rPr>
              <a:t> Software (with Edge Hardware compatibility)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D47A1"/>
                </a:solidFill>
              </a:rPr>
              <a:t>Team ID:</a:t>
            </a:r>
            <a:r>
              <a:rPr b="0" sz="1300">
                <a:solidFill>
                  <a:srgbClr val="0F172A"/>
                </a:solidFill>
              </a:rPr>
              <a:t> [Team ID]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D47A1"/>
                </a:solidFill>
              </a:rPr>
              <a:t>Team Name:</a:t>
            </a:r>
            <a:r>
              <a:rPr b="0" sz="1300">
                <a:solidFill>
                  <a:srgbClr val="0F172A"/>
                </a:solidFill>
              </a:rPr>
              <a:t> ORCA 4.0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492240" y="1188720"/>
            <a:ext cx="5303520" cy="512064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1371600"/>
            <a:ext cx="493776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SMART INDIA HACKATHON 2026 · PROJECT SHOWCASE</a:t>
            </a:r>
          </a:p>
          <a:p>
            <a:pPr>
              <a:spcAft>
                <a:spcPts val="200"/>
              </a:spcAft>
              <a:defRPr sz="3800" b="1">
                <a:solidFill>
                  <a:srgbClr val="FFFFFF"/>
                </a:solidFill>
              </a:defRPr>
            </a:pPr>
            <a:r>
              <a:t>ORCA 4.0</a:t>
            </a:r>
          </a:p>
          <a:p>
            <a:pPr>
              <a:spcAft>
                <a:spcPts val="1000"/>
              </a:spcAft>
              <a:defRPr sz="1500" b="1">
                <a:solidFill>
                  <a:srgbClr val="06B6D4"/>
                </a:solidFill>
              </a:defRPr>
            </a:pPr>
            <a:r>
              <a:t>“FROM OCEAN DATA TO SAFER DECISIONS”</a:t>
            </a:r>
          </a:p>
          <a:p>
            <a:pPr>
              <a:spcAft>
                <a:spcPts val="1400"/>
              </a:spcAft>
              <a:defRPr sz="1100">
                <a:solidFill>
                  <a:srgbClr val="CBD5E1"/>
                </a:solidFill>
              </a:defRPr>
            </a:pPr>
            <a:r>
              <a:t>AI-Assisted Maritime Decision Intelligence &amp; Bio-Physical Safety Platform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ORCA CENTRAL DECISION CHAIN:</a:t>
            </a:r>
          </a:p>
          <a:p>
            <a:pPr>
              <a:spcAft>
                <a:spcPts val="1400"/>
              </a:spcAft>
              <a:defRPr sz="950" b="1">
                <a:solidFill>
                  <a:srgbClr val="FFFFFF"/>
                </a:solidFill>
              </a:defRPr>
            </a:pPr>
            <a:r>
              <a:t>OCEAN ➔ WEATHER ➔ VESSEL ➔ ROUTE ➔ ORCA ➔ RISK ➔ DECISION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6B6D4"/>
                </a:solidFill>
              </a:rPr>
              <a:t>🛡️ Deterministic Safety Shield: </a:t>
            </a:r>
            <a:r>
              <a:rPr sz="900">
                <a:solidFill>
                  <a:srgbClr val="CBD5E1"/>
                </a:solidFill>
              </a:rPr>
              <a:t>Hard physics circuit breaker (Hcrit = 0.6·L) with zero hallucination risk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6B6D4"/>
                </a:solidFill>
              </a:rPr>
              <a:t>🚢 Parametric Vessel Twin: </a:t>
            </a:r>
            <a:r>
              <a:rPr sz="900">
                <a:solidFill>
                  <a:srgbClr val="CBD5E1"/>
                </a:solidFill>
              </a:rPr>
              <a:t>Dynamic wave-vessel encounter dynamics tailored to hull length &amp; draft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6B6D4"/>
                </a:solidFill>
              </a:rPr>
              <a:t>📻 Multi-Hop LoRa Fleet Mesh: </a:t>
            </a:r>
            <a:r>
              <a:rPr sz="900">
                <a:solidFill>
                  <a:srgbClr val="CBD5E1"/>
                </a:solidFill>
              </a:rPr>
              <a:t>Overcomes 12 NM 4G blackout for zero-cost offshore telemetry up to 50 km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IDEA TITLE: ORCA 4.0 — Maritime Decision Intelligence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ORCA 4.0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457200" y="1051560"/>
            <a:ext cx="2743200" cy="29260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291840" y="1051560"/>
            <a:ext cx="2743200" cy="292608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DETAILED EXPLANATION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126480" y="1051560"/>
            <a:ext cx="2743200" cy="292608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HOW IT ADDRESSES PROBLEM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8961120" y="1051560"/>
            <a:ext cx="274320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INNOVATION &amp; UNIQUENESS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457200" y="1417320"/>
            <a:ext cx="11274552" cy="50292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548640" y="1444752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1100">
                <a:solidFill>
                  <a:srgbClr val="F59E0B"/>
                </a:solidFill>
              </a:rPr>
              <a:t>CORE PARADIGM SHIFT:  FORECAST ≠ OPERATIONAL RISK.  </a:t>
            </a:r>
            <a:r>
              <a:rPr sz="1050">
                <a:solidFill>
                  <a:srgbClr val="FFFFFF"/>
                </a:solidFill>
              </a:rPr>
              <a:t>Existing systems ask 'What is happening at sea?'. ORCA computes 'What does it mean for THIS vessel, on THIS route, at THIS time?'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57200" y="2011680"/>
            <a:ext cx="6858000" cy="3657600"/>
          </a:xfrm>
          <a:prstGeom prst="roundRect">
            <a:avLst/>
          </a:prstGeom>
          <a:solidFill>
            <a:srgbClr val="0F224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TextBox 15369"/>
          <p:cNvSpPr txBox="1"/>
          <p:nvPr/>
        </p:nvSpPr>
        <p:spPr>
          <a:xfrm>
            <a:off x="548640" y="2057400"/>
            <a:ext cx="6675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VISUAL TRANSFORMATION: FROM FRAGMENTED DATA CHAOS TO OPERATIONAL DECISION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640080" y="2423160"/>
            <a:ext cx="1737360" cy="64008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685800" y="2441448"/>
            <a:ext cx="16459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950">
                <a:solidFill>
                  <a:srgbClr val="06B6D4"/>
                </a:solidFill>
              </a:defRPr>
            </a:pPr>
            <a:r>
              <a:t>🌊 WAVES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Hs, Swell Tp, Period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640080" y="3154680"/>
            <a:ext cx="1737360" cy="64008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TextBox 15373"/>
          <p:cNvSpPr txBox="1"/>
          <p:nvPr/>
        </p:nvSpPr>
        <p:spPr>
          <a:xfrm>
            <a:off x="685800" y="3172968"/>
            <a:ext cx="16459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950">
                <a:solidFill>
                  <a:srgbClr val="06B6D4"/>
                </a:solidFill>
              </a:defRPr>
            </a:pPr>
            <a:r>
              <a:t>💨 WIND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Speed, Gusts, Direction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640080" y="3886200"/>
            <a:ext cx="1737360" cy="64008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TextBox 15375"/>
          <p:cNvSpPr txBox="1"/>
          <p:nvPr/>
        </p:nvSpPr>
        <p:spPr>
          <a:xfrm>
            <a:off x="685800" y="3904487"/>
            <a:ext cx="16459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950">
                <a:solidFill>
                  <a:srgbClr val="06B6D4"/>
                </a:solidFill>
              </a:defRPr>
            </a:pPr>
            <a:r>
              <a:t>🌀 CYCLONES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IMD Track &amp; Warnings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640080" y="4617720"/>
            <a:ext cx="1737360" cy="64008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TextBox 15377"/>
          <p:cNvSpPr txBox="1"/>
          <p:nvPr/>
        </p:nvSpPr>
        <p:spPr>
          <a:xfrm>
            <a:off x="685800" y="4636008"/>
            <a:ext cx="16459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950">
                <a:solidFill>
                  <a:srgbClr val="06B6D4"/>
                </a:solidFill>
              </a:defRPr>
            </a:pPr>
            <a:r>
              <a:t>🌊 CURRENTS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Surface Vectors (u,v)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2468880" y="2423160"/>
            <a:ext cx="1737360" cy="64008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TextBox 15379"/>
          <p:cNvSpPr txBox="1"/>
          <p:nvPr/>
        </p:nvSpPr>
        <p:spPr>
          <a:xfrm>
            <a:off x="2514600" y="2441448"/>
            <a:ext cx="16459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950">
                <a:solidFill>
                  <a:srgbClr val="06B6D4"/>
                </a:solidFill>
              </a:defRPr>
            </a:pPr>
            <a:r>
              <a:t>🛰️ SATELLITES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SST &amp; Chlorophyll-a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2468880" y="3154680"/>
            <a:ext cx="1737360" cy="64008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2" name="TextBox 15381"/>
          <p:cNvSpPr txBox="1"/>
          <p:nvPr/>
        </p:nvSpPr>
        <p:spPr>
          <a:xfrm>
            <a:off x="2514600" y="3172968"/>
            <a:ext cx="16459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950">
                <a:solidFill>
                  <a:srgbClr val="06B6D4"/>
                </a:solidFill>
              </a:defRPr>
            </a:pPr>
            <a:r>
              <a:t>🚢 VESSEL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Hull Length, Draft, Beam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2468880" y="3886200"/>
            <a:ext cx="1737360" cy="64008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4" name="TextBox 15383"/>
          <p:cNvSpPr txBox="1"/>
          <p:nvPr/>
        </p:nvSpPr>
        <p:spPr>
          <a:xfrm>
            <a:off x="2514600" y="3904487"/>
            <a:ext cx="16459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950">
                <a:solidFill>
                  <a:srgbClr val="06B6D4"/>
                </a:solidFill>
              </a:defRPr>
            </a:pPr>
            <a:r>
              <a:t>📡 AIS FEEDS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Fleet MMSI Coordinates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2468880" y="4617720"/>
            <a:ext cx="1737360" cy="64008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6" name="TextBox 15385"/>
          <p:cNvSpPr txBox="1"/>
          <p:nvPr/>
        </p:nvSpPr>
        <p:spPr>
          <a:xfrm>
            <a:off x="2514600" y="4636008"/>
            <a:ext cx="16459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950">
                <a:solidFill>
                  <a:srgbClr val="06B6D4"/>
                </a:solidFill>
              </a:defRPr>
            </a:pPr>
            <a:r>
              <a:t>🗺️ ROUTE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Waypoints &amp; Port Docks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4389120" y="2423160"/>
            <a:ext cx="2651760" cy="1371600"/>
          </a:xfrm>
          <a:prstGeom prst="roundRect">
            <a:avLst/>
          </a:prstGeom>
          <a:solidFill>
            <a:srgbClr val="0284C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TextBox 15387"/>
          <p:cNvSpPr txBox="1"/>
          <p:nvPr/>
        </p:nvSpPr>
        <p:spPr>
          <a:xfrm>
            <a:off x="4434840" y="2468880"/>
            <a:ext cx="25603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⚡ ORCA 4.0 ENGINE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Spatial &amp; Temporal Grid Fusion</a:t>
            </a:r>
            <a:br/>
            <a:r>
              <a:t>• Parametric Vessel Digital Twin</a:t>
            </a:r>
            <a:br/>
            <a:r>
              <a:t>• Multi-Species Habitat Index</a:t>
            </a:r>
          </a:p>
        </p:txBody>
      </p:sp>
      <p:sp>
        <p:nvSpPr>
          <p:cNvPr id="15389" name="Rounded Rectangle 15388"/>
          <p:cNvSpPr/>
          <p:nvPr/>
        </p:nvSpPr>
        <p:spPr>
          <a:xfrm>
            <a:off x="4389120" y="3931920"/>
            <a:ext cx="2651760" cy="50292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0" name="TextBox 15389"/>
          <p:cNvSpPr txBox="1"/>
          <p:nvPr/>
        </p:nvSpPr>
        <p:spPr>
          <a:xfrm>
            <a:off x="4434840" y="3950208"/>
            <a:ext cx="2560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850">
                <a:solidFill>
                  <a:srgbClr val="10B981"/>
                </a:solidFill>
              </a:rPr>
              <a:t>🛡️ DETERMINISTIC RISK: </a:t>
            </a:r>
            <a:r>
              <a:rPr sz="800">
                <a:solidFill>
                  <a:srgbClr val="CBD5E1"/>
                </a:solidFill>
              </a:rPr>
              <a:t>Hcrit capsizing check (&lt;10ms)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4389120" y="4498848"/>
            <a:ext cx="2651760" cy="50292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2" name="TextBox 15391"/>
          <p:cNvSpPr txBox="1"/>
          <p:nvPr/>
        </p:nvSpPr>
        <p:spPr>
          <a:xfrm>
            <a:off x="4434840" y="4517136"/>
            <a:ext cx="2560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850">
                <a:solidFill>
                  <a:srgbClr val="06B6D4"/>
                </a:solidFill>
              </a:rPr>
              <a:t>🗺️ ROUTE RISK FIELD: </a:t>
            </a:r>
            <a:r>
              <a:rPr sz="800">
                <a:solidFill>
                  <a:srgbClr val="CBD5E1"/>
                </a:solidFill>
              </a:rPr>
              <a:t>Dynamic 2D risk surface A*</a:t>
            </a:r>
          </a:p>
        </p:txBody>
      </p:sp>
      <p:sp>
        <p:nvSpPr>
          <p:cNvPr id="15393" name="Rounded Rectangle 15392"/>
          <p:cNvSpPr/>
          <p:nvPr/>
        </p:nvSpPr>
        <p:spPr>
          <a:xfrm>
            <a:off x="4389120" y="5065776"/>
            <a:ext cx="2651760" cy="50292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4" name="TextBox 15393"/>
          <p:cNvSpPr txBox="1"/>
          <p:nvPr/>
        </p:nvSpPr>
        <p:spPr>
          <a:xfrm>
            <a:off x="4434840" y="5084064"/>
            <a:ext cx="2560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850">
                <a:solidFill>
                  <a:srgbClr val="F59E0B"/>
                </a:solidFill>
              </a:rPr>
              <a:t>📢 ACTIONABLE VERDICT: </a:t>
            </a:r>
            <a:r>
              <a:rPr sz="800">
                <a:solidFill>
                  <a:srgbClr val="CBD5E1"/>
                </a:solidFill>
              </a:rPr>
              <a:t>Clear Go/No-Go + Audio Voice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7452360" y="2011680"/>
            <a:ext cx="4279392" cy="36576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6" name="TextBox 15395"/>
          <p:cNvSpPr txBox="1"/>
          <p:nvPr/>
        </p:nvSpPr>
        <p:spPr>
          <a:xfrm>
            <a:off x="7543800" y="2057400"/>
            <a:ext cx="4096512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0D47A1"/>
                </a:solidFill>
              </a:defRPr>
            </a:pPr>
            <a:r>
              <a:t>COMPETITIVE DIFFERENTIATION MATRIX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0D47A1"/>
                </a:solidFill>
              </a:rPr>
              <a:t>Capability          : </a:t>
            </a:r>
            <a:r>
              <a:rPr sz="800">
                <a:solidFill>
                  <a:srgbClr val="64748B"/>
                </a:solidFill>
              </a:rPr>
              <a:t>Existing Systems ➔ </a:t>
            </a:r>
            <a:r>
              <a:rPr b="1" sz="850">
                <a:solidFill>
                  <a:srgbClr val="0F172A"/>
                </a:solidFill>
              </a:rPr>
              <a:t>ORCA 4.0</a:t>
            </a:r>
          </a:p>
          <a:p>
            <a:pPr>
              <a:spcAft>
                <a:spcPts val="200"/>
              </a:spcAft>
            </a:pPr>
            <a:r>
              <a:rPr b="0" sz="850">
                <a:solidFill>
                  <a:srgbClr val="0F172A"/>
                </a:solidFill>
              </a:rPr>
              <a:t>Weather Forecast    : </a:t>
            </a:r>
            <a:r>
              <a:rPr sz="800">
                <a:solidFill>
                  <a:srgbClr val="64748B"/>
                </a:solidFill>
              </a:rPr>
              <a:t>✅ Regional Only ➔ </a:t>
            </a:r>
            <a:r>
              <a:rPr b="1" sz="850">
                <a:solidFill>
                  <a:srgbClr val="10B981"/>
                </a:solidFill>
              </a:rPr>
              <a:t>✅ High-Res (0.083°)</a:t>
            </a:r>
          </a:p>
          <a:p>
            <a:pPr>
              <a:spcAft>
                <a:spcPts val="200"/>
              </a:spcAft>
            </a:pPr>
            <a:r>
              <a:rPr b="0" sz="850">
                <a:solidFill>
                  <a:srgbClr val="0F172A"/>
                </a:solidFill>
              </a:rPr>
              <a:t>Cyclone Warnings    : </a:t>
            </a:r>
            <a:r>
              <a:rPr sz="800">
                <a:solidFill>
                  <a:srgbClr val="64748B"/>
                </a:solidFill>
              </a:rPr>
              <a:t>✅ Generic SMS ➔ </a:t>
            </a:r>
            <a:r>
              <a:rPr b="1" sz="850">
                <a:solidFill>
                  <a:srgbClr val="10B981"/>
                </a:solidFill>
              </a:rPr>
              <a:t>✅ Dynamic Geofenced</a:t>
            </a:r>
          </a:p>
          <a:p>
            <a:pPr>
              <a:spcAft>
                <a:spcPts val="200"/>
              </a:spcAft>
            </a:pPr>
            <a:r>
              <a:rPr b="0" sz="850">
                <a:solidFill>
                  <a:srgbClr val="0F172A"/>
                </a:solidFill>
              </a:rPr>
              <a:t>Vessel Hull Context : </a:t>
            </a:r>
            <a:r>
              <a:rPr sz="800">
                <a:solidFill>
                  <a:srgbClr val="EF4444"/>
                </a:solidFill>
              </a:rPr>
              <a:t>❌ Ignored ➔ </a:t>
            </a:r>
            <a:r>
              <a:rPr b="1" sz="850">
                <a:solidFill>
                  <a:srgbClr val="10B981"/>
                </a:solidFill>
              </a:rPr>
              <a:t>✅ Vessel Twin (Lwl, Draft)</a:t>
            </a:r>
          </a:p>
          <a:p>
            <a:pPr>
              <a:spcAft>
                <a:spcPts val="200"/>
              </a:spcAft>
            </a:pPr>
            <a:r>
              <a:rPr b="0" sz="850">
                <a:solidFill>
                  <a:srgbClr val="0F172A"/>
                </a:solidFill>
              </a:rPr>
              <a:t>Wave Physics Math   : </a:t>
            </a:r>
            <a:r>
              <a:rPr sz="800">
                <a:solidFill>
                  <a:srgbClr val="EF4444"/>
                </a:solidFill>
              </a:rPr>
              <a:t>❌ None ➔ </a:t>
            </a:r>
            <a:r>
              <a:rPr b="1" sz="850">
                <a:solidFill>
                  <a:srgbClr val="10B981"/>
                </a:solidFill>
              </a:rPr>
              <a:t>✅ Hcrit &amp; Resonance Math</a:t>
            </a:r>
          </a:p>
          <a:p>
            <a:pPr>
              <a:spcAft>
                <a:spcPts val="200"/>
              </a:spcAft>
            </a:pPr>
            <a:r>
              <a:rPr b="0" sz="850">
                <a:solidFill>
                  <a:srgbClr val="0F172A"/>
                </a:solidFill>
              </a:rPr>
              <a:t>Safe Route Pathfinder: </a:t>
            </a:r>
            <a:r>
              <a:rPr sz="800">
                <a:solidFill>
                  <a:srgbClr val="EF4444"/>
                </a:solidFill>
              </a:rPr>
              <a:t>❌ Static Path ➔ </a:t>
            </a:r>
            <a:r>
              <a:rPr b="1" sz="850">
                <a:solidFill>
                  <a:srgbClr val="10B981"/>
                </a:solidFill>
              </a:rPr>
              <a:t>✅ Dynamic A* Avoidance</a:t>
            </a:r>
          </a:p>
          <a:p>
            <a:pPr>
              <a:spcAft>
                <a:spcPts val="200"/>
              </a:spcAft>
            </a:pPr>
            <a:r>
              <a:rPr b="0" sz="850">
                <a:solidFill>
                  <a:srgbClr val="0F172A"/>
                </a:solidFill>
              </a:rPr>
              <a:t>Deterministic Safety: </a:t>
            </a:r>
            <a:r>
              <a:rPr sz="800">
                <a:solidFill>
                  <a:srgbClr val="EF4444"/>
                </a:solidFill>
              </a:rPr>
              <a:t>❌ Unverified ➔ </a:t>
            </a:r>
            <a:r>
              <a:rPr b="1" sz="850">
                <a:solidFill>
                  <a:srgbClr val="10B981"/>
                </a:solidFill>
              </a:rPr>
              <a:t>✅ Non-bypassable Rule</a:t>
            </a:r>
          </a:p>
          <a:p>
            <a:pPr>
              <a:spcAft>
                <a:spcPts val="200"/>
              </a:spcAft>
            </a:pPr>
            <a:r>
              <a:rPr b="0" sz="850">
                <a:solidFill>
                  <a:srgbClr val="0F172A"/>
                </a:solidFill>
              </a:rPr>
              <a:t>Offshore Reach      : </a:t>
            </a:r>
            <a:r>
              <a:rPr sz="800">
                <a:solidFill>
                  <a:srgbClr val="EF4444"/>
                </a:solidFill>
              </a:rPr>
              <a:t>❌ Dead &gt;12 NM ➔ </a:t>
            </a:r>
            <a:r>
              <a:rPr b="1" sz="850">
                <a:solidFill>
                  <a:srgbClr val="10B981"/>
                </a:solidFill>
              </a:rPr>
              <a:t>✅ LoRa Mesh (50 km)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457200" y="5760720"/>
            <a:ext cx="11274552" cy="50292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8" name="TextBox 15397"/>
          <p:cNvSpPr txBox="1"/>
          <p:nvPr/>
        </p:nvSpPr>
        <p:spPr>
          <a:xfrm>
            <a:off x="548640" y="5779008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 sz="1100">
                <a:solidFill>
                  <a:srgbClr val="06B6D4"/>
                </a:solidFill>
              </a:rPr>
              <a:t>① MULTI-SOURCE</a:t>
            </a:r>
            <a:r>
              <a:rPr b="1" sz="1100">
                <a:solidFill>
                  <a:srgbClr val="64748B"/>
                </a:solidFill>
              </a:rPr>
              <a:t> ➔ </a:t>
            </a:r>
            <a:r>
              <a:rPr b="1" sz="1100">
                <a:solidFill>
                  <a:srgbClr val="06B6D4"/>
                </a:solidFill>
              </a:rPr>
              <a:t>② VESSEL-AWARE TWIN</a:t>
            </a:r>
            <a:r>
              <a:rPr b="1" sz="1100">
                <a:solidFill>
                  <a:srgbClr val="64748B"/>
                </a:solidFill>
              </a:rPr>
              <a:t> ➔ </a:t>
            </a:r>
            <a:r>
              <a:rPr b="1" sz="1100">
                <a:solidFill>
                  <a:srgbClr val="06B6D4"/>
                </a:solidFill>
              </a:rPr>
              <a:t>③ ROUTE RISK FIELD</a:t>
            </a:r>
            <a:r>
              <a:rPr b="1" sz="1100">
                <a:solidFill>
                  <a:srgbClr val="64748B"/>
                </a:solidFill>
              </a:rPr>
              <a:t> ➔ </a:t>
            </a:r>
            <a:r>
              <a:rPr b="1" sz="1100">
                <a:solidFill>
                  <a:srgbClr val="10B981"/>
                </a:solidFill>
              </a:rPr>
              <a:t>④ EXPLAINABLE VERDICT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APPROACH: End-to-End Pipeline &amp;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ORCA 4.0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57200" y="1051560"/>
            <a:ext cx="2743200" cy="29260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TECHNOLOGIES TO BE USED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91840" y="1051560"/>
            <a:ext cx="2743200" cy="292608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METHODOLOGY &amp; PROCESS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26480" y="1051560"/>
            <a:ext cx="2743200" cy="292608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FLOWCHARTS / SYSTEM PIPELINE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961120" y="1051560"/>
            <a:ext cx="274320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WORKING PROTOTYPE SIMULATION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57200" y="1417320"/>
            <a:ext cx="11274552" cy="301752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594360" y="1508760"/>
            <a:ext cx="1737360" cy="594360"/>
          </a:xfrm>
          <a:prstGeom prst="roundRect">
            <a:avLst/>
          </a:prstGeom>
          <a:solidFill>
            <a:srgbClr val="0F224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621792" y="1527048"/>
            <a:ext cx="168249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850">
                <a:solidFill>
                  <a:srgbClr val="06B6D4"/>
                </a:solidFill>
              </a:defRPr>
            </a:pPr>
            <a:r>
              <a:t>📡 INCOIS ERDDAP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Wave spectrum &amp; currents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2404872" y="1508760"/>
            <a:ext cx="1737360" cy="594360"/>
          </a:xfrm>
          <a:prstGeom prst="roundRect">
            <a:avLst/>
          </a:prstGeom>
          <a:solidFill>
            <a:srgbClr val="0F224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2432304" y="1527048"/>
            <a:ext cx="168249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850">
                <a:solidFill>
                  <a:srgbClr val="06B6D4"/>
                </a:solidFill>
              </a:defRPr>
            </a:pPr>
            <a:r>
              <a:t>📡 IMD Alerts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Real-time cyclone tracks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215384" y="1508760"/>
            <a:ext cx="1737360" cy="594360"/>
          </a:xfrm>
          <a:prstGeom prst="roundRect">
            <a:avLst/>
          </a:prstGeom>
          <a:solidFill>
            <a:srgbClr val="0F224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4242816" y="1527048"/>
            <a:ext cx="168249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850">
                <a:solidFill>
                  <a:srgbClr val="06B6D4"/>
                </a:solidFill>
              </a:defRPr>
            </a:pPr>
            <a:r>
              <a:t>📡 Copernicus Marine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0.083° global ocean grids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025896" y="1508760"/>
            <a:ext cx="1737360" cy="594360"/>
          </a:xfrm>
          <a:prstGeom prst="roundRect">
            <a:avLst/>
          </a:prstGeom>
          <a:solidFill>
            <a:srgbClr val="0F224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6053327" y="1527048"/>
            <a:ext cx="168249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850">
                <a:solidFill>
                  <a:srgbClr val="06B6D4"/>
                </a:solidFill>
              </a:defRPr>
            </a:pPr>
            <a:r>
              <a:t>📡 ISRO MOSDAC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INSAT-3DR SST &amp; Oceansat-3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7836408" y="1508760"/>
            <a:ext cx="1737360" cy="594360"/>
          </a:xfrm>
          <a:prstGeom prst="roundRect">
            <a:avLst/>
          </a:prstGeom>
          <a:solidFill>
            <a:srgbClr val="0F224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7863840" y="1527048"/>
            <a:ext cx="168249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850">
                <a:solidFill>
                  <a:srgbClr val="06B6D4"/>
                </a:solidFill>
              </a:defRPr>
            </a:pPr>
            <a:r>
              <a:t>📡 AIS Streams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Vessel transponder positions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9646920" y="1508760"/>
            <a:ext cx="1737360" cy="594360"/>
          </a:xfrm>
          <a:prstGeom prst="roundRect">
            <a:avLst/>
          </a:prstGeom>
          <a:solidFill>
            <a:srgbClr val="0F224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9674352" y="1527048"/>
            <a:ext cx="168249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850">
                <a:solidFill>
                  <a:srgbClr val="06B6D4"/>
                </a:solidFill>
              </a:defRPr>
            </a:pPr>
            <a:r>
              <a:t>📡 NMEA Sensors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Onboard GPS / IMU / Pitch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94360" y="2194560"/>
            <a:ext cx="10972800" cy="438912"/>
          </a:xfrm>
          <a:prstGeom prst="roundRect">
            <a:avLst/>
          </a:prstGeom>
          <a:solidFill>
            <a:srgbClr val="0284C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640080" y="2212848"/>
            <a:ext cx="1088136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b="1" sz="950">
                <a:solidFill>
                  <a:srgbClr val="FFFFFF"/>
                </a:solidFill>
              </a:defRPr>
            </a:pPr>
            <a:r>
              <a:t>⚡ DATA ENGINE &amp; DUAL DIGITAL STATE:  Spatial Indexing (0.083° / H3)  +  Environmental State  ⟷  Parametric Vessel Digital Twin (Lwl, Draft, Beam)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594360" y="2724912"/>
            <a:ext cx="3566160" cy="1005840"/>
          </a:xfrm>
          <a:prstGeom prst="roundRect">
            <a:avLst/>
          </a:prstGeom>
          <a:solidFill>
            <a:srgbClr val="0F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685800" y="2761488"/>
            <a:ext cx="33832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950">
                <a:solidFill>
                  <a:srgbClr val="10B981"/>
                </a:solidFill>
              </a:defRPr>
            </a:pPr>
            <a:r>
              <a:t>⚙️ DETERMINISTIC PHYSICS (&lt;10ms)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Critical Wave Height (Hcrit = 0.6 · Lhull)</a:t>
            </a:r>
            <a:br/>
            <a:r>
              <a:t>• Wave Steepness (S = Hs / λ) &amp; Period</a:t>
            </a:r>
            <a:br/>
            <a:r>
              <a:t>• Beam-Sea Encounter Angle &amp; Roll Resonance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297680" y="2724912"/>
            <a:ext cx="3566160" cy="1005840"/>
          </a:xfrm>
          <a:prstGeom prst="roundRect">
            <a:avLst/>
          </a:prstGeom>
          <a:solidFill>
            <a:srgbClr val="0F224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4389120" y="2761488"/>
            <a:ext cx="33832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950">
                <a:solidFill>
                  <a:srgbClr val="06B6D4"/>
                </a:solidFill>
              </a:defRPr>
            </a:pPr>
            <a:r>
              <a:t>🧠 PREDICTIVE ML &amp; ANALYTICS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Multi-Species Habitat Index (HSI XGBoost)</a:t>
            </a:r>
            <a:br/>
            <a:r>
              <a:t>• 2D Sobel Filter SST Thermal Fronts</a:t>
            </a:r>
            <a:br/>
            <a:r>
              <a:t>• 1,000-Particle Monte Carlo SAR Drift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001000" y="2724912"/>
            <a:ext cx="3566160" cy="1005840"/>
          </a:xfrm>
          <a:prstGeom prst="roundRect">
            <a:avLst/>
          </a:prstGeom>
          <a:solidFill>
            <a:srgbClr val="0F224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8092440" y="2761488"/>
            <a:ext cx="33832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950">
                <a:solidFill>
                  <a:srgbClr val="F59E0B"/>
                </a:solidFill>
              </a:defRPr>
            </a:pPr>
            <a:r>
              <a:t>📍 DYNAMIC A* OPTIMIZATION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2D Dynamic Risk Cost Surface Mesh</a:t>
            </a:r>
            <a:br/>
            <a:r>
              <a:t>• A* Navigational Pathfinding &amp; Avoidance</a:t>
            </a:r>
            <a:br/>
            <a:r>
              <a:t>• Optimal Fuel Burn &amp; Dock Allocation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594360" y="3822191"/>
            <a:ext cx="10972800" cy="502920"/>
          </a:xfrm>
          <a:prstGeom prst="roundRect">
            <a:avLst/>
          </a:prstGeom>
          <a:solidFill>
            <a:srgbClr val="0F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640080" y="3840480"/>
            <a:ext cx="10881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b="1" sz="950">
                <a:solidFill>
                  <a:srgbClr val="10B981"/>
                </a:solidFill>
              </a:rPr>
              <a:t>🛡️ NON-BYPASSABLE SAFETY CIRCUIT BREAKER: </a:t>
            </a:r>
            <a:r>
              <a:rPr sz="850">
                <a:solidFill>
                  <a:srgbClr val="FFFFFF"/>
                </a:solidFill>
              </a:rPr>
              <a:t>Pure deterministic compiled logic evaluates physical capsizing risk. LLM is strictly constrained downstream for plain-language vernacular audio translation only.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57200" y="4526280"/>
            <a:ext cx="5303520" cy="17373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548640" y="4572000"/>
            <a:ext cx="512064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0D47A1"/>
                </a:solidFill>
              </a:defRPr>
            </a:pPr>
            <a:r>
              <a:t>LIVE WORKING PROTOTYPE FLOW (KANYAKUMARI CASE)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0D47A1"/>
                </a:solidFill>
              </a:rPr>
              <a:t>1. Input: </a:t>
            </a:r>
            <a:r>
              <a:rPr sz="800">
                <a:solidFill>
                  <a:srgbClr val="0F172A"/>
                </a:solidFill>
              </a:rPr>
              <a:t>Kanyakumari Port (8.08°N, 77.55°E), 9m FRP Craft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0D47A1"/>
                </a:solidFill>
              </a:rPr>
              <a:t>2. Live State: </a:t>
            </a:r>
            <a:r>
              <a:rPr sz="800">
                <a:solidFill>
                  <a:srgbClr val="0F172A"/>
                </a:solidFill>
              </a:rPr>
              <a:t>Wave Hs = 2.8m, Swell Tp = 8.2s, Wind = 24 kts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0D47A1"/>
                </a:solidFill>
              </a:rPr>
              <a:t>3. Physics Check: </a:t>
            </a:r>
            <a:r>
              <a:rPr sz="800">
                <a:solidFill>
                  <a:srgbClr val="0F172A"/>
                </a:solidFill>
              </a:rPr>
              <a:t>Hcrit = 5.4m &gt; 2.8m (Safe from Immediate Capsize)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0D47A1"/>
                </a:solidFill>
              </a:rPr>
              <a:t>4. Route Engine: </a:t>
            </a:r>
            <a:r>
              <a:rPr sz="800">
                <a:solidFill>
                  <a:srgbClr val="0F172A"/>
                </a:solidFill>
              </a:rPr>
              <a:t>Diverts 3.2 NM East to avoid shallow reef breaker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0D47A1"/>
                </a:solidFill>
              </a:rPr>
              <a:t>5. Output Verdict: </a:t>
            </a:r>
            <a:r>
              <a:rPr sz="800">
                <a:solidFill>
                  <a:srgbClr val="0F172A"/>
                </a:solidFill>
              </a:rPr>
              <a:t>PROCEED WITH CAUTION (Audio Advisory Generated)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5943600" y="4526280"/>
            <a:ext cx="5788152" cy="173736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6035040" y="4572000"/>
            <a:ext cx="557784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06B6D4"/>
                </a:solidFill>
              </a:defRPr>
            </a:pPr>
            <a:r>
              <a:t>PRODUCTION TECHNOLOGY STACK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6B6D4"/>
                </a:solidFill>
              </a:rPr>
              <a:t>• Frontend / UI: </a:t>
            </a:r>
            <a:r>
              <a:rPr sz="800">
                <a:solidFill>
                  <a:srgbClr val="CBD5E1"/>
                </a:solidFill>
              </a:rPr>
              <a:t>React 18, TypeScript, Vite, MapLibre GL, WebGL, TailwindCSS, Offline PWA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6B6D4"/>
                </a:solidFill>
              </a:rPr>
              <a:t>• Backend / API: </a:t>
            </a:r>
            <a:r>
              <a:rPr sz="800">
                <a:solidFill>
                  <a:srgbClr val="CBD5E1"/>
                </a:solidFill>
              </a:rPr>
              <a:t>FastAPI, Python 3.10+, Asynchronous DAG Orchestrator, SQLite/WAL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6B6D4"/>
                </a:solidFill>
              </a:rPr>
              <a:t>• Intelligence: </a:t>
            </a:r>
            <a:r>
              <a:rPr sz="800">
                <a:solidFill>
                  <a:srgbClr val="CBD5E1"/>
                </a:solidFill>
              </a:rPr>
              <a:t>NumPy, SciPy, XGBoost (HSI Matrix), Modified A* Graph Pathfinder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6B6D4"/>
                </a:solidFill>
              </a:rPr>
              <a:t>• IoT / Telecom: </a:t>
            </a:r>
            <a:r>
              <a:rPr sz="800">
                <a:solidFill>
                  <a:srgbClr val="CBD5E1"/>
                </a:solidFill>
              </a:rPr>
              <a:t>ESP32 LoRa Gateway (868/433 MHz), Multi-Hop Mesh (OLSR/BATMAN)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VIABILITY: Build, Mitigate &amp; Deploy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ORCA 4.0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57200" y="1051560"/>
            <a:ext cx="2743200" cy="29260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FEASIBILITY ANALYSIS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91840" y="1051560"/>
            <a:ext cx="274320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POTENTIAL RISKS &amp; CHALLENGES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26480" y="1051560"/>
            <a:ext cx="274320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STRATEGIES FOR OVERCOMING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961120" y="1051560"/>
            <a:ext cx="2743200" cy="292608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DEPLOYMENT &amp; COST VIABILITY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57200" y="1417320"/>
            <a:ext cx="2834640" cy="484632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548640" y="1508760"/>
            <a:ext cx="2651760" cy="4663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b="1" sz="1050">
                <a:solidFill>
                  <a:srgbClr val="06B6D4"/>
                </a:solidFill>
              </a:defRPr>
            </a:pPr>
            <a:r>
              <a:t>IMPLEMENTATION ROADMAP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10B981"/>
                </a:solidFill>
              </a:rPr>
              <a:t>✓ PROTOTYPE
</a:t>
            </a:r>
            <a:r>
              <a:rPr sz="800">
                <a:solidFill>
                  <a:srgbClr val="FFFFFF"/>
                </a:solidFill>
              </a:rPr>
              <a:t>End-to-End FastAPI &amp; React MapLibre working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10B981"/>
                </a:solidFill>
              </a:rPr>
              <a:t>✓ LIVE DATA
</a:t>
            </a:r>
            <a:r>
              <a:rPr sz="800">
                <a:solidFill>
                  <a:srgbClr val="FFFFFF"/>
                </a:solidFill>
              </a:rPr>
              <a:t>Open-Meteo, IMD, MOSDAC ingestion pipelines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10B981"/>
                </a:solidFill>
              </a:rPr>
              <a:t>✓ RISK ENGINE
</a:t>
            </a:r>
            <a:r>
              <a:rPr sz="800">
                <a:solidFill>
                  <a:srgbClr val="FFFFFF"/>
                </a:solidFill>
              </a:rPr>
              <a:t>Deterministic safety circuit breaker active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10B981"/>
                </a:solidFill>
              </a:rPr>
              <a:t>✓ ROUTE ENGINE
</a:t>
            </a:r>
            <a:r>
              <a:rPr sz="800">
                <a:solidFill>
                  <a:srgbClr val="FFFFFF"/>
                </a:solidFill>
              </a:rPr>
              <a:t>A* dynamic pathfinder &amp; multi-species HSI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F59E0B"/>
                </a:solidFill>
              </a:rPr>
              <a:t>◐ HARBOR PILOT
</a:t>
            </a:r>
            <a:r>
              <a:rPr sz="800">
                <a:solidFill>
                  <a:srgbClr val="FFFFFF"/>
                </a:solidFill>
              </a:rPr>
              <a:t>Field deployment in Kanyakumari &amp; Munambam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CBD5E1"/>
                </a:solidFill>
              </a:rPr>
              <a:t>◌ SCALE PHASE
</a:t>
            </a:r>
            <a:r>
              <a:rPr sz="800">
                <a:solidFill>
                  <a:srgbClr val="FFFFFF"/>
                </a:solidFill>
              </a:rPr>
              <a:t>Integration across 9 coastal states &amp; Satcom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429000" y="1417320"/>
            <a:ext cx="4754880" cy="48463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3520440" y="1508760"/>
            <a:ext cx="4572000" cy="4663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b="1" sz="1050">
                <a:solidFill>
                  <a:srgbClr val="0D47A1"/>
                </a:solidFill>
              </a:defRPr>
            </a:pPr>
            <a:r>
              <a:t>CRITICAL RISKS ➔ PROVEN MITIGATION STRATEGIES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EF4444"/>
                </a:solidFill>
              </a:rPr>
              <a:t>⚠️ Data Latency / Stale Feeds
</a:t>
            </a:r>
            <a:r>
              <a:rPr sz="800">
                <a:solidFill>
                  <a:srgbClr val="0F172A"/>
                </a:solidFill>
              </a:rPr>
              <a:t>  ➔ 🛡️ Automated TTL monitoring (&lt;30m) &amp; cached offline fallback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EF4444"/>
                </a:solidFill>
              </a:rPr>
              <a:t>⚠️ API Provider Outages
</a:t>
            </a:r>
            <a:r>
              <a:rPr sz="800">
                <a:solidFill>
                  <a:srgbClr val="0F172A"/>
                </a:solidFill>
              </a:rPr>
              <a:t>  ➔ 🛡️ Multi-source failover cascade (INCOIS ➔ Open-Meteo ➔ MOSDAC)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EF4444"/>
                </a:solidFill>
              </a:rPr>
              <a:t>⚠️ Source Disagreements
</a:t>
            </a:r>
            <a:r>
              <a:rPr sz="800">
                <a:solidFill>
                  <a:srgbClr val="0F172A"/>
                </a:solidFill>
              </a:rPr>
              <a:t>  ➔ 🛡️ Provenance-weighted ensemble &amp; explicit uncertainty bounds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EF4444"/>
                </a:solidFill>
              </a:rPr>
              <a:t>⚠️ Offshore Signal Blackout
</a:t>
            </a:r>
            <a:r>
              <a:rPr sz="800">
                <a:solidFill>
                  <a:srgbClr val="0F172A"/>
                </a:solidFill>
              </a:rPr>
              <a:t>  ➔ 🛡️ Multi-Hop LoRa Fleet Mesh (up to 50 km) + Offline PWA Caching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EF4444"/>
                </a:solidFill>
              </a:rPr>
              <a:t>⚠️ Vessel Hull Diversity
</a:t>
            </a:r>
            <a:r>
              <a:rPr sz="800">
                <a:solidFill>
                  <a:srgbClr val="0F172A"/>
                </a:solidFill>
              </a:rPr>
              <a:t>  ➔ 🛡️ Parametric Digital Twin model library (Catamaran, FRP, Trawler)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EF4444"/>
                </a:solidFill>
              </a:rPr>
              <a:t>⚠️ Model Hallucination
</a:t>
            </a:r>
            <a:r>
              <a:rPr sz="800">
                <a:solidFill>
                  <a:srgbClr val="0F172A"/>
                </a:solidFill>
              </a:rPr>
              <a:t>  ➔ 🛡️ 100% Deterministic Safety Rules (Zero AI in safety path)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321040" y="1417320"/>
            <a:ext cx="3410712" cy="237744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8412480" y="1508760"/>
            <a:ext cx="3227832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06B6D4"/>
                </a:solidFill>
              </a:defRPr>
            </a:pPr>
            <a:r>
              <a:t>DEPLOYMENT ARCHITECTURE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06B6D4"/>
                </a:solidFill>
              </a:rPr>
              <a:t>1. Vessel Edge: </a:t>
            </a:r>
            <a:r>
              <a:rPr sz="750">
                <a:solidFill>
                  <a:srgbClr val="CBD5E1"/>
                </a:solidFill>
              </a:rPr>
              <a:t>GPS / IMU + ESP32 LoRa Node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06B6D4"/>
                </a:solidFill>
              </a:rPr>
              <a:t>2. Fleet Relay: </a:t>
            </a:r>
            <a:r>
              <a:rPr sz="750">
                <a:solidFill>
                  <a:srgbClr val="CBD5E1"/>
                </a:solidFill>
              </a:rPr>
              <a:t>Multi-Hop Boat Mesh (3-8 km hops)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06B6D4"/>
                </a:solidFill>
              </a:rPr>
              <a:t>3. Coastal Mast: </a:t>
            </a:r>
            <a:r>
              <a:rPr sz="750">
                <a:solidFill>
                  <a:srgbClr val="CBD5E1"/>
                </a:solidFill>
              </a:rPr>
              <a:t>Lighthouse LoRa Gateway (60m mast)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06B6D4"/>
                </a:solidFill>
              </a:rPr>
              <a:t>4. Cloud Engine: </a:t>
            </a:r>
            <a:r>
              <a:rPr sz="750">
                <a:solidFill>
                  <a:srgbClr val="CBD5E1"/>
                </a:solidFill>
              </a:rPr>
              <a:t>FastAPI / SQLite / Orchestrator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06B6D4"/>
                </a:solidFill>
              </a:rPr>
              <a:t>5. User Tiers: </a:t>
            </a:r>
            <a:r>
              <a:rPr sz="750">
                <a:solidFill>
                  <a:srgbClr val="CBD5E1"/>
                </a:solidFill>
              </a:rPr>
              <a:t>Fisher PWA | Fleet Web | Coast Guard API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321040" y="3886200"/>
            <a:ext cx="3410712" cy="2377440"/>
          </a:xfrm>
          <a:prstGeom prst="roundRect">
            <a:avLst/>
          </a:prstGeom>
          <a:solidFill>
            <a:srgbClr val="0F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8412480" y="3977639"/>
            <a:ext cx="3227832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10B981"/>
                </a:solidFill>
              </a:defRPr>
            </a:pPr>
            <a:r>
              <a:t>DEPLOYMENT ECONOMICS &amp; BOM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FFFFF"/>
                </a:solidFill>
              </a:rPr>
              <a:t>• ESP32 MCU + LoRa SX1262: </a:t>
            </a:r>
            <a:r>
              <a:rPr b="1" sz="800">
                <a:solidFill>
                  <a:srgbClr val="06B6D4"/>
                </a:solidFill>
              </a:rPr>
              <a:t>₹1,800 (~$22)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FFFFF"/>
                </a:solidFill>
              </a:rPr>
              <a:t>• GPS NEO-6M Receiver: </a:t>
            </a:r>
            <a:r>
              <a:rPr b="1" sz="800">
                <a:solidFill>
                  <a:srgbClr val="06B6D4"/>
                </a:solidFill>
              </a:rPr>
              <a:t>₹600 (~$7)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FFFFF"/>
                </a:solidFill>
              </a:rPr>
              <a:t>• IP67 Enclosure + Solar Panel: </a:t>
            </a:r>
            <a:r>
              <a:rPr b="1" sz="800">
                <a:solidFill>
                  <a:srgbClr val="06B6D4"/>
                </a:solidFill>
              </a:rPr>
              <a:t>₹1,100 (~$13)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FFFFF"/>
                </a:solidFill>
              </a:rPr>
              <a:t>• Total Hardware Cost / Boat: </a:t>
            </a:r>
            <a:r>
              <a:rPr b="1" sz="800">
                <a:solidFill>
                  <a:srgbClr val="10B981"/>
                </a:solidFill>
              </a:rPr>
              <a:t>≈ ₹3,500 ($42)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FFFFFF"/>
                </a:solidFill>
              </a:rPr>
              <a:t>• Data &amp; Server API Cost: </a:t>
            </a:r>
            <a:r>
              <a:rPr b="1" sz="800">
                <a:solidFill>
                  <a:srgbClr val="10B981"/>
                </a:solidFill>
              </a:rPr>
              <a:t>₹0 (Open Feeds / Serverless)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BENEFITS: Empowering India's Blue Economy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ORCA 4.0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57200" y="1051560"/>
            <a:ext cx="2743200" cy="29260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TARGET AUDIENCE IMPACT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91840" y="1051560"/>
            <a:ext cx="274320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SOCIAL &amp; HUMAN BENEFITS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26480" y="1051560"/>
            <a:ext cx="274320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ECONOMIC &amp; OPERATIONAL ROI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961120" y="1051560"/>
            <a:ext cx="2743200" cy="292608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NATIONAL &amp; STRATEGIC SCALE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57200" y="1417320"/>
            <a:ext cx="5120640" cy="420624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548640" y="1508760"/>
            <a:ext cx="493776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06B6D4"/>
                </a:solidFill>
              </a:defRPr>
            </a:pPr>
            <a:r>
              <a:t>ORCA MULTI-STAKEHOLDER ECOSYSTEM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06B6D4"/>
                </a:solidFill>
              </a:rPr>
              <a:t>🎣 Artisanal Fishermen (4.5M)
</a:t>
            </a:r>
            <a:r>
              <a:rPr sz="800">
                <a:solidFill>
                  <a:srgbClr val="CBD5E1"/>
                </a:solidFill>
              </a:rPr>
              <a:t>  • Zero preventable capsizings, localized vernacular audio safety, precise PFZ fishing hotspots.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06B6D4"/>
                </a:solidFill>
              </a:rPr>
              <a:t>⚓ Harbors &amp; Port Authorities
</a:t>
            </a:r>
            <a:r>
              <a:rPr sz="800">
                <a:solidFill>
                  <a:srgbClr val="CBD5E1"/>
                </a:solidFill>
              </a:rPr>
              <a:t>  • Live harbor fleet tracking, automated departure safety clearance, congestion mitigation.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06B6D4"/>
                </a:solidFill>
              </a:rPr>
              <a:t>🚢 Commercial Fishing Fleets
</a:t>
            </a:r>
            <a:r>
              <a:rPr sz="800">
                <a:solidFill>
                  <a:srgbClr val="CBD5E1"/>
                </a:solidFill>
              </a:rPr>
              <a:t>  • Optimal fuel-saving route planning, dynamic weather avoidance, higher catch ROI.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06B6D4"/>
                </a:solidFill>
              </a:rPr>
              <a:t>🛡️ Coast Guard &amp; NDRF
</a:t>
            </a:r>
            <a:r>
              <a:rPr sz="800">
                <a:solidFill>
                  <a:srgbClr val="CBD5E1"/>
                </a:solidFill>
              </a:rPr>
              <a:t>  • Real-time Dark-Fleet anomaly alerts, 1,000-particle Monte Carlo SAR drift tracking.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06B6D4"/>
                </a:solidFill>
              </a:rPr>
              <a:t>🔬 Oceanographic Institutes
</a:t>
            </a:r>
            <a:r>
              <a:rPr sz="800">
                <a:solidFill>
                  <a:srgbClr val="CBD5E1"/>
                </a:solidFill>
              </a:rPr>
              <a:t>  • Crowdsourced ground-truth sea state telemetry &amp; high-resolution model validation.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760720" y="1417320"/>
            <a:ext cx="5971032" cy="42062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5852160" y="1508760"/>
            <a:ext cx="5788152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0D47A1"/>
                </a:solidFill>
              </a:defRPr>
            </a:pPr>
            <a:r>
              <a:t>THE FOUR PILLARS OF NATIONAL IMPACT</a:t>
            </a:r>
          </a:p>
          <a:p>
            <a:pPr>
              <a:spcAft>
                <a:spcPts val="500"/>
              </a:spcAft>
            </a:pPr>
            <a:r>
              <a:rPr b="1" sz="900">
                <a:solidFill>
                  <a:srgbClr val="10B981"/>
                </a:solidFill>
              </a:rPr>
              <a:t>👥 SOCIAL IMPACT (Saving Lives)
</a:t>
            </a:r>
            <a:r>
              <a:rPr sz="800">
                <a:solidFill>
                  <a:srgbClr val="0F172A"/>
                </a:solidFill>
              </a:rPr>
              <a:t>Eliminates fatal capsizings by calculating real-time wave-vessel physical resonance. Delivers plain-language voice alerts in Tamil, Malayalam, Bengali, Telugu, and Hindi for non-literate crews.</a:t>
            </a:r>
          </a:p>
          <a:p>
            <a:pPr>
              <a:spcAft>
                <a:spcPts val="500"/>
              </a:spcAft>
            </a:pPr>
            <a:r>
              <a:rPr b="1" sz="900">
                <a:solidFill>
                  <a:srgbClr val="F59E0B"/>
                </a:solidFill>
              </a:rPr>
              <a:t>💰 ECONOMIC IMPACT (Fuel &amp; Yield)
</a:t>
            </a:r>
            <a:r>
              <a:rPr sz="800">
                <a:solidFill>
                  <a:srgbClr val="0F172A"/>
                </a:solidFill>
              </a:rPr>
              <a:t>Reduces diesel expenditure by 20–30% through current-assisted dynamic A* pathfinding. Maximizes high-value pelagic catch yields via multi-species Habitat Suitability Index (HSI) mapping.</a:t>
            </a:r>
          </a:p>
          <a:p>
            <a:pPr>
              <a:spcAft>
                <a:spcPts val="500"/>
              </a:spcAft>
            </a:pPr>
            <a:r>
              <a:rPr b="1" sz="900">
                <a:solidFill>
                  <a:srgbClr val="0284C7"/>
                </a:solidFill>
              </a:rPr>
              <a:t>🌿 ENVIRONMENTAL IMPACT (Ocean Health)
</a:t>
            </a:r>
            <a:r>
              <a:rPr sz="800">
                <a:solidFill>
                  <a:srgbClr val="0F172A"/>
                </a:solidFill>
              </a:rPr>
              <a:t>Substantially lowers maritime diesel emissions per fishing voyage. Provides automated geofencing to prevent accidental intrusion into Marine Protected Areas (MPAs) and international boundaries.</a:t>
            </a:r>
          </a:p>
          <a:p>
            <a:pPr>
              <a:spcAft>
                <a:spcPts val="500"/>
              </a:spcAft>
            </a:pPr>
            <a:r>
              <a:rPr b="1" sz="900">
                <a:solidFill>
                  <a:srgbClr val="0D47A1"/>
                </a:solidFill>
              </a:rPr>
              <a:t>🇮🇳 STRATEGIC IMPACT (Digital Sovereignty)
</a:t>
            </a:r>
            <a:r>
              <a:rPr sz="800">
                <a:solidFill>
                  <a:srgbClr val="0F172A"/>
                </a:solidFill>
              </a:rPr>
              <a:t>Delivers end-to-end sovereign maritime domain awareness across India's 7,516 km coastline and 2.37M sq km EEZ, creating an integrated national ocean safety infrastructure.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57200" y="5760720"/>
            <a:ext cx="11274552" cy="50292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548640" y="5779008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 sz="950">
                <a:solidFill>
                  <a:srgbClr val="06B6D4"/>
                </a:solidFill>
              </a:rPr>
              <a:t>1 ARTISANAL VESSEL  ➔  HARBOR FLEET (500+)  ➔  COASTAL STATE  ➔  PAN-INDIA MARITIME INTELLIGENCE LAYER
</a:t>
            </a:r>
            <a:r>
              <a:rPr i="1" sz="850">
                <a:solidFill>
                  <a:srgbClr val="FFFFFF"/>
                </a:solidFill>
              </a:rPr>
              <a:t>“From a single artisanal voyage to a sovereign digital intelligence layer for India’s 7,516 km coastline.”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 AND REFERENCES: Scientific Grounding to Implementation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ORCA 4.0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57200" y="1051560"/>
            <a:ext cx="2743200" cy="29260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DETAILS OF RESEARCH WORK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91840" y="1051560"/>
            <a:ext cx="2743200" cy="292608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IMO STABILITY CRITERIA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26480" y="1051560"/>
            <a:ext cx="2743200" cy="292608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HYDRODYNAMIC WAVE PHYSICS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961120" y="1051560"/>
            <a:ext cx="274320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VERIFIED ACADEMIC CITATIONS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57200" y="1417320"/>
            <a:ext cx="5559552" cy="201168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548640" y="1490472"/>
            <a:ext cx="5376672" cy="186537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950">
                <a:solidFill>
                  <a:srgbClr val="06B6D4"/>
                </a:solidFill>
              </a:defRPr>
            </a:pPr>
            <a:r>
              <a:t>📚 IMO Code on Intact Stability (2008)</a:t>
            </a:r>
          </a:p>
          <a:p>
            <a:pPr>
              <a:spcAft>
                <a:spcPts val="200"/>
              </a:spcAft>
              <a:defRPr i="1" sz="750">
                <a:solidFill>
                  <a:srgbClr val="64748B"/>
                </a:solidFill>
              </a:defRPr>
            </a:pPr>
            <a:r>
              <a:t>Source: Resolution MSC.267(85) / Small Craft Capsizing Dynamics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F59E0B"/>
                </a:solidFill>
              </a:rPr>
              <a:t>Key Insight: </a:t>
            </a:r>
            <a:r>
              <a:rPr sz="800">
                <a:solidFill>
                  <a:srgbClr val="FFFFFF"/>
                </a:solidFill>
              </a:rPr>
              <a:t>Small vessel dynamic instability under steep wave action, beam-sea broaching, and parametric roll resonance.</a:t>
            </a:r>
          </a:p>
          <a:p>
            <a:r>
              <a:rPr b="1" sz="800">
                <a:solidFill>
                  <a:srgbClr val="10B981"/>
                </a:solidFill>
              </a:rPr>
              <a:t>ORCA Implementation: </a:t>
            </a:r>
            <a:r>
              <a:rPr sz="800">
                <a:solidFill>
                  <a:srgbClr val="CBD5E1"/>
                </a:solidFill>
              </a:rPr>
              <a:t>Deterministic Safety Engine: Computes critical wave threshold (Hcrit ≈ 0.6 · Lhull) and enforces non-bypassable hazard overrides (&lt;10ms).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172200" y="1417320"/>
            <a:ext cx="5559552" cy="201168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6263640" y="1490472"/>
            <a:ext cx="5376672" cy="186537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950">
                <a:solidFill>
                  <a:srgbClr val="06B6D4"/>
                </a:solidFill>
              </a:defRPr>
            </a:pPr>
            <a:r>
              <a:t>📚 Marine Hydrodynamics &amp; Encounter Physics</a:t>
            </a:r>
          </a:p>
          <a:p>
            <a:pPr>
              <a:spcAft>
                <a:spcPts val="200"/>
              </a:spcAft>
              <a:defRPr i="1" sz="750">
                <a:solidFill>
                  <a:srgbClr val="64748B"/>
                </a:solidFill>
              </a:defRPr>
            </a:pPr>
            <a:r>
              <a:t>Source: O.M. Faltinsen (1990) &amp; J.N. Newman (1977)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F59E0B"/>
                </a:solidFill>
              </a:rPr>
              <a:t>Key Insight: </a:t>
            </a:r>
            <a:r>
              <a:rPr sz="800">
                <a:solidFill>
                  <a:srgbClr val="FFFFFF"/>
                </a:solidFill>
              </a:rPr>
              <a:t>Wave steepness ratio (S = Hs / λ), deep-water dispersion relations (λ = g·Tp² / 2π), and encounter angle frequency shifts.</a:t>
            </a:r>
          </a:p>
          <a:p>
            <a:r>
              <a:rPr b="1" sz="800">
                <a:solidFill>
                  <a:srgbClr val="10B981"/>
                </a:solidFill>
              </a:rPr>
              <a:t>ORCA Implementation: </a:t>
            </a:r>
            <a:r>
              <a:rPr sz="800">
                <a:solidFill>
                  <a:srgbClr val="CBD5E1"/>
                </a:solidFill>
              </a:rPr>
              <a:t>Vessel Digital Twin: Dynamic calculation of wave steepness &amp; vessel-wave interaction rather than treating sea states as static point forecasts.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57200" y="3520439"/>
            <a:ext cx="5559552" cy="201168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548640" y="3593591"/>
            <a:ext cx="5376672" cy="186537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950">
                <a:solidFill>
                  <a:srgbClr val="06B6D4"/>
                </a:solidFill>
              </a:defRPr>
            </a:pPr>
            <a:r>
              <a:t>📚 Satellite Oceanography &amp; Pelagic Habitats</a:t>
            </a:r>
          </a:p>
          <a:p>
            <a:pPr>
              <a:spcAft>
                <a:spcPts val="200"/>
              </a:spcAft>
              <a:defRPr i="1" sz="750">
                <a:solidFill>
                  <a:srgbClr val="64748B"/>
                </a:solidFill>
              </a:defRPr>
            </a:pPr>
            <a:r>
              <a:t>Source: INCOIS PFZ Mission &amp; ISRO MOSDAC Telemetry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F59E0B"/>
                </a:solidFill>
              </a:rPr>
              <a:t>Key Insight: </a:t>
            </a:r>
            <a:r>
              <a:rPr sz="800">
                <a:solidFill>
                  <a:srgbClr val="FFFFFF"/>
                </a:solidFill>
              </a:rPr>
              <a:t>Aggregation of pelagic marine species along thermal gradients, SST frontal boundaries, and chlorophyll-a density concentration zones.</a:t>
            </a:r>
          </a:p>
          <a:p>
            <a:r>
              <a:rPr b="1" sz="800">
                <a:solidFill>
                  <a:srgbClr val="10B981"/>
                </a:solidFill>
              </a:rPr>
              <a:t>ORCA Implementation: </a:t>
            </a:r>
            <a:r>
              <a:rPr sz="800">
                <a:solidFill>
                  <a:srgbClr val="CBD5E1"/>
                </a:solidFill>
              </a:rPr>
              <a:t>Multi-Species Habitat Index (HSI): XGBoost model integrated with 2D Sobel spatial filter for high-precision fishery zone recommendations.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172200" y="3520439"/>
            <a:ext cx="5559552" cy="201168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6263640" y="3593591"/>
            <a:ext cx="5376672" cy="186537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b="1" sz="950">
                <a:solidFill>
                  <a:srgbClr val="06B6D4"/>
                </a:solidFill>
              </a:defRPr>
            </a:pPr>
            <a:r>
              <a:t>📚 Dynamic Constrained Pathfinding &amp; Graph Optimization</a:t>
            </a:r>
          </a:p>
          <a:p>
            <a:pPr>
              <a:spcAft>
                <a:spcPts val="200"/>
              </a:spcAft>
              <a:defRPr i="1" sz="750">
                <a:solidFill>
                  <a:srgbClr val="64748B"/>
                </a:solidFill>
              </a:defRPr>
            </a:pPr>
            <a:r>
              <a:t>Source: Modified A* over Time-Varying Navigational Cost Surfaces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F59E0B"/>
                </a:solidFill>
              </a:rPr>
              <a:t>Key Insight: </a:t>
            </a:r>
            <a:r>
              <a:rPr sz="800">
                <a:solidFill>
                  <a:srgbClr val="FFFFFF"/>
                </a:solidFill>
              </a:rPr>
              <a:t>Optimization of multiobjective vessel routes under dynamic weather constraints, geofenced boundaries, and risk cost penalization.</a:t>
            </a:r>
          </a:p>
          <a:p>
            <a:r>
              <a:rPr b="1" sz="800">
                <a:solidFill>
                  <a:srgbClr val="10B981"/>
                </a:solidFill>
              </a:rPr>
              <a:t>ORCA Implementation: </a:t>
            </a:r>
            <a:r>
              <a:rPr sz="800">
                <a:solidFill>
                  <a:srgbClr val="CBD5E1"/>
                </a:solidFill>
              </a:rPr>
              <a:t>ORCA Navigational Pathfinder: Computes 4-point optimized waypoints balancing weather safety, fuel consumption, and dock proximity.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57200" y="5669280"/>
            <a:ext cx="11274552" cy="621792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548640" y="5687568"/>
            <a:ext cx="11064240" cy="58521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"/>
              </a:spcAft>
              <a:defRPr b="1" sz="850">
                <a:solidFill>
                  <a:srgbClr val="0D47A1"/>
                </a:solidFill>
              </a:defRPr>
            </a:pPr>
            <a:r>
              <a:t>AUTHENTIC OPERATIONAL &amp; SCIENTIFIC REFERENCES</a:t>
            </a:r>
          </a:p>
          <a:p>
            <a:pPr>
              <a:defRPr sz="700">
                <a:solidFill>
                  <a:srgbClr val="0F172A"/>
                </a:solidFill>
              </a:defRPr>
            </a:pPr>
            <a:r>
              <a:t>[1] International Maritime Organization (IMO). International Code on Intact Stability (2008). Resolution MSC.267(85).</a:t>
            </a:r>
            <a:br/>
            <a:r>
              <a:t>[2] INCOIS (Ministry of Earth Sciences). Ocean State Forecast (OSF) &amp; Potential Fishing Zone (PFZ) Operational Protocols. | [3] ISRO Space Applications Centre. Oceansat-3 (OCM-3) &amp; INSAT-3DR Marine Products, MOSDAC.</a:t>
            </a:r>
            <a:br/>
            <a:r>
              <a:t>[4] Copernicus Marine Environment Monitoring Service (CMEMS). Global Ocean Physical Analysis. | [5] World Meteorological Organization (WMO). Manual on Marine Meteorological Services (WMO-No. 558).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