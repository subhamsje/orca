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"/>
            <a:ext cx="896112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OFFICIAL IDEA PRESENTATION  ·  NATIONAL FINALS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49377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800"/>
              </a:spcAft>
              <a:defRPr b="1" sz="1000">
                <a:solidFill>
                  <a:srgbClr val="0A2540"/>
                </a:solidFill>
                <a:latin typeface="Arial"/>
              </a:defRPr>
            </a:pPr>
            <a:r>
              <a:t>PROPOSAL METADATA &amp; TEAM REGISTRATION</a:t>
            </a:r>
          </a:p>
          <a:p>
            <a:pPr>
              <a:spcAft>
                <a:spcPts val="4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Problem Statement ID:
</a:t>
            </a:r>
            <a:r>
              <a:rPr sz="900">
                <a:solidFill>
                  <a:srgbClr val="334155"/>
                </a:solidFill>
                <a:latin typeface="Arial"/>
              </a:rPr>
              <a:t>SIH26176</a:t>
            </a:r>
          </a:p>
          <a:p>
            <a:pPr>
              <a:spcAft>
                <a:spcPts val="4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Problem Statement Title:
</a:t>
            </a:r>
            <a:r>
              <a:rPr sz="900">
                <a:solidFill>
                  <a:srgbClr val="334155"/>
                </a:solidFill>
                <a:latin typeface="Arial"/>
              </a:rPr>
              <a:t>AI-Assisted Maritime Decision Intelligence &amp; Bio-Physical Safety Platform for Artisanal Fishermen &amp; Coastal Fleets</a:t>
            </a:r>
          </a:p>
          <a:p>
            <a:pPr>
              <a:spcAft>
                <a:spcPts val="4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Sponsoring Ministry:
</a:t>
            </a:r>
            <a:r>
              <a:rPr sz="900">
                <a:solidFill>
                  <a:srgbClr val="334155"/>
                </a:solidFill>
                <a:latin typeface="Arial"/>
              </a:rPr>
              <a:t>ISRO / Department of Space &amp; INCOIS</a:t>
            </a:r>
          </a:p>
          <a:p>
            <a:pPr>
              <a:spcAft>
                <a:spcPts val="4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Theme:
</a:t>
            </a:r>
            <a:r>
              <a:rPr sz="900">
                <a:solidFill>
                  <a:srgbClr val="334155"/>
                </a:solidFill>
                <a:latin typeface="Arial"/>
              </a:rPr>
              <a:t>Space Technology / Blue Economy / Disaster Management</a:t>
            </a:r>
          </a:p>
          <a:p>
            <a:pPr>
              <a:spcAft>
                <a:spcPts val="4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PS Category:
</a:t>
            </a:r>
            <a:r>
              <a:rPr sz="900">
                <a:solidFill>
                  <a:srgbClr val="334155"/>
                </a:solidFill>
                <a:latin typeface="Arial"/>
              </a:rPr>
              <a:t>Software (with Edge Hardware compatibility)</a:t>
            </a:r>
          </a:p>
          <a:p>
            <a:pPr>
              <a:spcAft>
                <a:spcPts val="4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Team ID / Registered Name:
</a:t>
            </a:r>
            <a:r>
              <a:rPr sz="900">
                <a:solidFill>
                  <a:srgbClr val="334155"/>
                </a:solidFill>
                <a:latin typeface="Arial"/>
              </a:rPr>
              <a:t>ORCA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5971032" cy="502920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sz="950" b="1">
                <a:solidFill>
                  <a:srgbClr val="06B6D4"/>
                </a:solidFill>
                <a:latin typeface="Arial"/>
              </a:defRPr>
            </a:pPr>
            <a:r>
              <a:t>MARITIME DECISION OPERATING SYSTEM</a:t>
            </a:r>
          </a:p>
          <a:p>
            <a:pPr>
              <a:spcAft>
                <a:spcPts val="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“FROM OCEAN DATA TO SAFER DECISIONS”</a:t>
            </a:r>
          </a:p>
          <a:p>
            <a:pPr>
              <a:spcAft>
                <a:spcPts val="400"/>
              </a:spcAft>
              <a:defRPr b="1" sz="850">
                <a:solidFill>
                  <a:srgbClr val="10B981"/>
                </a:solidFill>
                <a:latin typeface="Arial"/>
              </a:defRPr>
            </a:pPr>
            <a:r>
              <a:t>7-NODE SYSTEM ARCHITECTURE PIPELINE: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284C7"/>
                </a:solidFill>
                <a:latin typeface="Arial"/>
              </a:rPr>
              <a:t>  [1. OCEAN]  </a:t>
            </a:r>
            <a:r>
              <a:rPr sz="750">
                <a:solidFill>
                  <a:srgbClr val="CBD5E1"/>
                </a:solidFill>
                <a:latin typeface="Arial"/>
              </a:rPr>
              <a:t>➔  Sea State &amp; Waves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6B6D4"/>
                </a:solidFill>
                <a:latin typeface="Arial"/>
              </a:rPr>
              <a:t>  [2. WEATHER]  </a:t>
            </a:r>
            <a:r>
              <a:rPr sz="750">
                <a:solidFill>
                  <a:srgbClr val="CBD5E1"/>
                </a:solidFill>
                <a:latin typeface="Arial"/>
              </a:rPr>
              <a:t>➔  Wind &amp; Storms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38BDF8"/>
                </a:solidFill>
                <a:latin typeface="Arial"/>
              </a:rPr>
              <a:t>  [3. VESSEL]  </a:t>
            </a:r>
            <a:r>
              <a:rPr sz="750">
                <a:solidFill>
                  <a:srgbClr val="CBD5E1"/>
                </a:solidFill>
                <a:latin typeface="Arial"/>
              </a:rPr>
              <a:t>➔  Hull Stability Twin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D97706"/>
                </a:solidFill>
                <a:latin typeface="Arial"/>
              </a:rPr>
              <a:t>  [4. ROUTE]  </a:t>
            </a:r>
            <a:r>
              <a:rPr sz="750">
                <a:solidFill>
                  <a:srgbClr val="CBD5E1"/>
                </a:solidFill>
                <a:latin typeface="Arial"/>
              </a:rPr>
              <a:t>➔  Waypoints &amp; Track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  [5. ORCA]  </a:t>
            </a:r>
            <a:r>
              <a:rPr sz="750">
                <a:solidFill>
                  <a:srgbClr val="CBD5E1"/>
                </a:solidFill>
                <a:latin typeface="Arial"/>
              </a:rPr>
              <a:t>➔  Bio-Physical Core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E11D48"/>
                </a:solidFill>
                <a:latin typeface="Arial"/>
              </a:rPr>
              <a:t>  [6. RISK]  </a:t>
            </a:r>
            <a:r>
              <a:rPr sz="750">
                <a:solidFill>
                  <a:srgbClr val="CBD5E1"/>
                </a:solidFill>
                <a:latin typeface="Arial"/>
              </a:rPr>
              <a:t>➔  Dynamic Risk Field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  [7. DECISION]  </a:t>
            </a:r>
            <a:r>
              <a:rPr sz="750">
                <a:solidFill>
                  <a:srgbClr val="CBD5E1"/>
                </a:solidFill>
                <a:latin typeface="Arial"/>
              </a:rPr>
              <a:t>➔  GO / REROUTE / RETURN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6B6D4"/>
                </a:solidFill>
                <a:latin typeface="Arial"/>
              </a:rPr>
              <a:t>
[VESSEL-AWARE]  ·  [ROUTE-AWARE]  ·  [SAFETY-FIRST]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“THE OCEAN IS FORECAST. THE VOYAGE IS NOT.”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Visualizing the fatal decision gap: Why raw forecast numbers fail to answer what this vessel should do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11091672" cy="47548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b="1" sz="950">
                <a:solidFill>
                  <a:srgbClr val="E11D48"/>
                </a:solidFill>
                <a:latin typeface="Arial"/>
              </a:rPr>
              <a:t>CORE PARADIGM SHIFT:  FORECAST ≠ OPERATIONAL RISK.  </a:t>
            </a:r>
            <a:r>
              <a:rPr sz="850">
                <a:solidFill>
                  <a:srgbClr val="0F172A"/>
                </a:solidFill>
                <a:latin typeface="Arial"/>
              </a:rPr>
              <a:t>Weather apps show what the sea is doing. ORCA computes what it means for THIS specific hull on THIS route.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38404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0A2540"/>
                </a:solidFill>
                <a:latin typeface="Arial"/>
              </a:defRPr>
            </a:pPr>
            <a:r>
              <a:t>8 DISCONNECTED DATA STREAMS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🌊 WAVES (Hs, Swell Tp): </a:t>
            </a:r>
            <a:r>
              <a:rPr sz="700">
                <a:solidFill>
                  <a:srgbClr val="64748B"/>
                </a:solidFill>
                <a:latin typeface="Arial"/>
              </a:rPr>
              <a:t>INCOIS spectral wave grids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💨 WIND (Vel, Gusts): </a:t>
            </a:r>
            <a:r>
              <a:rPr sz="700">
                <a:solidFill>
                  <a:srgbClr val="64748B"/>
                </a:solidFill>
                <a:latin typeface="Arial"/>
              </a:rPr>
              <a:t>IMD surface atmospheric vectors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🌀 CYCLONES (IMD Alerts): </a:t>
            </a:r>
            <a:r>
              <a:rPr sz="700">
                <a:solidFill>
                  <a:srgbClr val="64748B"/>
                </a:solidFill>
                <a:latin typeface="Arial"/>
              </a:rPr>
              <a:t>Active storm coordinates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🌊 CURRENTS (u, v): </a:t>
            </a:r>
            <a:r>
              <a:rPr sz="700">
                <a:solidFill>
                  <a:srgbClr val="64748B"/>
                </a:solidFill>
                <a:latin typeface="Arial"/>
              </a:rPr>
              <a:t>Ocean drift velocity fields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🛰️ SATELLITES (SST): </a:t>
            </a:r>
            <a:r>
              <a:rPr sz="700">
                <a:solidFill>
                  <a:srgbClr val="64748B"/>
                </a:solidFill>
                <a:latin typeface="Arial"/>
              </a:rPr>
              <a:t>Thermal front boundaries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🚢 VESSEL PROFILE: </a:t>
            </a:r>
            <a:r>
              <a:rPr sz="700">
                <a:solidFill>
                  <a:srgbClr val="64748B"/>
                </a:solidFill>
                <a:latin typeface="Arial"/>
              </a:rPr>
              <a:t>Lwl, Draft, Beam geometry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📡 AIS TELEMETRY: </a:t>
            </a:r>
            <a:r>
              <a:rPr sz="700">
                <a:solidFill>
                  <a:srgbClr val="64748B"/>
                </a:solidFill>
                <a:latin typeface="Arial"/>
              </a:rPr>
              <a:t>Fleet positions &amp; collisions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🗺️ VOYAGE ROUTE: </a:t>
            </a:r>
            <a:r>
              <a:rPr sz="700">
                <a:solidFill>
                  <a:srgbClr val="64748B"/>
                </a:solidFill>
                <a:latin typeface="Arial"/>
              </a:rPr>
              <a:t>Target dock &amp; waypoints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19072"/>
            <a:ext cx="320040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  <a:defRPr b="1" sz="950">
                <a:solidFill>
                  <a:srgbClr val="E11D48"/>
                </a:solidFill>
                <a:latin typeface="Arial"/>
              </a:defRPr>
            </a:pPr>
            <a:r>
              <a:t>TODAY: GENERIC FORECAST</a:t>
            </a:r>
          </a:p>
          <a:p>
            <a:pPr>
              <a:spcAft>
                <a:spcPts val="6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⚠️ BROADCAST SMS:</a:t>
            </a:r>
            <a:br/>
            <a:r>
              <a:t>“Waves 2.5m in South Arabian Sea. Wind 22 kts.”</a:t>
            </a:r>
            <a:br/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❌ ZERO VESSEL CONTEXT:</a:t>
            </a:r>
            <a:br/>
            <a:r>
              <a:t>Identical SMS sent to a 40m steel trawler and a 7m wooden canoe.</a:t>
            </a:r>
            <a:br/>
            <a:br/>
            <a:r>
              <a:t>❌ ZERO ROUTE AWARENESS:</a:t>
            </a:r>
            <a:br/>
            <a:r>
              <a:t>Cannot evaluate encounter wave angle or shallow breaker reef.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719072"/>
            <a:ext cx="3776472" cy="3429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  <a:defRPr b="1" sz="950">
                <a:solidFill>
                  <a:srgbClr val="E11D48"/>
                </a:solidFill>
                <a:latin typeface="Arial"/>
              </a:defRPr>
            </a:pPr>
            <a:r>
              <a:t>OPERATIONAL DECISION GAP</a:t>
            </a:r>
          </a:p>
          <a:p>
            <a:pPr>
              <a:defRPr b="1" sz="850">
                <a:solidFill>
                  <a:srgbClr val="0A2540"/>
                </a:solidFill>
                <a:latin typeface="Arial"/>
              </a:defRPr>
            </a:pPr>
            <a:r>
              <a:t>THE FISHERMAN'S DILEMMA:</a:t>
            </a:r>
            <a:br/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E11D48"/>
                </a:solidFill>
                <a:latin typeface="Arial"/>
              </a:rPr>
              <a:t>• Should I sail today? </a:t>
            </a:r>
            <a:r>
              <a:rPr sz="750">
                <a:solidFill>
                  <a:srgbClr val="334155"/>
                </a:solidFill>
                <a:latin typeface="Arial"/>
              </a:rPr>
              <a:t>➔ Livelihood vs. Drowning Risk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E11D48"/>
                </a:solidFill>
                <a:latin typeface="Arial"/>
              </a:rPr>
              <a:t>• Will my hull capsize? </a:t>
            </a:r>
            <a:r>
              <a:rPr sz="750">
                <a:solidFill>
                  <a:srgbClr val="334155"/>
                </a:solidFill>
                <a:latin typeface="Arial"/>
              </a:rPr>
              <a:t>➔ Unknown beam-sea resonance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E11D48"/>
                </a:solidFill>
                <a:latin typeface="Arial"/>
              </a:rPr>
              <a:t>• Which route is safe? </a:t>
            </a:r>
            <a:r>
              <a:rPr sz="750">
                <a:solidFill>
                  <a:srgbClr val="334155"/>
                </a:solidFill>
                <a:latin typeface="Arial"/>
              </a:rPr>
              <a:t>➔ Blind navigation beyond 12 NM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E11D48"/>
                </a:solidFill>
                <a:latin typeface="Arial"/>
              </a:rPr>
              <a:t>• Where are the fish? </a:t>
            </a:r>
            <a:r>
              <a:rPr sz="750">
                <a:solidFill>
                  <a:srgbClr val="334155"/>
                </a:solidFill>
                <a:latin typeface="Arial"/>
              </a:rPr>
              <a:t>➔ Blind fuel burn hunting for PFZ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30368"/>
            <a:ext cx="11091672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00">
                <a:solidFill>
                  <a:srgbClr val="0A2540"/>
                </a:solidFill>
                <a:latin typeface="Arial"/>
              </a:defRPr>
            </a:pPr>
            <a:r>
              <a:t>THE ORCA SOLUTION EQUATION: DATA + CONTEXT + PHYSICS + ROUTE = ACTIONABLE DECISION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ORCA fuses 8 data streams into a 0.083° spatial grid, instantiates a parametric vessel digital twin, evaluates deterministic wave encounter physics (&lt;10ms), and computes an optimized A* route.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“ORCA TURNS SEA CONDITIONS INTO A VOYAGE DECISION”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 central computational engine fusing raw environmental data, vessel physics, and dynamic route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274320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900">
                <a:solidFill>
                  <a:srgbClr val="0284C7"/>
                </a:solidFill>
                <a:latin typeface="Arial"/>
              </a:defRPr>
            </a:pPr>
            <a:r>
              <a:t>8 CONVERGING INPUTS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Waves (Hs, Tp)
</a:t>
            </a:r>
            <a:r>
              <a:rPr sz="700">
                <a:solidFill>
                  <a:srgbClr val="64748B"/>
                </a:solidFill>
                <a:latin typeface="Arial"/>
              </a:rPr>
              <a:t>   Source: INCOIS ERDDAP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Wind &amp; Gusts
</a:t>
            </a:r>
            <a:r>
              <a:rPr sz="700">
                <a:solidFill>
                  <a:srgbClr val="64748B"/>
                </a:solidFill>
                <a:latin typeface="Arial"/>
              </a:rPr>
              <a:t>   Source: IMD Station Grid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Cyclone Tracks
</a:t>
            </a:r>
            <a:r>
              <a:rPr sz="700">
                <a:solidFill>
                  <a:srgbClr val="64748B"/>
                </a:solidFill>
                <a:latin typeface="Arial"/>
              </a:rPr>
              <a:t>   Source: IMD Storm Center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Ocean Currents
</a:t>
            </a:r>
            <a:r>
              <a:rPr sz="700">
                <a:solidFill>
                  <a:srgbClr val="64748B"/>
                </a:solidFill>
                <a:latin typeface="Arial"/>
              </a:rPr>
              <a:t>   Source: Copernicus CMEMS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SST Fronts
</a:t>
            </a:r>
            <a:r>
              <a:rPr sz="700">
                <a:solidFill>
                  <a:srgbClr val="64748B"/>
                </a:solidFill>
                <a:latin typeface="Arial"/>
              </a:rPr>
              <a:t>   Source: ISRO MOSDAC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AIS Transponders
</a:t>
            </a:r>
            <a:r>
              <a:rPr sz="700">
                <a:solidFill>
                  <a:srgbClr val="64748B"/>
                </a:solidFill>
                <a:latin typeface="Arial"/>
              </a:rPr>
              <a:t>   Source: Fleet Positions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Vessel Hull Profile
</a:t>
            </a:r>
            <a:r>
              <a:rPr sz="700">
                <a:solidFill>
                  <a:srgbClr val="64748B"/>
                </a:solidFill>
                <a:latin typeface="Arial"/>
              </a:rPr>
              <a:t>   Source: Registry Twin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• Target Waypoints
</a:t>
            </a:r>
            <a:r>
              <a:rPr sz="700">
                <a:solidFill>
                  <a:srgbClr val="64748B"/>
                </a:solidFill>
                <a:latin typeface="Arial"/>
              </a:rPr>
              <a:t>   Source: Port Dock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5120640" cy="3977639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  <a:defRPr b="1" sz="1050">
                <a:solidFill>
                  <a:srgbClr val="06B6D4"/>
                </a:solidFill>
                <a:latin typeface="Arial"/>
              </a:defRPr>
            </a:pPr>
            <a:r>
              <a:t>⚡ ORCA 4.0 COMPUTATIONAL ENGINE</a:t>
            </a:r>
          </a:p>
          <a:p>
            <a:pPr>
              <a:spcAft>
                <a:spcPts val="350"/>
              </a:spcAft>
            </a:pPr>
            <a:r>
              <a:rPr b="1" sz="800">
                <a:solidFill>
                  <a:srgbClr val="F0F9FF"/>
                </a:solidFill>
                <a:latin typeface="Arial"/>
              </a:rPr>
              <a:t>LAYER 1: ENVIRONMENTAL DIGITAL STATE
</a:t>
            </a:r>
            <a:r>
              <a:rPr sz="750">
                <a:solidFill>
                  <a:srgbClr val="CBD5E1"/>
                </a:solidFill>
                <a:latin typeface="Arial"/>
              </a:rPr>
              <a:t>Spatial H3 Normalization (0.083° / ~9km) + Multi-Source Temporal Alignment.</a:t>
            </a:r>
          </a:p>
          <a:p>
            <a:pPr>
              <a:spcAft>
                <a:spcPts val="350"/>
              </a:spcAft>
            </a:pPr>
            <a:r>
              <a:rPr b="1" sz="800">
                <a:solidFill>
                  <a:srgbClr val="38BDF8"/>
                </a:solidFill>
                <a:latin typeface="Arial"/>
              </a:rPr>
              <a:t>LAYER 2: PARAMETRIC VESSEL DIGITAL TWIN
</a:t>
            </a:r>
            <a:r>
              <a:rPr sz="750">
                <a:solidFill>
                  <a:srgbClr val="CBD5E1"/>
                </a:solidFill>
                <a:latin typeface="Arial"/>
              </a:rPr>
              <a:t>Hydrodynamic hull modeling: Length (Lwl), Beam (B), Draft (Td), Freeboard.</a:t>
            </a:r>
          </a:p>
          <a:p>
            <a:pPr>
              <a:spcAft>
                <a:spcPts val="35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LAYER 3: DETERMINISTIC PHYSICS &amp; HSI ML
</a:t>
            </a:r>
            <a:r>
              <a:rPr sz="750">
                <a:solidFill>
                  <a:srgbClr val="CBD5E1"/>
                </a:solidFill>
                <a:latin typeface="Arial"/>
              </a:rPr>
              <a:t>Critical wave threshold (Hcrit = 0.6·L) + XGBoost multi-species habitat index.</a:t>
            </a:r>
          </a:p>
          <a:p>
            <a:pPr>
              <a:spcAft>
                <a:spcPts val="350"/>
              </a:spcAft>
            </a:pPr>
            <a:r>
              <a:rPr b="1" sz="800">
                <a:solidFill>
                  <a:srgbClr val="D97706"/>
                </a:solidFill>
                <a:latin typeface="Arial"/>
              </a:rPr>
              <a:t>LAYER 4: A* DYNAMIC ROUTE RISK MESH
</a:t>
            </a:r>
            <a:r>
              <a:rPr sz="750">
                <a:solidFill>
                  <a:srgbClr val="CBD5E1"/>
                </a:solidFill>
                <a:latin typeface="Arial"/>
              </a:rPr>
              <a:t>Time-varying 2D cost surface pathfinder avoiding high-risk breaker pockets.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188720"/>
            <a:ext cx="295351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  <a:defRPr b="1" sz="900">
                <a:solidFill>
                  <a:srgbClr val="10B981"/>
                </a:solidFill>
                <a:latin typeface="Arial"/>
              </a:defRPr>
            </a:pPr>
            <a:r>
              <a:t>3 ACTIONABLE OUTPUTS</a:t>
            </a:r>
          </a:p>
          <a:p>
            <a:pPr>
              <a:spcAft>
                <a:spcPts val="40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🟢 GO / SAFE DEPARTURE
</a:t>
            </a:r>
            <a:r>
              <a:rPr sz="750">
                <a:solidFill>
                  <a:srgbClr val="0F172A"/>
                </a:solidFill>
                <a:latin typeface="Arial"/>
              </a:rPr>
              <a:t>Sea state within vessel limits. Direct optimal route clear.</a:t>
            </a:r>
          </a:p>
          <a:p>
            <a:pPr>
              <a:spcAft>
                <a:spcPts val="400"/>
              </a:spcAft>
            </a:pPr>
            <a:r>
              <a:rPr b="1" sz="800">
                <a:solidFill>
                  <a:srgbClr val="D97706"/>
                </a:solidFill>
                <a:latin typeface="Arial"/>
              </a:rPr>
              <a:t>🟡 CAUTION / REROUTE
</a:t>
            </a:r>
            <a:r>
              <a:rPr sz="750">
                <a:solidFill>
                  <a:srgbClr val="0F172A"/>
                </a:solidFill>
                <a:latin typeface="Arial"/>
              </a:rPr>
              <a:t>Wave danger detected. A* dynamic diversion generated.</a:t>
            </a:r>
          </a:p>
          <a:p>
            <a:pPr>
              <a:spcAft>
                <a:spcPts val="400"/>
              </a:spcAft>
            </a:pPr>
            <a:r>
              <a:rPr b="1" sz="800">
                <a:solidFill>
                  <a:srgbClr val="E11D48"/>
                </a:solidFill>
                <a:latin typeface="Arial"/>
              </a:rPr>
              <a:t>🔴 DANGER / STAY ASHORE
</a:t>
            </a:r>
            <a:r>
              <a:rPr sz="750">
                <a:solidFill>
                  <a:srgbClr val="0F172A"/>
                </a:solidFill>
                <a:latin typeface="Arial"/>
              </a:rPr>
              <a:t>Waves &gt; Hcrit or cyclone alert. Deterministic hard stop.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1672" cy="960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A2540"/>
                </a:solidFill>
                <a:latin typeface="Arial"/>
              </a:defRPr>
            </a:pPr>
            <a:r>
              <a:t>POSITIONING: “ORCA IS THE DECISION LAYER BETWEEN DATA AND ACTION”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Existing platforms stop at displaying raw maps and forecasts. ORCA provides the automated computational bridge that converts multi-agency oceanographic data into safe, vessel-specific voyage clearances.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“OTHERS SHOW THE SEA. ORCA UNDERSTANDS THE VOYAGE.”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Side-by-side comparison: Why weather portals stop at data, while ORCA delivers context and deterministic physics.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1109167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950">
                <a:solidFill>
                  <a:srgbClr val="0A2540"/>
                </a:solidFill>
                <a:latin typeface="Arial"/>
              </a:defRPr>
            </a:pPr>
            <a:r>
              <a:t>ARCHITECTURAL COMPARISON: GENERIC FORECAST vs. ORCA DECISION INTELLIGENCE</a:t>
            </a:r>
          </a:p>
          <a:p>
            <a:r>
              <a:rPr b="1" sz="800">
                <a:solidFill>
                  <a:srgbClr val="E11D48"/>
                </a:solidFill>
                <a:latin typeface="Arial"/>
              </a:rPr>
              <a:t>• EXISTING APPROACHES:  </a:t>
            </a:r>
            <a:r>
              <a:rPr sz="800">
                <a:solidFill>
                  <a:srgbClr val="334155"/>
                </a:solidFill>
                <a:latin typeface="Arial"/>
              </a:rPr>
              <a:t>Raw Sea State  ➔  Regional Broadcast SMS  ➔  Human Guesswork (Blind to vessel size &amp; route)
</a:t>
            </a:r>
            <a:r>
              <a:rPr b="1" sz="800">
                <a:solidFill>
                  <a:srgbClr val="10B981"/>
                </a:solidFill>
                <a:latin typeface="Arial"/>
              </a:rPr>
              <a:t>• ORCA 4.0 PLATFORM:   </a:t>
            </a:r>
            <a:r>
              <a:rPr b="1" sz="800">
                <a:solidFill>
                  <a:srgbClr val="0A2540"/>
                </a:solidFill>
                <a:latin typeface="Arial"/>
              </a:rPr>
              <a:t>Sea State  +  Vessel Hull Twin  +  Route Track  +  Deterministic Physics  ➔  Actionable Verdict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09167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950">
                <a:solidFill>
                  <a:srgbClr val="0A2540"/>
                </a:solidFill>
                <a:latin typeface="Arial"/>
              </a:defRPr>
            </a:pPr>
            <a:r>
              <a:t>CAPABILITY EVALUATION MATRIX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A2540"/>
                </a:solidFill>
                <a:latin typeface="Arial"/>
              </a:rPr>
              <a:t>Capability / Dimension         </a:t>
            </a:r>
            <a:r>
              <a:rPr sz="700">
                <a:solidFill>
                  <a:srgbClr val="64748B"/>
                </a:solidFill>
                <a:latin typeface="Arial"/>
              </a:rPr>
              <a:t>Weather Forecast Apps     </a:t>
            </a:r>
            <a:r>
              <a:rPr sz="700">
                <a:solidFill>
                  <a:srgbClr val="64748B"/>
                </a:solidFill>
                <a:latin typeface="Arial"/>
              </a:rPr>
              <a:t>Marine Port Portals       </a:t>
            </a:r>
            <a:r>
              <a:rPr b="1" sz="750">
                <a:solidFill>
                  <a:srgbClr val="0A2540"/>
                </a:solidFill>
                <a:latin typeface="Arial"/>
              </a:rPr>
              <a:t>ORCA 4.0 Platform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Weather &amp; Wave Forecast        </a:t>
            </a:r>
            <a:r>
              <a:rPr sz="700">
                <a:solidFill>
                  <a:srgbClr val="64748B"/>
                </a:solidFill>
                <a:latin typeface="Arial"/>
              </a:rPr>
              <a:t>✓ Regional Broadcast      </a:t>
            </a:r>
            <a:r>
              <a:rPr sz="700">
                <a:solidFill>
                  <a:srgbClr val="64748B"/>
                </a:solidFill>
                <a:latin typeface="Arial"/>
              </a:rPr>
              <a:t>✓ Coarse Marine Grid      </a:t>
            </a:r>
            <a:r>
              <a:rPr b="1" sz="750">
                <a:solidFill>
                  <a:srgbClr val="10B981"/>
                </a:solidFill>
                <a:latin typeface="Arial"/>
              </a:rPr>
              <a:t>✓ High-Res (0.083° H3 Spatial Grid)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Cyclone &amp; Hazard Alerts        </a:t>
            </a:r>
            <a:r>
              <a:rPr sz="700">
                <a:solidFill>
                  <a:srgbClr val="64748B"/>
                </a:solidFill>
                <a:latin typeface="Arial"/>
              </a:rPr>
              <a:t>✓ Generic SMS Alert       </a:t>
            </a:r>
            <a:r>
              <a:rPr sz="700">
                <a:solidFill>
                  <a:srgbClr val="64748B"/>
                </a:solidFill>
                <a:latin typeface="Arial"/>
              </a:rPr>
              <a:t>✓ Port Warning Bulletin   </a:t>
            </a:r>
            <a:r>
              <a:rPr b="1" sz="750">
                <a:solidFill>
                  <a:srgbClr val="10B981"/>
                </a:solidFill>
                <a:latin typeface="Arial"/>
              </a:rPr>
              <a:t>✓ Dynamic Real-Time Geo-Fencing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Vessel Hull &amp; Draft Profile    </a:t>
            </a:r>
            <a:r>
              <a:rPr sz="700">
                <a:solidFill>
                  <a:srgbClr val="E11D48"/>
                </a:solidFill>
                <a:latin typeface="Arial"/>
              </a:rPr>
              <a:t>— Ignored                 </a:t>
            </a:r>
            <a:r>
              <a:rPr sz="700">
                <a:solidFill>
                  <a:srgbClr val="E11D48"/>
                </a:solidFill>
                <a:latin typeface="Arial"/>
              </a:rPr>
              <a:t>— Ignored                 </a:t>
            </a:r>
            <a:r>
              <a:rPr b="1" sz="750">
                <a:solidFill>
                  <a:srgbClr val="10B981"/>
                </a:solidFill>
                <a:latin typeface="Arial"/>
              </a:rPr>
              <a:t>✓ Parametric Vessel Digital Twin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Wave-Vessel Dynamic Physics    </a:t>
            </a:r>
            <a:r>
              <a:rPr sz="700">
                <a:solidFill>
                  <a:srgbClr val="E11D48"/>
                </a:solidFill>
                <a:latin typeface="Arial"/>
              </a:rPr>
              <a:t>— None                    </a:t>
            </a:r>
            <a:r>
              <a:rPr sz="700">
                <a:solidFill>
                  <a:srgbClr val="E11D48"/>
                </a:solidFill>
                <a:latin typeface="Arial"/>
              </a:rPr>
              <a:t>— None                    </a:t>
            </a:r>
            <a:r>
              <a:rPr b="1" sz="750">
                <a:solidFill>
                  <a:srgbClr val="10B981"/>
                </a:solidFill>
                <a:latin typeface="Arial"/>
              </a:rPr>
              <a:t>✓ Hcrit Capsizing &amp; Roll Resonance Math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Dynamic Route Pathfinder       </a:t>
            </a:r>
            <a:r>
              <a:rPr sz="700">
                <a:solidFill>
                  <a:srgbClr val="E11D48"/>
                </a:solidFill>
                <a:latin typeface="Arial"/>
              </a:rPr>
              <a:t>— None (Straight Line)    </a:t>
            </a:r>
            <a:r>
              <a:rPr sz="700">
                <a:solidFill>
                  <a:srgbClr val="D97706"/>
                </a:solidFill>
                <a:latin typeface="Arial"/>
              </a:rPr>
              <a:t>△ Fixed Channel Lanes     </a:t>
            </a:r>
            <a:r>
              <a:rPr b="1" sz="750">
                <a:solidFill>
                  <a:srgbClr val="10B981"/>
                </a:solidFill>
                <a:latin typeface="Arial"/>
              </a:rPr>
              <a:t>✓ A* Risk-Cost Avoidance Routing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Deterministic Safety Guard     </a:t>
            </a:r>
            <a:r>
              <a:rPr sz="700">
                <a:solidFill>
                  <a:srgbClr val="E11D48"/>
                </a:solidFill>
                <a:latin typeface="Arial"/>
              </a:rPr>
              <a:t>— None                    </a:t>
            </a:r>
            <a:r>
              <a:rPr sz="700">
                <a:solidFill>
                  <a:srgbClr val="D97706"/>
                </a:solidFill>
                <a:latin typeface="Arial"/>
              </a:rPr>
              <a:t>△ Manual Port Officer     </a:t>
            </a:r>
            <a:r>
              <a:rPr b="1" sz="750">
                <a:solidFill>
                  <a:srgbClr val="10B981"/>
                </a:solidFill>
                <a:latin typeface="Arial"/>
              </a:rPr>
              <a:t>✓ Non-Bypassable Rule Shield (&lt;10ms)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Multi-Species Habitat (PFZ)    </a:t>
            </a:r>
            <a:r>
              <a:rPr sz="700">
                <a:solidFill>
                  <a:srgbClr val="E11D48"/>
                </a:solidFill>
                <a:latin typeface="Arial"/>
              </a:rPr>
              <a:t>— None                    </a:t>
            </a:r>
            <a:r>
              <a:rPr sz="700">
                <a:solidFill>
                  <a:srgbClr val="D97706"/>
                </a:solidFill>
                <a:latin typeface="Arial"/>
              </a:rPr>
              <a:t>△ Static PFZ PDF Maps     </a:t>
            </a:r>
            <a:r>
              <a:rPr b="1" sz="750">
                <a:solidFill>
                  <a:srgbClr val="10B981"/>
                </a:solidFill>
                <a:latin typeface="Arial"/>
              </a:rPr>
              <a:t>✓ XGBoost Habitat Suitability Index</a:t>
            </a:r>
          </a:p>
          <a:p>
            <a:pPr>
              <a:spcAft>
                <a:spcPts val="150"/>
              </a:spcAft>
            </a:pPr>
            <a:r>
              <a:rPr b="0" sz="750">
                <a:solidFill>
                  <a:srgbClr val="0F172A"/>
                </a:solidFill>
                <a:latin typeface="Arial"/>
              </a:rPr>
              <a:t>Offshore Reach Beyond 12 NM    </a:t>
            </a:r>
            <a:r>
              <a:rPr sz="700">
                <a:solidFill>
                  <a:srgbClr val="E11D48"/>
                </a:solidFill>
                <a:latin typeface="Arial"/>
              </a:rPr>
              <a:t>— 0% (GSM Cellular Blind) </a:t>
            </a:r>
            <a:r>
              <a:rPr sz="700">
                <a:solidFill>
                  <a:srgbClr val="D97706"/>
                </a:solidFill>
                <a:latin typeface="Arial"/>
              </a:rPr>
              <a:t>△ Expensive Satellite Satcom </a:t>
            </a:r>
            <a:r>
              <a:rPr b="1" sz="750">
                <a:solidFill>
                  <a:srgbClr val="10B981"/>
                </a:solidFill>
                <a:latin typeface="Arial"/>
              </a:rPr>
              <a:t>✓ Multi-Hop LoRa Mesh (up to 50 km)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“ONE PIPELINE. ONE WORLD MODEL.”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Layered CTO-grade architecture: Telemetry Ingestion ➔ Normalization ➔ Dual Digital State ➔ Tripartite Engine ➔ Safety Shield.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110916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50">
                <a:solidFill>
                  <a:srgbClr val="0284C7"/>
                </a:solidFill>
                <a:latin typeface="Arial"/>
              </a:defRPr>
            </a:pPr>
            <a:r>
              <a:t>TIER 1: MULTI-SOURCE TELEMETRY INGESTION LAYER</a:t>
            </a:r>
          </a:p>
          <a:p>
            <a:pPr>
              <a:defRPr sz="800">
                <a:solidFill>
                  <a:srgbClr val="0F172A"/>
                </a:solidFill>
                <a:latin typeface="Arial"/>
              </a:defRPr>
            </a:pPr>
            <a:r>
              <a:t>📡 INCOIS ERDDAP (Wave Spectra)  |  📡 IMD Alerts (Cyclones)  |  📡 Copernicus CMEMS (0.083° Physical Grids)  |  📡 ISRO MOSDAC (SST)  |  📡 AIS Feeds  |  📡 NMEA Sensors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91672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50">
                <a:solidFill>
                  <a:srgbClr val="0A2540"/>
                </a:solidFill>
                <a:latin typeface="Arial"/>
              </a:defRPr>
            </a:pPr>
            <a:r>
              <a:t>TIER 2: DATA VALIDATION, PROVENANCE &amp; DUAL DIGITAL STATE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• Environmental Digital State: Spatial H3 Indexing (0.083° / ~9km) + Temporal Alignment + Sensor Calibration (&lt;50ms)</a:t>
            </a:r>
            <a:br/>
            <a:r>
              <a:t>• Parametric Vessel Digital Twin: Dynamic hydrodynamics incorporating Hull Length (Lwl), Draft (Td), Beam (B), Freeboard &amp; Engine Power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9504"/>
            <a:ext cx="11091672" cy="12801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150"/>
              </a:spcAft>
              <a:defRPr b="1" sz="900">
                <a:solidFill>
                  <a:srgbClr val="06B6D4"/>
                </a:solidFill>
                <a:latin typeface="Arial"/>
              </a:defRPr>
            </a:pPr>
            <a:r>
              <a:t>TIER 3: TRIPARTITE COMPUTING CORE (STRICT ARCHITECTURAL SEPARATION)</a:t>
            </a:r>
          </a:p>
          <a:p>
            <a:pPr>
              <a:defRPr b="1" sz="800">
                <a:solidFill>
                  <a:srgbClr val="10B981"/>
                </a:solidFill>
                <a:latin typeface="Arial"/>
              </a:defRPr>
            </a:pPr>
            <a:r>
              <a:t>⚙️ DETERMINISTIC PHYSICS: Wave encounter angle math, Critical wave height (Hcrit = 0.6 · L), wave steepness ratio &amp; roll resonance.</a:t>
            </a:r>
          </a:p>
          <a:p>
            <a:pPr>
              <a:defRPr b="1" sz="800">
                <a:solidFill>
                  <a:srgbClr val="38BDF8"/>
                </a:solidFill>
                <a:latin typeface="Arial"/>
              </a:defRPr>
            </a:pPr>
            <a:r>
              <a:t>🧠 PREDICTIVE ML LAYER: Multi-Species Habitat Suitability Index (HSI XGBoost), 2D Sobel thermal fronts &amp; 1,000-particle SAR drift.</a:t>
            </a:r>
          </a:p>
          <a:p>
            <a:pPr>
              <a:defRPr b="1" sz="800">
                <a:solidFill>
                  <a:srgbClr val="D97706"/>
                </a:solidFill>
                <a:latin typeface="Arial"/>
              </a:defRPr>
            </a:pPr>
            <a:r>
              <a:t>📍 DYNAMIC OPTIMIZATION: Modified A* navigational pathfinder navigating through time-varying 2D risk-cost surface meshes.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42816"/>
            <a:ext cx="11091672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50">
                <a:solidFill>
                  <a:srgbClr val="10B981"/>
                </a:solidFill>
                <a:latin typeface="Arial"/>
              </a:defRPr>
            </a:pPr>
            <a:r>
              <a:t>TIER 4: NON-BYPASSABLE SAFETY CIRCUIT BREAKER (&lt;10ms Pure Python, Zero Hallucination)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All physical safety checks and active cyclone overrides execute as deterministic compiled code. LLM models sit strictly downstream for plain-language vernacular voice translation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93208"/>
            <a:ext cx="1109167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50">
                <a:solidFill>
                  <a:srgbClr val="0A2540"/>
                </a:solidFill>
                <a:latin typeface="Arial"/>
              </a:defRPr>
            </a:pPr>
            <a:r>
              <a:t>TIER 5: MULTI-CHANNEL OPERATIONAL DISPATCH &amp; SIDEBAR TELEMETRY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• Fisherman PWA &amp; LoRa Voice Device: Actionable safety verdict dial, optimized 4-point waypoints, offline voice guidance.</a:t>
            </a:r>
            <a:br/>
            <a:r>
              <a:t>• Fleet Web &amp; Coast Guard Command: Real-time dark-fleet AIS anomaly detection, harbor fleet congestion &amp; SAR drift tracking.</a:t>
            </a:r>
            <a:br/>
            <a:r>
              <a:t>• Production Resilience Sidebar: Automated TTL Freshness Checks (&lt;30m), Provider Failover Cascade &amp; Provenance Weighting.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“PHYSICS + AI + OPTIMIZATION. EACH DOES WHAT IT IS GOOD AT.”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Strict architectural separation: Physics constrains, ML predicts, A* optimizes, and deterministic safety governs.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3520440" cy="39776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150"/>
              </a:spcAft>
              <a:defRPr b="1" sz="950">
                <a:solidFill>
                  <a:srgbClr val="10B981"/>
                </a:solidFill>
                <a:latin typeface="Arial"/>
              </a:defRPr>
            </a:pPr>
            <a:r>
              <a:t>⚙️ DETERMINISTIC PHYSICS</a:t>
            </a:r>
          </a:p>
          <a:p>
            <a:pPr>
              <a:spcAft>
                <a:spcPts val="500"/>
              </a:spcAft>
              <a:defRPr b="1" sz="750">
                <a:solidFill>
                  <a:srgbClr val="0A2540"/>
                </a:solidFill>
                <a:latin typeface="Arial"/>
              </a:defRPr>
            </a:pPr>
            <a:r>
              <a:t>“KNOWS THE RULES (CONSTRAIN)”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Critical Wave Limit: </a:t>
            </a:r>
            <a:r>
              <a:rPr sz="750">
                <a:solidFill>
                  <a:srgbClr val="334155"/>
                </a:solidFill>
                <a:latin typeface="Arial"/>
              </a:rPr>
              <a:t>Hcrit ≈ 0.6 · Lhull threshold prevents capsizing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Wave Steepness Ratio: </a:t>
            </a:r>
            <a:r>
              <a:rPr sz="750">
                <a:solidFill>
                  <a:srgbClr val="334155"/>
                </a:solidFill>
                <a:latin typeface="Arial"/>
              </a:rPr>
              <a:t>S = Hs / λ calculated dynamically from wave spectra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Beam-Sea Encounter: </a:t>
            </a:r>
            <a:r>
              <a:rPr sz="750">
                <a:solidFill>
                  <a:srgbClr val="334155"/>
                </a:solidFill>
                <a:latin typeface="Arial"/>
              </a:rPr>
              <a:t>Identifies roll resonance &amp; parametric broaching risk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Geofenced Boundaries: </a:t>
            </a:r>
            <a:r>
              <a:rPr sz="750">
                <a:solidFill>
                  <a:srgbClr val="334155"/>
                </a:solidFill>
                <a:latin typeface="Arial"/>
              </a:rPr>
              <a:t>Hard stop on Marine Protected Areas &amp; international borders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188720"/>
            <a:ext cx="3520440" cy="3977639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150"/>
              </a:spcAft>
              <a:defRPr b="1" sz="950">
                <a:solidFill>
                  <a:srgbClr val="0284C7"/>
                </a:solidFill>
                <a:latin typeface="Arial"/>
              </a:defRPr>
            </a:pPr>
            <a:r>
              <a:t>🧠 PREDICTIVE MACHINE LEARNING</a:t>
            </a:r>
          </a:p>
          <a:p>
            <a:pPr>
              <a:spcAft>
                <a:spcPts val="500"/>
              </a:spcAft>
              <a:defRPr b="1" sz="750">
                <a:solidFill>
                  <a:srgbClr val="0A2540"/>
                </a:solidFill>
                <a:latin typeface="Arial"/>
              </a:defRPr>
            </a:pPr>
            <a:r>
              <a:t>“FINDS PATTERNS (PREDICT)”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Multi-Species HSI: </a:t>
            </a:r>
            <a:r>
              <a:rPr sz="750">
                <a:solidFill>
                  <a:srgbClr val="334155"/>
                </a:solidFill>
                <a:latin typeface="Arial"/>
              </a:rPr>
              <a:t>XGBoost model predicts Bangda, Surmai &amp; Pomfret zones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Sobel Thermal Fronts: </a:t>
            </a:r>
            <a:r>
              <a:rPr sz="750">
                <a:solidFill>
                  <a:srgbClr val="334155"/>
                </a:solidFill>
                <a:latin typeface="Arial"/>
              </a:rPr>
              <a:t>2D spatial filtering identifies productive SST boundaries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SAR Anomaly Matching: </a:t>
            </a:r>
            <a:r>
              <a:rPr sz="750">
                <a:solidFill>
                  <a:srgbClr val="334155"/>
                </a:solidFill>
                <a:latin typeface="Arial"/>
              </a:rPr>
              <a:t>Flags dark vessels turning off AIS transponders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Monte Carlo SAR Drift: </a:t>
            </a:r>
            <a:r>
              <a:rPr sz="750">
                <a:solidFill>
                  <a:srgbClr val="334155"/>
                </a:solidFill>
                <a:latin typeface="Arial"/>
              </a:rPr>
              <a:t>1,000-particle stochastic simulation for rescue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188720"/>
            <a:ext cx="3520440" cy="3977639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150"/>
              </a:spcAft>
              <a:defRPr b="1" sz="950">
                <a:solidFill>
                  <a:srgbClr val="D97706"/>
                </a:solidFill>
                <a:latin typeface="Arial"/>
              </a:defRPr>
            </a:pPr>
            <a:r>
              <a:t>📍 GRAPH OPTIMIZATION (A*)</a:t>
            </a:r>
          </a:p>
          <a:p>
            <a:pPr>
              <a:spcAft>
                <a:spcPts val="500"/>
              </a:spcAft>
              <a:defRPr b="1" sz="750">
                <a:solidFill>
                  <a:srgbClr val="0A2540"/>
                </a:solidFill>
                <a:latin typeface="Arial"/>
              </a:defRPr>
            </a:pPr>
            <a:r>
              <a:t>“FINDS THE PATH (OPTIMIZE)”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2D Risk Cost Surface: </a:t>
            </a:r>
            <a:r>
              <a:rPr sz="750">
                <a:solidFill>
                  <a:srgbClr val="334155"/>
                </a:solidFill>
                <a:latin typeface="Arial"/>
              </a:rPr>
              <a:t>Dynamic mesh where hazardous sea cells have infinite cost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4-Point Waypoints: </a:t>
            </a:r>
            <a:r>
              <a:rPr sz="750">
                <a:solidFill>
                  <a:srgbClr val="334155"/>
                </a:solidFill>
                <a:latin typeface="Arial"/>
              </a:rPr>
              <a:t>Generates fuel-optimal path circumnavigating storm pockets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Current Assist Optimization: </a:t>
            </a:r>
            <a:r>
              <a:rPr sz="750">
                <a:solidFill>
                  <a:srgbClr val="334155"/>
                </a:solidFill>
                <a:latin typeface="Arial"/>
              </a:rPr>
              <a:t>Leverages ocean surface drift velocity to save diesel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• Harbor Dock Allocation: </a:t>
            </a:r>
            <a:r>
              <a:rPr sz="750">
                <a:solidFill>
                  <a:srgbClr val="334155"/>
                </a:solidFill>
                <a:latin typeface="Arial"/>
              </a:rPr>
              <a:t>Optimizes arrival harbor based on catch ROI &amp; congestion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30368"/>
            <a:ext cx="11091672" cy="100584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900">
                <a:solidFill>
                  <a:srgbClr val="06B6D4"/>
                </a:solidFill>
                <a:latin typeface="Arial"/>
              </a:defRPr>
            </a:pPr>
            <a:r>
              <a:t>AI SAFETY GOVERNANCE: “INTELLIGENCE IS ALLOWED. SAFETY OVERRIDE IS NOT.”</a:t>
            </a:r>
          </a:p>
          <a:p>
            <a:r>
              <a:rPr b="1" sz="750">
                <a:solidFill>
                  <a:srgbClr val="E11D48"/>
                </a:solidFill>
                <a:latin typeface="Arial"/>
              </a:rPr>
              <a:t>STRICT SAFETY BOUNDARIES:  </a:t>
            </a:r>
            <a:r>
              <a:rPr b="1" sz="750">
                <a:solidFill>
                  <a:srgbClr val="FFFFFF"/>
                </a:solidFill>
                <a:latin typeface="Arial"/>
              </a:rPr>
              <a:t>LLM ──X──&gt; SAFETY  |  ML ──X──&gt; OVERRIDE  |  A* ──X──&gt; PHYSICAL LIMIT
</a:t>
            </a:r>
            <a:r>
              <a:rPr b="1" sz="750">
                <a:solidFill>
                  <a:srgbClr val="10B981"/>
                </a:solidFill>
                <a:latin typeface="Arial"/>
              </a:rPr>
              <a:t>Downstream Role: </a:t>
            </a:r>
            <a:r>
              <a:rPr sz="750">
                <a:solidFill>
                  <a:srgbClr val="CBD5E1"/>
                </a:solidFill>
                <a:latin typeface="Arial"/>
              </a:rPr>
              <a:t>LLM is strictly constrained to voice intent parsing (Speech ➔ JSON) and multilingual explanation synthesis (JSON ➔ Vernacular Audio).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“FROM LOCATION TO DECISION: LIVE COMMAND LOOP”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Live simulation loop demonstrating how ORCA processes a 9m FRP craft navigating from Kanyakumari.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32004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  <a:defRPr b="1" sz="900">
                <a:solidFill>
                  <a:srgbClr val="0A2540"/>
                </a:solidFill>
                <a:latin typeface="Arial"/>
              </a:defRPr>
            </a:pPr>
            <a:r>
              <a:t>1. LIVE TELEMETRY &amp; VESSEL PROFILE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Location:
</a:t>
            </a:r>
            <a:r>
              <a:rPr sz="750">
                <a:solidFill>
                  <a:srgbClr val="334155"/>
                </a:solidFill>
                <a:latin typeface="Arial"/>
              </a:rPr>
              <a:t>  Kanyakumari Harbor (8.08°N, 77.55°E)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Vessel Hull:
</a:t>
            </a:r>
            <a:r>
              <a:rPr sz="750">
                <a:solidFill>
                  <a:srgbClr val="334155"/>
                </a:solidFill>
                <a:latin typeface="Arial"/>
              </a:rPr>
              <a:t>  9m FRP Artisanal Gillnetter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Wave Height (Hs):
</a:t>
            </a:r>
            <a:r>
              <a:rPr sz="750">
                <a:solidFill>
                  <a:srgbClr val="334155"/>
                </a:solidFill>
                <a:latin typeface="Arial"/>
              </a:rPr>
              <a:t>  2.8 m [Open-Meteo Feed]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Swell Period (Tp):
</a:t>
            </a:r>
            <a:r>
              <a:rPr sz="750">
                <a:solidFill>
                  <a:srgbClr val="334155"/>
                </a:solidFill>
                <a:latin typeface="Arial"/>
              </a:rPr>
              <a:t>  8.2 s [INCOIS Buoy]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Wind Velocity:
</a:t>
            </a:r>
            <a:r>
              <a:rPr sz="750">
                <a:solidFill>
                  <a:srgbClr val="334155"/>
                </a:solidFill>
                <a:latin typeface="Arial"/>
              </a:rPr>
              <a:t>  24 kts (Gusts: 31 kts)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Critical Wave (Hcrit):
</a:t>
            </a:r>
            <a:r>
              <a:rPr sz="750">
                <a:solidFill>
                  <a:srgbClr val="334155"/>
                </a:solidFill>
                <a:latin typeface="Arial"/>
              </a:rPr>
              <a:t>  5.4 m (Hcrit = 0.6 · 9m)</a:t>
            </a:r>
          </a:p>
          <a:p>
            <a:pPr>
              <a:spcAft>
                <a:spcPts val="2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Physics Result:
</a:t>
            </a:r>
            <a:r>
              <a:rPr sz="750">
                <a:solidFill>
                  <a:srgbClr val="334155"/>
                </a:solidFill>
                <a:latin typeface="Arial"/>
              </a:rPr>
              <a:t>  Hcrit &gt; Hs (Safe from direct capsize)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188720"/>
            <a:ext cx="4389120" cy="32004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  <a:defRPr b="1" sz="900">
                <a:solidFill>
                  <a:srgbClr val="0284C7"/>
                </a:solidFill>
                <a:latin typeface="Arial"/>
              </a:defRPr>
            </a:pPr>
            <a:r>
              <a:t>2. MARITIME COMMAND MAP: DYNAMIC ROUTE</a:t>
            </a:r>
          </a:p>
          <a:p>
            <a:pPr>
              <a:defRPr b="1" sz="800">
                <a:solidFill>
                  <a:srgbClr val="0A2540"/>
                </a:solidFill>
                <a:latin typeface="Arial"/>
              </a:defRPr>
            </a:pPr>
            <a:r>
              <a:t>📍 KANYAKUMARI HARBOR (Departure Point)</a:t>
            </a:r>
            <a:br/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   |─── ❌ Direct Route: Intersects Shallow Reef Breaker Zone (Risk Score: 0.88)</a:t>
            </a:r>
            <a:br/>
            <a:r>
              <a:t>   └─── ✅ ORCA A* Diversion: +3.2 NM East (Risk Score: 0.24, Fuel Est: 14.2 L)</a:t>
            </a:r>
            <a:br/>
          </a:p>
          <a:p>
            <a:pPr>
              <a:defRPr b="1" sz="800">
                <a:solidFill>
                  <a:srgbClr val="10B981"/>
                </a:solidFill>
                <a:latin typeface="Arial"/>
              </a:defRPr>
            </a:pPr>
            <a:r>
              <a:t>🏁 PELAGIC TARGET ZONE (HSI Score: 0.82 High Yield)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480560"/>
            <a:ext cx="438912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850">
                <a:solidFill>
                  <a:srgbClr val="0A2540"/>
                </a:solidFill>
                <a:latin typeface="Arial"/>
              </a:defRPr>
            </a:pPr>
            <a:r>
              <a:t>BENCHMARK PERFORMANCE [SIMULATION]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End-to-End DAG Latency: </a:t>
            </a:r>
            <a:r>
              <a:rPr sz="700">
                <a:solidFill>
                  <a:srgbClr val="334155"/>
                </a:solidFill>
                <a:latin typeface="Arial"/>
              </a:rPr>
              <a:t>&lt; 85 ms (FastAPI + SQLite WAL)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Safety Circuit Breaker: </a:t>
            </a:r>
            <a:r>
              <a:rPr sz="700">
                <a:solidFill>
                  <a:srgbClr val="334155"/>
                </a:solidFill>
                <a:latin typeface="Arial"/>
              </a:rPr>
              <a:t>&lt; 8 ms (Pure Python Deterministic)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0284C7"/>
                </a:solidFill>
                <a:latin typeface="Arial"/>
              </a:rPr>
              <a:t>• A* Pathfinder Compute: </a:t>
            </a:r>
            <a:r>
              <a:rPr sz="700">
                <a:solidFill>
                  <a:srgbClr val="334155"/>
                </a:solidFill>
                <a:latin typeface="Arial"/>
              </a:rPr>
              <a:t>&lt; 35 ms (100x100 Spatial Cost Grid)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88720"/>
            <a:ext cx="3136392" cy="5074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  <a:defRPr b="1" sz="950">
                <a:solidFill>
                  <a:srgbClr val="D97706"/>
                </a:solidFill>
                <a:latin typeface="Arial"/>
              </a:defRPr>
            </a:pPr>
            <a:r>
              <a:t>3. OPERATIONAL DECISION</a:t>
            </a:r>
          </a:p>
          <a:p>
            <a:pPr>
              <a:spcAft>
                <a:spcPts val="400"/>
              </a:spcAft>
              <a:defRPr b="1" sz="850">
                <a:solidFill>
                  <a:srgbClr val="0A2540"/>
                </a:solidFill>
                <a:latin typeface="Arial"/>
              </a:defRPr>
            </a:pPr>
            <a:r>
              <a:t>STATUS: PROCEED WITH CAUTION</a:t>
            </a:r>
            <a:br/>
            <a:r>
              <a:t>Risk Score: 0.24 / 1.00 (Safe with Diversion)</a:t>
            </a:r>
            <a:br/>
          </a:p>
          <a:p>
            <a:pPr>
              <a:spcAft>
                <a:spcPts val="400"/>
              </a:spcAft>
              <a:defRPr sz="750">
                <a:solidFill>
                  <a:srgbClr val="0F172A"/>
                </a:solidFill>
                <a:latin typeface="Arial"/>
              </a:defRPr>
            </a:pPr>
            <a:r>
              <a:t>📢 TAMIL AUDIO ADVISORY:</a:t>
            </a:r>
            <a:br/>
            <a:r>
              <a:t>“கவனமாக செல்லவும். ஆழமற்ற பவளப்பாறை அலைகளை தவிர்க்க 3.2 கடல் மைல் கிழக்கு நோக்கி செல்லவும்.”</a:t>
            </a:r>
            <a:br/>
          </a:p>
          <a:p>
            <a:pPr>
              <a:defRPr b="1" sz="750">
                <a:solidFill>
                  <a:srgbClr val="0A2540"/>
                </a:solidFill>
                <a:latin typeface="Arial"/>
              </a:defRPr>
            </a:pPr>
            <a:r>
              <a:t>🔄 LIVE DECISION LOOP:</a:t>
            </a:r>
            <a:br/>
            <a:r>
              <a:t>Changing Wave Height, Vessel Size, or Heading triggers instant recalculation (&lt;85ms).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“DESIGNED FOR WHEN THE SYSTEM IS WRONG”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Hostile maritime failure modes converge into the ORCA Resilience Core: When data becomes uncertain, the system becomes more conservative.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5120640" cy="3977639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E11D48"/>
                </a:solidFill>
                <a:latin typeface="Arial"/>
              </a:defRPr>
            </a:pPr>
            <a:r>
              <a:t>HOSTILE SEA FAILURE CONDITIONS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⚠️ 1. Stale Ocean Telemetry: </a:t>
            </a:r>
            <a:r>
              <a:rPr sz="750">
                <a:solidFill>
                  <a:srgbClr val="334155"/>
                </a:solidFill>
                <a:latin typeface="Arial"/>
              </a:rPr>
              <a:t>Forecast timestamp older than 3 hours or satellite pass delayed.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⚠️ 2. API Provider Outage: </a:t>
            </a:r>
            <a:r>
              <a:rPr sz="750">
                <a:solidFill>
                  <a:srgbClr val="334155"/>
                </a:solidFill>
                <a:latin typeface="Arial"/>
              </a:rPr>
              <a:t>INCOIS / Open-Meteo REST endpoints return HTTP 500 or timeout.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⚠️ 3. Model Disagreement: </a:t>
            </a:r>
            <a:r>
              <a:rPr sz="750">
                <a:solidFill>
                  <a:srgbClr val="334155"/>
                </a:solidFill>
                <a:latin typeface="Arial"/>
              </a:rPr>
              <a:t>IMD predicts 18 kt wind while ECMWF model indicates 32 kt gusts.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⚠️ 4. Offshore Signal Blackout: </a:t>
            </a:r>
            <a:r>
              <a:rPr sz="750">
                <a:solidFill>
                  <a:srgbClr val="334155"/>
                </a:solidFill>
                <a:latin typeface="Arial"/>
              </a:rPr>
              <a:t>Vessel sails past 12 NM territorial limit; GSM cellular signal dies.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⚠️ 5. Onboard Sensor Failure: </a:t>
            </a:r>
            <a:r>
              <a:rPr sz="750">
                <a:solidFill>
                  <a:srgbClr val="334155"/>
                </a:solidFill>
                <a:latin typeface="Arial"/>
              </a:rPr>
              <a:t>GPS or pitch-roll IMU disconnects or outputs erratic 5-sigma noise.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F172A"/>
                </a:solidFill>
                <a:latin typeface="Arial"/>
              </a:rPr>
              <a:t>⚠️ 6. ML Out-of-Distribution: </a:t>
            </a:r>
            <a:r>
              <a:rPr sz="750">
                <a:solidFill>
                  <a:srgbClr val="334155"/>
                </a:solidFill>
                <a:latin typeface="Arial"/>
              </a:rPr>
              <a:t>Extreme unpredicted atmospheric event triggers high ML uncertainty.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188720"/>
            <a:ext cx="5788152" cy="3977639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10B981"/>
                </a:solidFill>
                <a:latin typeface="Arial"/>
              </a:defRPr>
            </a:pPr>
            <a:r>
              <a:t>ORCA RESILIENCE FIREWALL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🛡️ TTL Freshness Check (&lt;30m): </a:t>
            </a:r>
            <a:r>
              <a:rPr sz="750">
                <a:solidFill>
                  <a:srgbClr val="334155"/>
                </a:solidFill>
                <a:latin typeface="Arial"/>
              </a:rPr>
              <a:t>Automatically flags stale data; applies conservative wave safety buffers.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🛡️ Provider Failover Cascade: </a:t>
            </a:r>
            <a:r>
              <a:rPr sz="750">
                <a:solidFill>
                  <a:srgbClr val="334155"/>
                </a:solidFill>
                <a:latin typeface="Arial"/>
              </a:rPr>
              <a:t>Automated failover: INCOIS ERDDAP ➔ Open-Meteo Marine ➔ MOSDAC Backup.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🛡️ Provenance &amp; Confidence Bounds: </a:t>
            </a:r>
            <a:r>
              <a:rPr sz="750">
                <a:solidFill>
                  <a:srgbClr val="334155"/>
                </a:solidFill>
                <a:latin typeface="Arial"/>
              </a:rPr>
              <a:t>Calculates ensemble disagreement; defaults to highest-risk scenario.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🛡️ Multi-Hop LoRa Fleet Mesh: </a:t>
            </a:r>
            <a:r>
              <a:rPr sz="750">
                <a:solidFill>
                  <a:srgbClr val="334155"/>
                </a:solidFill>
                <a:latin typeface="Arial"/>
              </a:rPr>
              <a:t>Vessels relay 16-byte emergency packets across 3-8 km hops to lighthouse.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🛡️ Kalman Filter Sensor Sanity: </a:t>
            </a:r>
            <a:r>
              <a:rPr sz="750">
                <a:solidFill>
                  <a:srgbClr val="334155"/>
                </a:solidFill>
                <a:latin typeface="Arial"/>
              </a:rPr>
              <a:t>Rejects IMU spikes &gt; 3 sigma; falls back to static vessel stability limits.</a:t>
            </a:r>
          </a:p>
          <a:p>
            <a:pPr>
              <a:spcAft>
                <a:spcPts val="25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🛡️ 100% Deterministic Override: </a:t>
            </a:r>
            <a:r>
              <a:rPr sz="750">
                <a:solidFill>
                  <a:srgbClr val="334155"/>
                </a:solidFill>
                <a:latin typeface="Arial"/>
              </a:rPr>
              <a:t>Zero AI in safety gate; pure compiled physical logic enforces non-negotiable stop.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1091672" cy="96012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1100">
                <a:solidFill>
                  <a:srgbClr val="FFFFFF"/>
                </a:solidFill>
                <a:latin typeface="Arial"/>
              </a:defRPr>
            </a:pPr>
            <a:r>
              <a:t>“WHEN DATA BECOMES UNCERTAIN, THE SYSTEM BECOMES MORE CONSERVATIVE.”</a:t>
            </a:r>
          </a:p>
          <a:p>
            <a:pPr algn="ctr">
              <a:defRPr sz="800">
                <a:solidFill>
                  <a:srgbClr val="CBD5E1"/>
                </a:solidFill>
                <a:latin typeface="Arial"/>
              </a:defRPr>
            </a:pPr>
            <a:r>
              <a:t>BAD DATA ≠ FALSE CONFIDENCE. ORCA degrades safely to physical upper bounds rather than risking mariner lives on unverified AI inferences.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“FROM PROTOTYPE TO COASTAL INFRASTRUCTURE”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Three-pillar scaling model: Verified software milestones, low-cost LoRa mesh deployment, and ₹3,500 per-boat BOM economics.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11091672" cy="5943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50">
                <a:solidFill>
                  <a:srgbClr val="06B6D4"/>
                </a:solidFill>
                <a:latin typeface="Arial"/>
              </a:defRPr>
            </a:pPr>
            <a:r>
              <a:t>NATIONAL SCALE PROGRESSION JOURNEY</a:t>
            </a:r>
          </a:p>
          <a:p>
            <a:pPr>
              <a:defRPr b="1" sz="800">
                <a:solidFill>
                  <a:srgbClr val="FFFFFF"/>
                </a:solidFill>
                <a:latin typeface="Arial"/>
              </a:defRPr>
            </a:pPr>
            <a:r>
              <a:t>1 ARTISANAL VESSEL  ➔  HARBOR FLEET (500+)  ➔  COASTAL STATE  ➔  PAN-INDIA MARITIME DIGITAL TWIN LAYER (7,516 KM)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32918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b="1" sz="900">
                <a:solidFill>
                  <a:srgbClr val="0A2540"/>
                </a:solidFill>
                <a:latin typeface="Arial"/>
              </a:defRPr>
            </a:pPr>
            <a:r>
              <a:t>ZONE 1: VERIFIED ROADMAP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✓ END-TO-END PROTOTYPE
</a:t>
            </a:r>
            <a:r>
              <a:rPr sz="700">
                <a:solidFill>
                  <a:srgbClr val="334155"/>
                </a:solidFill>
                <a:latin typeface="Arial"/>
              </a:rPr>
              <a:t>FastAPI + React MapLibre working architecture [BUILT]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✓ MULTI-SOURCE INGESTION
</a:t>
            </a:r>
            <a:r>
              <a:rPr sz="700">
                <a:solidFill>
                  <a:srgbClr val="334155"/>
                </a:solidFill>
                <a:latin typeface="Arial"/>
              </a:rPr>
              <a:t>Open-Meteo, IMD, MOSDAC pipelines active [BUILT]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✓ DETERMINISTIC RISK ENGINE
</a:t>
            </a:r>
            <a:r>
              <a:rPr sz="700">
                <a:solidFill>
                  <a:srgbClr val="334155"/>
                </a:solidFill>
                <a:latin typeface="Arial"/>
              </a:rPr>
              <a:t>Physical capsizing &amp; Hcrit circuit breaker [BUILT]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0B981"/>
                </a:solidFill>
                <a:latin typeface="Arial"/>
              </a:rPr>
              <a:t>✓ DYNAMIC A* PATHFINDER
</a:t>
            </a:r>
            <a:r>
              <a:rPr sz="700">
                <a:solidFill>
                  <a:srgbClr val="334155"/>
                </a:solidFill>
                <a:latin typeface="Arial"/>
              </a:rPr>
              <a:t>Time-varying 2D risk surface routing [BUILT]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D97706"/>
                </a:solidFill>
                <a:latin typeface="Arial"/>
              </a:rPr>
              <a:t>◐ HARBOR PILOT TRIAL
</a:t>
            </a:r>
            <a:r>
              <a:rPr sz="700">
                <a:solidFill>
                  <a:srgbClr val="334155"/>
                </a:solidFill>
                <a:latin typeface="Arial"/>
              </a:rPr>
              <a:t>Kanyakumari &amp; Munambam field trials [IN PROGRESS]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64748B"/>
                </a:solidFill>
                <a:latin typeface="Arial"/>
              </a:rPr>
              <a:t>◌ PAN-INDIA EXPANSION
</a:t>
            </a:r>
            <a:r>
              <a:rPr sz="700">
                <a:solidFill>
                  <a:srgbClr val="334155"/>
                </a:solidFill>
                <a:latin typeface="Arial"/>
              </a:rPr>
              <a:t>Integration across 9 coastal states &amp; Satcom [PLANNED]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874519"/>
            <a:ext cx="38404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b="1" sz="900">
                <a:solidFill>
                  <a:srgbClr val="0284C7"/>
                </a:solidFill>
                <a:latin typeface="Arial"/>
              </a:defRPr>
            </a:pPr>
            <a:r>
              <a:t>ZONE 2: DEPLOYMENT ARCHITECTURE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1. Vessel Edge Node
</a:t>
            </a:r>
            <a:r>
              <a:rPr sz="700">
                <a:solidFill>
                  <a:srgbClr val="334155"/>
                </a:solidFill>
                <a:latin typeface="Arial"/>
              </a:rPr>
              <a:t>Low-power ESP32 MCU + LoRa SX1262 transceiver + GPS NEO-6M.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2. Fleet Ad-Hoc Relay
</a:t>
            </a:r>
            <a:r>
              <a:rPr sz="700">
                <a:solidFill>
                  <a:srgbClr val="334155"/>
                </a:solidFill>
                <a:latin typeface="Arial"/>
              </a:rPr>
              <a:t>Boats spaced 3–8 km apart form a dynamic peer-to-peer radio mesh.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3. Coastal Lighthouse Mast
</a:t>
            </a:r>
            <a:r>
              <a:rPr sz="700">
                <a:solidFill>
                  <a:srgbClr val="334155"/>
                </a:solidFill>
                <a:latin typeface="Arial"/>
              </a:rPr>
              <a:t>60m lighthouse receiver with line-of-sight reach of 33.8 km to boats.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4. ORCA Fast Cloud Engine
</a:t>
            </a:r>
            <a:r>
              <a:rPr sz="700">
                <a:solidFill>
                  <a:srgbClr val="334155"/>
                </a:solidFill>
                <a:latin typeface="Arial"/>
              </a:rPr>
              <a:t>Ingests 16-byte binary packets; executes A* &amp; HSI in &lt;85ms.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5. Dual User Interface
</a:t>
            </a:r>
            <a:r>
              <a:rPr sz="700">
                <a:solidFill>
                  <a:srgbClr val="334155"/>
                </a:solidFill>
                <a:latin typeface="Arial"/>
              </a:rPr>
              <a:t>Offline PWA for fishers; real-time dashboard for Coast Guard.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593592" cy="4343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b="1" sz="900">
                <a:solidFill>
                  <a:srgbClr val="10B981"/>
                </a:solidFill>
                <a:latin typeface="Arial"/>
              </a:defRPr>
            </a:pPr>
            <a:r>
              <a:t>ZONE 3: ECONOMICS &amp; BOM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0F172A"/>
                </a:solidFill>
                <a:latin typeface="Arial"/>
              </a:rPr>
              <a:t>• ESP32 MCU + LoRa SX1262: </a:t>
            </a:r>
            <a:r>
              <a:rPr b="1" sz="750">
                <a:solidFill>
                  <a:srgbClr val="0284C7"/>
                </a:solidFill>
                <a:latin typeface="Arial"/>
              </a:rPr>
              <a:t>₹1,800 (~$22)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0F172A"/>
                </a:solidFill>
                <a:latin typeface="Arial"/>
              </a:rPr>
              <a:t>• GPS NEO-6M Receiver: </a:t>
            </a:r>
            <a:r>
              <a:rPr b="1" sz="750">
                <a:solidFill>
                  <a:srgbClr val="0284C7"/>
                </a:solidFill>
                <a:latin typeface="Arial"/>
              </a:rPr>
              <a:t>₹600 (~$7)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0F172A"/>
                </a:solidFill>
                <a:latin typeface="Arial"/>
              </a:rPr>
              <a:t>• IP67 Enclosure + Solar Panel: </a:t>
            </a:r>
            <a:r>
              <a:rPr b="1" sz="750">
                <a:solidFill>
                  <a:srgbClr val="0284C7"/>
                </a:solidFill>
                <a:latin typeface="Arial"/>
              </a:rPr>
              <a:t>₹1,100 (~$13)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0F172A"/>
                </a:solidFill>
                <a:latin typeface="Arial"/>
              </a:rPr>
              <a:t>• Total Hardware Cost / Boat: </a:t>
            </a:r>
            <a:r>
              <a:rPr b="1" sz="750">
                <a:solidFill>
                  <a:srgbClr val="10B981"/>
                </a:solidFill>
                <a:latin typeface="Arial"/>
              </a:rPr>
              <a:t>≈ ₹3,500 ($42) [INDICATIVE]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0F172A"/>
                </a:solidFill>
                <a:latin typeface="Arial"/>
              </a:rPr>
              <a:t>• Public Data Ingestion Cost: </a:t>
            </a:r>
            <a:r>
              <a:rPr b="1" sz="750">
                <a:solidFill>
                  <a:srgbClr val="10B981"/>
                </a:solidFill>
                <a:latin typeface="Arial"/>
              </a:rPr>
              <a:t>₹0 (Open INCOIS &amp; MOSDAC)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0F172A"/>
                </a:solidFill>
                <a:latin typeface="Arial"/>
              </a:rPr>
              <a:t>• Serverless Compute / Trip: </a:t>
            </a:r>
            <a:r>
              <a:rPr b="1" sz="750">
                <a:solidFill>
                  <a:srgbClr val="10B981"/>
                </a:solidFill>
                <a:latin typeface="Arial"/>
              </a:rPr>
              <a:t>₹0.04 per assessment [ESTIMATE]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A2540"/>
                </a:solidFill>
                <a:latin typeface="Arial"/>
              </a:rPr>
              <a:t>
THREE-PILLAR SUMMARY:
</a:t>
            </a:r>
            <a:r>
              <a:rPr sz="700">
                <a:solidFill>
                  <a:srgbClr val="334155"/>
                </a:solidFill>
                <a:latin typeface="Arial"/>
              </a:rPr>
              <a:t>FAST (&lt;85ms Engine) | CHEAP (~₹3,500 BOM) | DEMOABLE (Live Loop)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ORCA 4.0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2249424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91440"/>
            <a:ext cx="8001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2540"/>
                </a:solidFill>
                <a:latin typeface="Arial"/>
              </a:defRPr>
            </a:pPr>
            <a:r>
              <a:t>“ONE VESSEL. ONE HARBOR. ONE NATIONAL MARITIME INTELLIGENCE LAYER.”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Transforming academic oceanographic research and space telemetry into sovereign digital infrastructure for India's Blue Economy.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77824"/>
            <a:ext cx="11091672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700" b="0">
                <a:solidFill>
                  <a:srgbClr val="64748B"/>
                </a:solidFill>
                <a:latin typeface="Arial"/>
              </a:rPr>
              <a:t>01 PROBLEM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02 GAP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03 SOLUTION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04 DIFFERENTIATION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05 ARCHITECTURE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06 INTELLIGENCE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07 PROTOTYPE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08 SAFETY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0">
                <a:solidFill>
                  <a:srgbClr val="64748B"/>
                </a:solidFill>
                <a:latin typeface="Arial"/>
              </a:rPr>
              <a:t>09 SCALE</a:t>
            </a:r>
            <a:r>
              <a:rPr sz="650">
                <a:solidFill>
                  <a:srgbClr val="E2E8F0"/>
                </a:solidFill>
                <a:latin typeface="Arial"/>
              </a:rPr>
              <a:t> ─ </a:t>
            </a:r>
            <a:r>
              <a:rPr sz="700" b="1">
                <a:solidFill>
                  <a:srgbClr val="0284C7"/>
                </a:solidFill>
                <a:latin typeface="Arial"/>
              </a:rPr>
              <a:t>10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419088"/>
            <a:ext cx="39593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@SIH Idea submission- Template  ·  ORCA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2651760" cy="16002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00">
                <a:solidFill>
                  <a:srgbClr val="0284C7"/>
                </a:solidFill>
                <a:latin typeface="Arial"/>
              </a:defRPr>
            </a:pPr>
            <a:r>
              <a:t>📚 IMO Code on Intact Stability (2008)</a:t>
            </a:r>
          </a:p>
          <a:p>
            <a:pPr>
              <a:spcAft>
                <a:spcPts val="150"/>
              </a:spcAft>
              <a:defRPr i="1" sz="700">
                <a:solidFill>
                  <a:srgbClr val="64748B"/>
                </a:solidFill>
                <a:latin typeface="Arial"/>
              </a:defRPr>
            </a:pPr>
            <a:r>
              <a:t>Source: Res. MSC.267(85)</a:t>
            </a:r>
          </a:p>
          <a:p>
            <a:r>
              <a:rPr b="1" sz="750">
                <a:solidFill>
                  <a:srgbClr val="0A2540"/>
                </a:solidFill>
                <a:latin typeface="Arial"/>
              </a:rPr>
              <a:t>ORCA Implementation: </a:t>
            </a:r>
            <a:r>
              <a:rPr sz="700">
                <a:solidFill>
                  <a:srgbClr val="334155"/>
                </a:solidFill>
                <a:latin typeface="Arial"/>
              </a:rPr>
              <a:t>Hcrit ≈ 0.6·Lhull capsizing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88720"/>
            <a:ext cx="2651760" cy="160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00">
                <a:solidFill>
                  <a:srgbClr val="10B981"/>
                </a:solidFill>
                <a:latin typeface="Arial"/>
              </a:defRPr>
            </a:pPr>
            <a:r>
              <a:t>📚 Wave Hydrodynamics (Faltinsen)</a:t>
            </a:r>
          </a:p>
          <a:p>
            <a:pPr>
              <a:spcAft>
                <a:spcPts val="150"/>
              </a:spcAft>
              <a:defRPr i="1" sz="700">
                <a:solidFill>
                  <a:srgbClr val="64748B"/>
                </a:solidFill>
                <a:latin typeface="Arial"/>
              </a:defRPr>
            </a:pPr>
            <a:r>
              <a:t>Source: Encounter Physics</a:t>
            </a:r>
          </a:p>
          <a:p>
            <a:r>
              <a:rPr b="1" sz="750">
                <a:solidFill>
                  <a:srgbClr val="0A2540"/>
                </a:solidFill>
                <a:latin typeface="Arial"/>
              </a:rPr>
              <a:t>ORCA Implementation: </a:t>
            </a:r>
            <a:r>
              <a:rPr sz="700">
                <a:solidFill>
                  <a:srgbClr val="334155"/>
                </a:solidFill>
                <a:latin typeface="Arial"/>
              </a:rPr>
              <a:t>Wave steepness (S = Hs/λ) &amp; roll resonance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188720"/>
            <a:ext cx="2651760" cy="160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📚 Satellite Oceanography (INCOIS)</a:t>
            </a:r>
          </a:p>
          <a:p>
            <a:pPr>
              <a:spcAft>
                <a:spcPts val="150"/>
              </a:spcAft>
              <a:defRPr i="1" sz="700">
                <a:solidFill>
                  <a:srgbClr val="64748B"/>
                </a:solidFill>
                <a:latin typeface="Arial"/>
              </a:defRPr>
            </a:pPr>
            <a:r>
              <a:t>Source: MOSDAC Telemetry</a:t>
            </a:r>
          </a:p>
          <a:p>
            <a:r>
              <a:rPr b="1" sz="750">
                <a:solidFill>
                  <a:srgbClr val="0A2540"/>
                </a:solidFill>
                <a:latin typeface="Arial"/>
              </a:rPr>
              <a:t>ORCA Implementation: </a:t>
            </a:r>
            <a:r>
              <a:rPr sz="700">
                <a:solidFill>
                  <a:srgbClr val="334155"/>
                </a:solidFill>
                <a:latin typeface="Arial"/>
              </a:rPr>
              <a:t>Sobel thermal fronts &amp; Multi-species HSI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188720"/>
            <a:ext cx="2651760" cy="16002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800">
                <a:solidFill>
                  <a:srgbClr val="0284C7"/>
                </a:solidFill>
                <a:latin typeface="Arial"/>
              </a:defRPr>
            </a:pPr>
            <a:r>
              <a:t>📚 Dynamic Pathfinding (Modified A*)</a:t>
            </a:r>
          </a:p>
          <a:p>
            <a:pPr>
              <a:spcAft>
                <a:spcPts val="150"/>
              </a:spcAft>
              <a:defRPr i="1" sz="700">
                <a:solidFill>
                  <a:srgbClr val="64748B"/>
                </a:solidFill>
                <a:latin typeface="Arial"/>
              </a:defRPr>
            </a:pPr>
            <a:r>
              <a:t>Source: Risk Cost Surfaces</a:t>
            </a:r>
          </a:p>
          <a:p>
            <a:r>
              <a:rPr b="1" sz="750">
                <a:solidFill>
                  <a:srgbClr val="0A2540"/>
                </a:solidFill>
                <a:latin typeface="Arial"/>
              </a:rPr>
              <a:t>ORCA Implementation: </a:t>
            </a:r>
            <a:r>
              <a:rPr sz="700">
                <a:solidFill>
                  <a:srgbClr val="334155"/>
                </a:solidFill>
                <a:latin typeface="Arial"/>
              </a:rPr>
              <a:t>4-Point waypoint storm avoidance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110916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200"/>
              </a:spcAft>
              <a:defRPr b="1" sz="950">
                <a:solidFill>
                  <a:srgbClr val="0A2540"/>
                </a:solidFill>
                <a:latin typeface="Arial"/>
              </a:defRPr>
            </a:pPr>
            <a:r>
              <a:t>NATIONAL BLUE ECONOMY STAKEHOLDER MULTIPLIER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284C7"/>
                </a:solidFill>
                <a:latin typeface="Arial"/>
              </a:rPr>
              <a:t>🎣 4.5M Artisanal Fishers: </a:t>
            </a:r>
            <a:r>
              <a:rPr sz="750">
                <a:solidFill>
                  <a:srgbClr val="334155"/>
                </a:solidFill>
                <a:latin typeface="Arial"/>
              </a:rPr>
              <a:t>Zero preventable drownings, timely voice warnings in native dialect, precise fishing spots.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284C7"/>
                </a:solidFill>
                <a:latin typeface="Arial"/>
              </a:rPr>
              <a:t>⚓ Harbors &amp; Port Authorities: </a:t>
            </a:r>
            <a:r>
              <a:rPr sz="750">
                <a:solidFill>
                  <a:srgbClr val="334155"/>
                </a:solidFill>
                <a:latin typeface="Arial"/>
              </a:rPr>
              <a:t>Automated safety clearance, harbor fleet congestion management &amp; departure scheduling.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284C7"/>
                </a:solidFill>
                <a:latin typeface="Arial"/>
              </a:rPr>
              <a:t>🚢 Commercial Trawlers: </a:t>
            </a:r>
            <a:r>
              <a:rPr sz="750">
                <a:solidFill>
                  <a:srgbClr val="334155"/>
                </a:solidFill>
                <a:latin typeface="Arial"/>
              </a:rPr>
              <a:t>20–30% fuel savings via current-assisted A* routing; higher pelagic catch ROI.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284C7"/>
                </a:solidFill>
                <a:latin typeface="Arial"/>
              </a:rPr>
              <a:t>🛡️ Coast Guard &amp; NDRF: </a:t>
            </a:r>
            <a:r>
              <a:rPr sz="750">
                <a:solidFill>
                  <a:srgbClr val="334155"/>
                </a:solidFill>
                <a:latin typeface="Arial"/>
              </a:rPr>
              <a:t>Instant Dark-Fleet anomaly matching &amp; 1,000-particle Monte Carlo SAR drift tracking.</a:t>
            </a:r>
          </a:p>
          <a:p>
            <a:pPr>
              <a:spcAft>
                <a:spcPts val="150"/>
              </a:spcAft>
            </a:pPr>
            <a:r>
              <a:rPr b="1" sz="800">
                <a:solidFill>
                  <a:srgbClr val="0284C7"/>
                </a:solidFill>
                <a:latin typeface="Arial"/>
              </a:rPr>
              <a:t>🔬 Oceanographic Scientists: </a:t>
            </a:r>
            <a:r>
              <a:rPr sz="750">
                <a:solidFill>
                  <a:srgbClr val="334155"/>
                </a:solidFill>
                <a:latin typeface="Arial"/>
              </a:rPr>
              <a:t>Crowdsourced ground-truth sea state telemetry across India's 2.37M sq km EEZ.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11091672" cy="178308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“ORCA DOESN’T JUST PREDICT THE OCEAN. IT HELPS PEOPLE DECIDE WHAT TO DO NEXT.”</a:t>
            </a:r>
          </a:p>
          <a:p>
            <a:pPr algn="ctr">
              <a:spcAft>
                <a:spcPts val="4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From a single artisanal fishing boat in Kanyakumari to a sovereign digital intelligence layer for India’s entire 7,516 km coastline.</a:t>
            </a:r>
          </a:p>
          <a:p>
            <a:pPr algn="ctr">
              <a:defRPr sz="850" b="1">
                <a:solidFill>
                  <a:srgbClr val="06B6D4"/>
                </a:solidFill>
                <a:latin typeface="Arial"/>
              </a:defRPr>
            </a:pPr>
            <a:r>
              <a:t>OCEAN  ➔  WEATHER  ➔  VESSEL  ➔  ROUTE  ➔  ORCA  ➔  RISK  ➔ 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