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ctr"/>
            <a:r>
              <a:rPr sz="2200" b="1" i="0">
                <a:solidFill>
                  <a:srgbClr val="F8FAFC"/>
                </a:solidFill>
                <a:latin typeface="Calibri"/>
              </a:rPr>
              <a:t>Maritime Decision Intelligence for Coastal India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sz="800" b="0" i="0">
                <a:solidFill>
                  <a:srgbClr val="F8FAFC"/>
                </a:solidFill>
                <a:latin typeface="Calibri"/>
              </a:rPr>
              <a:t> </a:t>
            </a:r>
          </a:p>
          <a:p>
            <a:pPr algn="ctr"/>
            <a:r>
              <a:rPr sz="1600" b="1" i="0">
                <a:solidFill>
                  <a:srgbClr val="F8FAFC"/>
                </a:solidFill>
                <a:latin typeface="Calibri"/>
              </a:rPr>
              <a:t>Problem Statement ID:  SIH26176</a:t>
            </a:r>
          </a:p>
          <a:p>
            <a:pPr algn="ctr"/>
            <a:r>
              <a:rPr sz="1400" b="0" i="0">
                <a:solidFill>
                  <a:srgbClr val="F8FAFC"/>
                </a:solidFill>
                <a:latin typeface="Calibri"/>
              </a:rPr>
              <a:t>Problem Statement Title:  Smart India Hackathon 2026</a:t>
            </a:r>
          </a:p>
          <a:p>
            <a:pPr algn="ctr"/>
            <a:r>
              <a:rPr sz="1400" b="0" i="0">
                <a:solidFill>
                  <a:srgbClr val="F8FAFC"/>
                </a:solidFill>
                <a:latin typeface="Calibri"/>
              </a:rPr>
              <a:t>Theme:  Marine / Blue Economy  ·  Sponsoring Agency:  ISRO / Department of Space</a:t>
            </a:r>
          </a:p>
          <a:p>
            <a:pPr algn="ctr"/>
            <a:r>
              <a:rPr sz="1400" b="0" i="0">
                <a:solidFill>
                  <a:srgbClr val="F8FAFC"/>
                </a:solidFill>
                <a:latin typeface="Calibri"/>
              </a:rPr>
              <a:t>PS Category:  Software + Hardware  ·  Team ID:  ORCA-04  ·  Team Name:  ORCA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 algn="ctr"/>
            <a:r>
              <a:rPr sz="6000" b="1" i="0">
                <a:solidFill>
                  <a:srgbClr val="F8FAFC"/>
                </a:solidFill>
                <a:latin typeface="Calibri"/>
              </a:rPr>
              <a:t>ORCA 4.0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  <a:p>
            <a:pPr algn="ctr"/>
            <a:r>
              <a:rPr sz="2400" b="0" i="0">
                <a:solidFill>
                  <a:srgbClr val="14B8A6"/>
                </a:solidFill>
                <a:latin typeface="Calibri"/>
              </a:rPr>
              <a:t>From Ocean Data to Safer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14B8A6"/>
                </a:solidFill>
                <a:latin typeface="Calibri"/>
              </a:rPr>
              <a:t>IDEA TITLE</a:t>
            </a:r>
            <a:endParaRPr lang="en-US" b="1" dirty="0">
              <a:solidFill>
                <a:schemeClr val="bg1"/>
              </a:solidFill>
            </a:endParaRPr>
          </a:p>
          <a:p>
            <a:pPr algn="l"/>
            <a:r>
              <a:rPr sz="2000" b="1" i="0">
                <a:solidFill>
                  <a:srgbClr val="F8FAFC"/>
                </a:solidFill>
                <a:latin typeface="Calibri"/>
              </a:rPr>
              <a:t>Proposed Solution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ectangle 15362"/>
          <p:cNvSpPr/>
          <p:nvPr/>
        </p:nvSpPr>
        <p:spPr>
          <a:xfrm>
            <a:off x="502920" y="1325880"/>
            <a:ext cx="1097280" cy="38404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Rectangle 15363"/>
          <p:cNvSpPr/>
          <p:nvPr/>
        </p:nvSpPr>
        <p:spPr>
          <a:xfrm>
            <a:off x="502920" y="1325880"/>
            <a:ext cx="109728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502920" y="132588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WAVES</a:t>
            </a:r>
          </a:p>
        </p:txBody>
      </p:sp>
      <p:sp>
        <p:nvSpPr>
          <p:cNvPr id="15366" name="Rectangle 15365"/>
          <p:cNvSpPr/>
          <p:nvPr/>
        </p:nvSpPr>
        <p:spPr>
          <a:xfrm>
            <a:off x="1691640" y="1325880"/>
            <a:ext cx="1097280" cy="38404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Rectangle 15366"/>
          <p:cNvSpPr/>
          <p:nvPr/>
        </p:nvSpPr>
        <p:spPr>
          <a:xfrm>
            <a:off x="1691640" y="1325880"/>
            <a:ext cx="109728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1691640" y="132588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WIND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2880360" y="1325880"/>
            <a:ext cx="1097280" cy="38404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ectangle 15369"/>
          <p:cNvSpPr/>
          <p:nvPr/>
        </p:nvSpPr>
        <p:spPr>
          <a:xfrm>
            <a:off x="2880360" y="1325880"/>
            <a:ext cx="109728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2880360" y="132588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CURRENTS</a:t>
            </a:r>
          </a:p>
        </p:txBody>
      </p:sp>
      <p:sp>
        <p:nvSpPr>
          <p:cNvPr id="15372" name="Rectangle 15371"/>
          <p:cNvSpPr/>
          <p:nvPr/>
        </p:nvSpPr>
        <p:spPr>
          <a:xfrm>
            <a:off x="4069080" y="1325880"/>
            <a:ext cx="1097280" cy="38404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Rectangle 15372"/>
          <p:cNvSpPr/>
          <p:nvPr/>
        </p:nvSpPr>
        <p:spPr>
          <a:xfrm>
            <a:off x="4069080" y="1325880"/>
            <a:ext cx="109728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TextBox 15373"/>
          <p:cNvSpPr txBox="1"/>
          <p:nvPr/>
        </p:nvSpPr>
        <p:spPr>
          <a:xfrm>
            <a:off x="4069080" y="132588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WEATHER</a:t>
            </a:r>
          </a:p>
        </p:txBody>
      </p:sp>
      <p:sp>
        <p:nvSpPr>
          <p:cNvPr id="15375" name="Rectangle 15374"/>
          <p:cNvSpPr/>
          <p:nvPr/>
        </p:nvSpPr>
        <p:spPr>
          <a:xfrm>
            <a:off x="502920" y="1819656"/>
            <a:ext cx="1097280" cy="38404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Rectangle 15375"/>
          <p:cNvSpPr/>
          <p:nvPr/>
        </p:nvSpPr>
        <p:spPr>
          <a:xfrm>
            <a:off x="502920" y="1819656"/>
            <a:ext cx="109728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502920" y="1819656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CYCLONES</a:t>
            </a:r>
          </a:p>
        </p:txBody>
      </p:sp>
      <p:sp>
        <p:nvSpPr>
          <p:cNvPr id="15378" name="Rectangle 15377"/>
          <p:cNvSpPr/>
          <p:nvPr/>
        </p:nvSpPr>
        <p:spPr>
          <a:xfrm>
            <a:off x="1691640" y="1819656"/>
            <a:ext cx="1097280" cy="38404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Rectangle 15378"/>
          <p:cNvSpPr/>
          <p:nvPr/>
        </p:nvSpPr>
        <p:spPr>
          <a:xfrm>
            <a:off x="1691640" y="1819656"/>
            <a:ext cx="109728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TextBox 15379"/>
          <p:cNvSpPr txBox="1"/>
          <p:nvPr/>
        </p:nvSpPr>
        <p:spPr>
          <a:xfrm>
            <a:off x="1691640" y="1819656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VESSEL</a:t>
            </a:r>
          </a:p>
        </p:txBody>
      </p:sp>
      <p:sp>
        <p:nvSpPr>
          <p:cNvPr id="15381" name="Rectangle 15380"/>
          <p:cNvSpPr/>
          <p:nvPr/>
        </p:nvSpPr>
        <p:spPr>
          <a:xfrm>
            <a:off x="2880360" y="1819656"/>
            <a:ext cx="1097280" cy="38404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Rectangle 15381"/>
          <p:cNvSpPr/>
          <p:nvPr/>
        </p:nvSpPr>
        <p:spPr>
          <a:xfrm>
            <a:off x="2880360" y="1819656"/>
            <a:ext cx="109728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TextBox 15382"/>
          <p:cNvSpPr txBox="1"/>
          <p:nvPr/>
        </p:nvSpPr>
        <p:spPr>
          <a:xfrm>
            <a:off x="2880360" y="1819656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AIS</a:t>
            </a:r>
          </a:p>
        </p:txBody>
      </p:sp>
      <p:sp>
        <p:nvSpPr>
          <p:cNvPr id="15384" name="Rectangle 15383"/>
          <p:cNvSpPr/>
          <p:nvPr/>
        </p:nvSpPr>
        <p:spPr>
          <a:xfrm>
            <a:off x="4069080" y="1819656"/>
            <a:ext cx="1097280" cy="38404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5" name="Rectangle 15384"/>
          <p:cNvSpPr/>
          <p:nvPr/>
        </p:nvSpPr>
        <p:spPr>
          <a:xfrm>
            <a:off x="4069080" y="1819656"/>
            <a:ext cx="109728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TextBox 15385"/>
          <p:cNvSpPr txBox="1"/>
          <p:nvPr/>
        </p:nvSpPr>
        <p:spPr>
          <a:xfrm>
            <a:off x="4069080" y="1819656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ROUTE</a:t>
            </a:r>
          </a:p>
        </p:txBody>
      </p:sp>
      <p:cxnSp>
        <p:nvCxnSpPr>
          <p:cNvPr id="15387" name="Connector 15386"/>
          <p:cNvCxnSpPr/>
          <p:nvPr/>
        </p:nvCxnSpPr>
        <p:spPr>
          <a:xfrm>
            <a:off x="5212080" y="1920240"/>
            <a:ext cx="1280160" cy="0"/>
          </a:xfrm>
          <a:prstGeom prst="line">
            <a:avLst/>
          </a:prstGeom>
          <a:ln w="3175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8" name="Rectangle 15387"/>
          <p:cNvSpPr/>
          <p:nvPr/>
        </p:nvSpPr>
        <p:spPr>
          <a:xfrm>
            <a:off x="6492240" y="1325880"/>
            <a:ext cx="5029200" cy="2011680"/>
          </a:xfrm>
          <a:prstGeom prst="rect">
            <a:avLst/>
          </a:prstGeom>
          <a:solidFill>
            <a:srgbClr val="041020"/>
          </a:solidFill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6492240" y="1417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4B8A6"/>
                </a:solidFill>
                <a:latin typeface="Calibri"/>
              </a:rPr>
              <a:t>ORCA 4.0  INTELLIGENCE ENGINE</a:t>
            </a:r>
          </a:p>
        </p:txBody>
      </p:sp>
      <p:sp>
        <p:nvSpPr>
          <p:cNvPr id="15390" name="Rectangle 15389"/>
          <p:cNvSpPr/>
          <p:nvPr/>
        </p:nvSpPr>
        <p:spPr>
          <a:xfrm>
            <a:off x="6537960" y="1920240"/>
            <a:ext cx="914400" cy="86868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1" name="TextBox 15390"/>
          <p:cNvSpPr txBox="1"/>
          <p:nvPr/>
        </p:nvSpPr>
        <p:spPr>
          <a:xfrm>
            <a:off x="6537960" y="201168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  <a:latin typeface="Calibri"/>
              </a:rPr>
              <a:t>Environmental State</a:t>
            </a:r>
          </a:p>
        </p:txBody>
      </p:sp>
      <p:sp>
        <p:nvSpPr>
          <p:cNvPr id="15392" name="Rectangle 15391"/>
          <p:cNvSpPr/>
          <p:nvPr/>
        </p:nvSpPr>
        <p:spPr>
          <a:xfrm>
            <a:off x="7543800" y="1920240"/>
            <a:ext cx="914400" cy="86868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3" name="TextBox 15392"/>
          <p:cNvSpPr txBox="1"/>
          <p:nvPr/>
        </p:nvSpPr>
        <p:spPr>
          <a:xfrm>
            <a:off x="7543800" y="201168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  <a:latin typeface="Calibri"/>
              </a:rPr>
              <a:t>Vessel Digital Twin</a:t>
            </a:r>
          </a:p>
        </p:txBody>
      </p:sp>
      <p:sp>
        <p:nvSpPr>
          <p:cNvPr id="15394" name="Rectangle 15393"/>
          <p:cNvSpPr/>
          <p:nvPr/>
        </p:nvSpPr>
        <p:spPr>
          <a:xfrm>
            <a:off x="8549640" y="1920240"/>
            <a:ext cx="914400" cy="86868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5" name="TextBox 15394"/>
          <p:cNvSpPr txBox="1"/>
          <p:nvPr/>
        </p:nvSpPr>
        <p:spPr>
          <a:xfrm>
            <a:off x="8549640" y="201168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  <a:latin typeface="Calibri"/>
              </a:rPr>
              <a:t>Maritime Physics</a:t>
            </a:r>
          </a:p>
        </p:txBody>
      </p:sp>
      <p:sp>
        <p:nvSpPr>
          <p:cNvPr id="15396" name="Rectangle 15395"/>
          <p:cNvSpPr/>
          <p:nvPr/>
        </p:nvSpPr>
        <p:spPr>
          <a:xfrm>
            <a:off x="9555480" y="1920240"/>
            <a:ext cx="914400" cy="86868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7" name="TextBox 15396"/>
          <p:cNvSpPr txBox="1"/>
          <p:nvPr/>
        </p:nvSpPr>
        <p:spPr>
          <a:xfrm>
            <a:off x="9555480" y="201168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  <a:latin typeface="Calibri"/>
              </a:rPr>
              <a:t>Circuit Breaker</a:t>
            </a:r>
          </a:p>
        </p:txBody>
      </p:sp>
      <p:sp>
        <p:nvSpPr>
          <p:cNvPr id="15398" name="Rectangle 15397"/>
          <p:cNvSpPr/>
          <p:nvPr/>
        </p:nvSpPr>
        <p:spPr>
          <a:xfrm>
            <a:off x="10561320" y="1920240"/>
            <a:ext cx="914400" cy="86868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9" name="TextBox 15398"/>
          <p:cNvSpPr txBox="1"/>
          <p:nvPr/>
        </p:nvSpPr>
        <p:spPr>
          <a:xfrm>
            <a:off x="10561320" y="2011680"/>
            <a:ext cx="914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  <a:latin typeface="Calibri"/>
              </a:rPr>
              <a:t>ORCA MRSI 0–100</a:t>
            </a:r>
          </a:p>
        </p:txBody>
      </p:sp>
      <p:sp>
        <p:nvSpPr>
          <p:cNvPr id="15400" name="Rectangle 15399"/>
          <p:cNvSpPr/>
          <p:nvPr/>
        </p:nvSpPr>
        <p:spPr>
          <a:xfrm>
            <a:off x="7315200" y="3520440"/>
            <a:ext cx="1828800" cy="50292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1" name="Rectangle 15400"/>
          <p:cNvSpPr/>
          <p:nvPr/>
        </p:nvSpPr>
        <p:spPr>
          <a:xfrm>
            <a:off x="7315200" y="352044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2" name="TextBox 15401"/>
          <p:cNvSpPr txBox="1"/>
          <p:nvPr/>
        </p:nvSpPr>
        <p:spPr>
          <a:xfrm>
            <a:off x="7498080" y="352044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RISK</a:t>
            </a:r>
          </a:p>
        </p:txBody>
      </p:sp>
      <p:sp>
        <p:nvSpPr>
          <p:cNvPr id="15403" name="Rectangle 15402"/>
          <p:cNvSpPr/>
          <p:nvPr/>
        </p:nvSpPr>
        <p:spPr>
          <a:xfrm>
            <a:off x="7315200" y="4096512"/>
            <a:ext cx="1828800" cy="50292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4" name="Rectangle 15403"/>
          <p:cNvSpPr/>
          <p:nvPr/>
        </p:nvSpPr>
        <p:spPr>
          <a:xfrm>
            <a:off x="7315200" y="4096512"/>
            <a:ext cx="91440" cy="5029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5" name="TextBox 15404"/>
          <p:cNvSpPr txBox="1"/>
          <p:nvPr/>
        </p:nvSpPr>
        <p:spPr>
          <a:xfrm>
            <a:off x="7498080" y="409651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4B8A6"/>
                </a:solidFill>
                <a:latin typeface="Calibri"/>
              </a:rPr>
              <a:t>ROUTE-SPECIFIC RISK</a:t>
            </a:r>
          </a:p>
        </p:txBody>
      </p:sp>
      <p:sp>
        <p:nvSpPr>
          <p:cNvPr id="15406" name="Rectangle 15405"/>
          <p:cNvSpPr/>
          <p:nvPr/>
        </p:nvSpPr>
        <p:spPr>
          <a:xfrm>
            <a:off x="7315200" y="4672584"/>
            <a:ext cx="1828800" cy="50292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7" name="Rectangle 15406"/>
          <p:cNvSpPr/>
          <p:nvPr/>
        </p:nvSpPr>
        <p:spPr>
          <a:xfrm>
            <a:off x="7315200" y="4672584"/>
            <a:ext cx="9144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8" name="TextBox 15407"/>
          <p:cNvSpPr txBox="1"/>
          <p:nvPr/>
        </p:nvSpPr>
        <p:spPr>
          <a:xfrm>
            <a:off x="7498080" y="4672584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ACTIONABLE DECISION</a:t>
            </a:r>
          </a:p>
        </p:txBody>
      </p:sp>
      <p:sp>
        <p:nvSpPr>
          <p:cNvPr id="15409" name="TextBox 15408"/>
          <p:cNvSpPr txBox="1"/>
          <p:nvPr/>
        </p:nvSpPr>
        <p:spPr>
          <a:xfrm>
            <a:off x="457200" y="46177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8FAFC"/>
                </a:solidFill>
                <a:latin typeface="Calibri"/>
              </a:rPr>
              <a:t>FORECAST  ≠  OPERATIONAL RISK.</a:t>
            </a:r>
          </a:p>
        </p:txBody>
      </p:sp>
      <p:sp>
        <p:nvSpPr>
          <p:cNvPr id="15410" name="TextBox 15409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CBD5E1"/>
                </a:solidFill>
                <a:latin typeface="Calibri"/>
              </a:rPr>
              <a:t>ORCA converts environmental conditions into a decision for the specific voyage.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r>
              <a:rPr sz="2800" b="1" i="0">
                <a:solidFill>
                  <a:srgbClr val="14B8A6"/>
                </a:solidFill>
                <a:latin typeface="Calibri"/>
              </a:rPr>
              <a:t>TECHNICAL APPROACH</a:t>
            </a:r>
            <a:endParaRPr lang="en-US" b="1" dirty="0">
              <a:solidFill>
                <a:schemeClr val="bg1"/>
              </a:solidFill>
            </a:endParaRPr>
          </a:p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Technologies · Methodology · Process · Prototype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502920" y="1280160"/>
            <a:ext cx="2834640" cy="3200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502920" y="1280160"/>
            <a:ext cx="64008" cy="3200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640080" y="12801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INCOIS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2057400" y="128016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erddap (roadmap)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502920" y="1636776"/>
            <a:ext cx="2834640" cy="3200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502920" y="1636776"/>
            <a:ext cx="64008" cy="3200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40080" y="163677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IMD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2057400" y="1636776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CWD / Mausam (roadmap)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502920" y="1993392"/>
            <a:ext cx="2834640" cy="3200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ectangle 17419"/>
          <p:cNvSpPr/>
          <p:nvPr/>
        </p:nvSpPr>
        <p:spPr>
          <a:xfrm>
            <a:off x="502920" y="1993392"/>
            <a:ext cx="64008" cy="3200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640080" y="199339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COPERNICUS MARINE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2057400" y="199339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needs credentials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502920" y="2350008"/>
            <a:ext cx="2834640" cy="3200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502920" y="2350008"/>
            <a:ext cx="64008" cy="3200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640080" y="2350008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OPEN-METEO MARINE / ECMWF / FORECAST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2057400" y="2350008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5 live providers, no creds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502920" y="2706624"/>
            <a:ext cx="2834640" cy="3200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ectangle 17427"/>
          <p:cNvSpPr/>
          <p:nvPr/>
        </p:nvSpPr>
        <p:spPr>
          <a:xfrm>
            <a:off x="502920" y="2706624"/>
            <a:ext cx="64008" cy="3200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640080" y="2706624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MET NORWAY (yr.no)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2057400" y="270662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live, no creds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502920" y="3063240"/>
            <a:ext cx="2834640" cy="3200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Rectangle 17431"/>
          <p:cNvSpPr/>
          <p:nvPr/>
        </p:nvSpPr>
        <p:spPr>
          <a:xfrm>
            <a:off x="502920" y="3063240"/>
            <a:ext cx="64008" cy="3200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640080" y="306324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NOAA NDBC BUOYS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2057400" y="306324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live, in-situ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502920" y="3419856"/>
            <a:ext cx="2834640" cy="3200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ectangle 17435"/>
          <p:cNvSpPr/>
          <p:nvPr/>
        </p:nvSpPr>
        <p:spPr>
          <a:xfrm>
            <a:off x="502920" y="3419856"/>
            <a:ext cx="64008" cy="3200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640080" y="341985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8FAFC"/>
                </a:solidFill>
                <a:latin typeface="Calibri"/>
              </a:rPr>
              <a:t>AIS / VESSEL TELEMETRY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2057400" y="3419856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via LoRa / NMEA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3474720" y="1325880"/>
            <a:ext cx="8074152" cy="496062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Rectangle 17439"/>
          <p:cNvSpPr/>
          <p:nvPr/>
        </p:nvSpPr>
        <p:spPr>
          <a:xfrm>
            <a:off x="3474720" y="1325880"/>
            <a:ext cx="91440" cy="49606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3703320" y="1325880"/>
            <a:ext cx="7754112" cy="4960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PROVIDER ABSTRACTION  ·  circuit breaker  ·  rate limit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3474720" y="1885950"/>
            <a:ext cx="8074152" cy="496062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Rectangle 17442"/>
          <p:cNvSpPr/>
          <p:nvPr/>
        </p:nvSpPr>
        <p:spPr>
          <a:xfrm>
            <a:off x="3474720" y="1885950"/>
            <a:ext cx="91440" cy="496062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3703320" y="1885950"/>
            <a:ext cx="7754112" cy="4960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CANONICAL NORMALIZATION  ·  18 parameters  ·  provenance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3474720" y="2446020"/>
            <a:ext cx="8074152" cy="496062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Rectangle 17445"/>
          <p:cNvSpPr/>
          <p:nvPr/>
        </p:nvSpPr>
        <p:spPr>
          <a:xfrm>
            <a:off x="3474720" y="2446020"/>
            <a:ext cx="91440" cy="49606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3703320" y="2446020"/>
            <a:ext cx="7754112" cy="4960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ENVIRONMENTAL STATE  ·  CURRENT / RECENT / STALE / UNAVAILABLE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3474720" y="3006090"/>
            <a:ext cx="8074152" cy="496062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Rectangle 17448"/>
          <p:cNvSpPr/>
          <p:nvPr/>
        </p:nvSpPr>
        <p:spPr>
          <a:xfrm>
            <a:off x="3474720" y="3006090"/>
            <a:ext cx="91440" cy="496062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3703320" y="3006090"/>
            <a:ext cx="7754112" cy="4960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VESSEL DIGITAL TWIN  ·  16-field validated profile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3474720" y="3566160"/>
            <a:ext cx="8074152" cy="496062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Rectangle 17451"/>
          <p:cNvSpPr/>
          <p:nvPr/>
        </p:nvSpPr>
        <p:spPr>
          <a:xfrm>
            <a:off x="3474720" y="3566160"/>
            <a:ext cx="91440" cy="49606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3703320" y="3566160"/>
            <a:ext cx="7754112" cy="4960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MARITIME PHYSICS  ·  9 hazards  ·  Kijima-1990 encounter</a:t>
            </a:r>
          </a:p>
        </p:txBody>
      </p:sp>
      <p:sp>
        <p:nvSpPr>
          <p:cNvPr id="17454" name="Rectangle 17453"/>
          <p:cNvSpPr/>
          <p:nvPr/>
        </p:nvSpPr>
        <p:spPr>
          <a:xfrm>
            <a:off x="3474720" y="4126230"/>
            <a:ext cx="8074152" cy="496062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Rectangle 17454"/>
          <p:cNvSpPr/>
          <p:nvPr/>
        </p:nvSpPr>
        <p:spPr>
          <a:xfrm>
            <a:off x="3474720" y="4126230"/>
            <a:ext cx="91440" cy="496062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TextBox 17455"/>
          <p:cNvSpPr txBox="1"/>
          <p:nvPr/>
        </p:nvSpPr>
        <p:spPr>
          <a:xfrm>
            <a:off x="3703320" y="4126230"/>
            <a:ext cx="7754112" cy="4960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DETERMINISTIC CIRCUIT BREAKER  ·  7 hard rules</a:t>
            </a:r>
          </a:p>
        </p:txBody>
      </p:sp>
      <p:sp>
        <p:nvSpPr>
          <p:cNvPr id="17457" name="Rectangle 17456"/>
          <p:cNvSpPr/>
          <p:nvPr/>
        </p:nvSpPr>
        <p:spPr>
          <a:xfrm>
            <a:off x="3474720" y="4686300"/>
            <a:ext cx="8074152" cy="496062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Rectangle 17457"/>
          <p:cNvSpPr/>
          <p:nvPr/>
        </p:nvSpPr>
        <p:spPr>
          <a:xfrm>
            <a:off x="3474720" y="4686300"/>
            <a:ext cx="91440" cy="49606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3703320" y="4686300"/>
            <a:ext cx="7754112" cy="4960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ORCA MRSI  ·  0 – 100  ·  reproducible (SHA-256)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3474720" y="5246370"/>
            <a:ext cx="8074152" cy="496062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Rectangle 17460"/>
          <p:cNvSpPr/>
          <p:nvPr/>
        </p:nvSpPr>
        <p:spPr>
          <a:xfrm>
            <a:off x="3474720" y="5246370"/>
            <a:ext cx="91440" cy="496062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2" name="TextBox 17461"/>
          <p:cNvSpPr txBox="1"/>
          <p:nvPr/>
        </p:nvSpPr>
        <p:spPr>
          <a:xfrm>
            <a:off x="3703320" y="5246370"/>
            <a:ext cx="7754112" cy="4960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ROUTE RISK  ·  per-segment  ·  replay store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502920" y="5852160"/>
            <a:ext cx="2727198" cy="292608"/>
          </a:xfrm>
          <a:prstGeom prst="rect">
            <a:avLst/>
          </a:prstGeom>
          <a:solidFill>
            <a:srgbClr val="041020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548640" y="5852160"/>
            <a:ext cx="26357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FRONTEND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1463040" y="5852160"/>
            <a:ext cx="162991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React · TS · Vite · Leaflet · h3-js</a:t>
            </a:r>
          </a:p>
        </p:txBody>
      </p:sp>
      <p:sp>
        <p:nvSpPr>
          <p:cNvPr id="17466" name="Rectangle 17465"/>
          <p:cNvSpPr/>
          <p:nvPr/>
        </p:nvSpPr>
        <p:spPr>
          <a:xfrm>
            <a:off x="3321558" y="5852160"/>
            <a:ext cx="2727198" cy="292608"/>
          </a:xfrm>
          <a:prstGeom prst="rect">
            <a:avLst/>
          </a:prstGeom>
          <a:solidFill>
            <a:srgbClr val="041020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7" name="TextBox 17466"/>
          <p:cNvSpPr txBox="1"/>
          <p:nvPr/>
        </p:nvSpPr>
        <p:spPr>
          <a:xfrm>
            <a:off x="3367278" y="5852160"/>
            <a:ext cx="26357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BACKEND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4281678" y="5852160"/>
            <a:ext cx="162991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FastAPI · Python 3.12 · async providers</a:t>
            </a:r>
          </a:p>
        </p:txBody>
      </p:sp>
      <p:sp>
        <p:nvSpPr>
          <p:cNvPr id="17469" name="Rectangle 17468"/>
          <p:cNvSpPr/>
          <p:nvPr/>
        </p:nvSpPr>
        <p:spPr>
          <a:xfrm>
            <a:off x="6140196" y="5852160"/>
            <a:ext cx="2727198" cy="292608"/>
          </a:xfrm>
          <a:prstGeom prst="rect">
            <a:avLst/>
          </a:prstGeom>
          <a:solidFill>
            <a:srgbClr val="041020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0" name="TextBox 17469"/>
          <p:cNvSpPr txBox="1"/>
          <p:nvPr/>
        </p:nvSpPr>
        <p:spPr>
          <a:xfrm>
            <a:off x="6185916" y="5852160"/>
            <a:ext cx="26357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INTELLIGENCE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7100316" y="5852160"/>
            <a:ext cx="162991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Hazards · CB · MRSI · route risk</a:t>
            </a:r>
          </a:p>
        </p:txBody>
      </p:sp>
      <p:sp>
        <p:nvSpPr>
          <p:cNvPr id="17472" name="Rectangle 17471"/>
          <p:cNvSpPr/>
          <p:nvPr/>
        </p:nvSpPr>
        <p:spPr>
          <a:xfrm>
            <a:off x="8958834" y="5852160"/>
            <a:ext cx="2727198" cy="292608"/>
          </a:xfrm>
          <a:prstGeom prst="rect">
            <a:avLst/>
          </a:prstGeom>
          <a:solidFill>
            <a:srgbClr val="041020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3" name="TextBox 17472"/>
          <p:cNvSpPr txBox="1"/>
          <p:nvPr/>
        </p:nvSpPr>
        <p:spPr>
          <a:xfrm>
            <a:off x="9004554" y="5852160"/>
            <a:ext cx="263575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INFRA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9918954" y="5852160"/>
            <a:ext cx="162991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Cloud-native · edge-capable roadmap</a:t>
            </a:r>
          </a:p>
        </p:txBody>
      </p:sp>
      <p:sp>
        <p:nvSpPr>
          <p:cNvPr id="17475" name="Rectangle 17474"/>
          <p:cNvSpPr/>
          <p:nvPr/>
        </p:nvSpPr>
        <p:spPr>
          <a:xfrm>
            <a:off x="9537192" y="1325880"/>
            <a:ext cx="1920240" cy="502920"/>
          </a:xfrm>
          <a:prstGeom prst="rect">
            <a:avLst/>
          </a:prstGeom>
          <a:solidFill>
            <a:srgbClr val="081B33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6" name="TextBox 17475"/>
          <p:cNvSpPr txBox="1"/>
          <p:nvPr/>
        </p:nvSpPr>
        <p:spPr>
          <a:xfrm>
            <a:off x="9537192" y="132588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14B8A6"/>
                </a:solidFill>
                <a:latin typeface="Calibri"/>
              </a:rPr>
              <a:t>LIVE DEMO:  /api/v1/assess-now
Kanyakumari → MRSI = 75 / 100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457200" y="5349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59E0B"/>
                </a:solidFill>
                <a:latin typeface="Calibri"/>
              </a:rPr>
              <a:t>Note: ORCA's multi-objective Pareto route planner is a v0 placeholder today — per-segment MRSI is the production route engine.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2800" b="1" i="0">
                <a:solidFill>
                  <a:srgbClr val="14B8A6"/>
                </a:solidFill>
                <a:latin typeface="Calibri"/>
              </a:rPr>
              <a:t>FEASIBILITY AND VIABILITY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Implementation status · Challenges &amp; mitigation · Deployment · Cost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457200" y="1280160"/>
            <a:ext cx="3667658" cy="493776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457200" y="1280160"/>
            <a:ext cx="3667658" cy="91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640080" y="1444752"/>
            <a:ext cx="33018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A.  IMPLEMENTATION ROADMAP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40080" y="192024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✓ PROTOTYPE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40080" y="219456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FastAPI + React/TS, 34 endpoints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40080" y="256032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✓ LIVE DATA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40080" y="283464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5 providers, canonical layer, provenance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0080" y="320040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✓ RISK ENGINE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40080" y="347472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ORCA MRSI, 9 hazards, 24 unit tests pass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40080" y="384048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✓ ROUTE ENGINE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40080" y="411480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Per-segment risk, replay store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40080" y="448056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◐ PILOT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40080" y="475488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Kanyakumari live: MRSI 75/100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40080" y="512064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◌ DEPLOYMENT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40080" y="539496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IMD/INCOIS feeds, multi-state scale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4262018" y="1280160"/>
            <a:ext cx="3667658" cy="493776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ectangle 17426"/>
          <p:cNvSpPr/>
          <p:nvPr/>
        </p:nvSpPr>
        <p:spPr>
          <a:xfrm>
            <a:off x="4262018" y="1280160"/>
            <a:ext cx="3667658" cy="91440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4444898" y="1444752"/>
            <a:ext cx="33018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7E8F9"/>
                </a:solidFill>
                <a:latin typeface="Calibri"/>
              </a:rPr>
              <a:t>B.  CHALLENGES  →  MITIGATION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444898" y="192024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Data stale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444898" y="219456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→ freshness policy (CURRENT/RECENT/STALE)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444898" y="256032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API failure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444898" y="283464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→ provider circuit breaker + fallback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444898" y="320040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Source disagreement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444898" y="347472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→ provenance + confidence score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444898" y="384048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No connectivity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4444898" y="411480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→ edge cache + explicit degraded mode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444898" y="448056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Vessel variability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444898" y="475488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→ 16-field validated vessel twin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444898" y="512064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Model uncertainty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4444898" y="5394960"/>
            <a:ext cx="33018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→ risk_uncertainty 0–1 surfaced in UI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8066836" y="1280160"/>
            <a:ext cx="3667658" cy="493776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Rectangle 17441"/>
          <p:cNvSpPr/>
          <p:nvPr/>
        </p:nvSpPr>
        <p:spPr>
          <a:xfrm>
            <a:off x="8066836" y="1280160"/>
            <a:ext cx="3667658" cy="91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8249716" y="1444752"/>
            <a:ext cx="33018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C.  DEPLOYMENT ECONOMICS</a:t>
            </a:r>
          </a:p>
        </p:txBody>
      </p:sp>
      <p:sp>
        <p:nvSpPr>
          <p:cNvPr id="17444" name="Rectangle 17443"/>
          <p:cNvSpPr/>
          <p:nvPr/>
        </p:nvSpPr>
        <p:spPr>
          <a:xfrm>
            <a:off x="8249716" y="2011680"/>
            <a:ext cx="3301898" cy="411480"/>
          </a:xfrm>
          <a:prstGeom prst="rect">
            <a:avLst/>
          </a:prstGeom>
          <a:solidFill>
            <a:srgbClr val="041020"/>
          </a:solidFill>
          <a:ln w="63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8249716" y="2011680"/>
            <a:ext cx="330189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Calibri"/>
              </a:rPr>
              <a:t>HARDWARE  +  COMMUNICATION  +  COMPUTE  +  MAINTENANCE</a:t>
            </a:r>
          </a:p>
        </p:txBody>
      </p:sp>
      <p:sp>
        <p:nvSpPr>
          <p:cNvPr id="17446" name="Rectangle 17445"/>
          <p:cNvSpPr/>
          <p:nvPr/>
        </p:nvSpPr>
        <p:spPr>
          <a:xfrm>
            <a:off x="8249716" y="2606040"/>
            <a:ext cx="3301898" cy="640080"/>
          </a:xfrm>
          <a:prstGeom prst="rect">
            <a:avLst/>
          </a:prstGeom>
          <a:solidFill>
            <a:srgbClr val="04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Rectangle 17446"/>
          <p:cNvSpPr/>
          <p:nvPr/>
        </p:nvSpPr>
        <p:spPr>
          <a:xfrm>
            <a:off x="8249716" y="2606040"/>
            <a:ext cx="91440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8432596" y="2606040"/>
            <a:ext cx="293613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Calibri"/>
              </a:rPr>
              <a:t>PROTOTYPE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8432596" y="2880360"/>
            <a:ext cx="293613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Calibri"/>
              </a:rPr>
              <a:t>Cloud-only · free-tier (Vercel + Open-Meteo)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8432596" y="3063240"/>
            <a:ext cx="293613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(indicative · vendor-dependent)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8249716" y="3383280"/>
            <a:ext cx="3301898" cy="640080"/>
          </a:xfrm>
          <a:prstGeom prst="rect">
            <a:avLst/>
          </a:prstGeom>
          <a:solidFill>
            <a:srgbClr val="04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Rectangle 17451"/>
          <p:cNvSpPr/>
          <p:nvPr/>
        </p:nvSpPr>
        <p:spPr>
          <a:xfrm>
            <a:off x="8249716" y="3383280"/>
            <a:ext cx="91440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8432596" y="3383280"/>
            <a:ext cx="293613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Calibri"/>
              </a:rPr>
              <a:t>PILOT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8432596" y="3657600"/>
            <a:ext cx="293613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Calibri"/>
              </a:rPr>
              <a:t>≈ ₹4 000 / mo on commodity VPS · 10⁵ assessments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8432596" y="3840480"/>
            <a:ext cx="293613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(indicative · vendor-dependent)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8249716" y="4160520"/>
            <a:ext cx="3301898" cy="640080"/>
          </a:xfrm>
          <a:prstGeom prst="rect">
            <a:avLst/>
          </a:prstGeom>
          <a:solidFill>
            <a:srgbClr val="04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Rectangle 17456"/>
          <p:cNvSpPr/>
          <p:nvPr/>
        </p:nvSpPr>
        <p:spPr>
          <a:xfrm>
            <a:off x="8249716" y="4160520"/>
            <a:ext cx="91440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8432596" y="4160520"/>
            <a:ext cx="293613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Calibri"/>
              </a:rPr>
              <a:t>SCALE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8432596" y="4434840"/>
            <a:ext cx="293613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Calibri"/>
              </a:rPr>
              <a:t>Adds StormGlass / Copernicus keys · vendor-dep.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8432596" y="4617720"/>
            <a:ext cx="293613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(indicative · vendor-dependent)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8286292" y="5029200"/>
            <a:ext cx="752322" cy="457200"/>
          </a:xfrm>
          <a:prstGeom prst="rect">
            <a:avLst/>
          </a:prstGeom>
          <a:solidFill>
            <a:srgbClr val="04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2" name="TextBox 17461"/>
          <p:cNvSpPr txBox="1"/>
          <p:nvPr/>
        </p:nvSpPr>
        <p:spPr>
          <a:xfrm>
            <a:off x="8286292" y="5029200"/>
            <a:ext cx="75232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  <a:latin typeface="Calibri"/>
              </a:rPr>
              <a:t>1 vessel</a:t>
            </a:r>
          </a:p>
        </p:txBody>
      </p:sp>
      <p:cxnSp>
        <p:nvCxnSpPr>
          <p:cNvPr id="17463" name="Connector 17462"/>
          <p:cNvCxnSpPr/>
          <p:nvPr/>
        </p:nvCxnSpPr>
        <p:spPr>
          <a:xfrm>
            <a:off x="9038615.25" y="5257800.0"/>
            <a:ext cx="73152.0" cy="0.0"/>
          </a:xfrm>
          <a:prstGeom prst="line">
            <a:avLst/>
          </a:prstGeom>
          <a:ln w="254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4" name="Rectangle 17463"/>
          <p:cNvSpPr/>
          <p:nvPr/>
        </p:nvSpPr>
        <p:spPr>
          <a:xfrm>
            <a:off x="9111767" y="5029200"/>
            <a:ext cx="752322" cy="457200"/>
          </a:xfrm>
          <a:prstGeom prst="rect">
            <a:avLst/>
          </a:prstGeom>
          <a:solidFill>
            <a:srgbClr val="04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5" name="TextBox 17464"/>
          <p:cNvSpPr txBox="1"/>
          <p:nvPr/>
        </p:nvSpPr>
        <p:spPr>
          <a:xfrm>
            <a:off x="9111767" y="5029200"/>
            <a:ext cx="75232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  <a:latin typeface="Calibri"/>
              </a:rPr>
              <a:t>fleet</a:t>
            </a:r>
          </a:p>
        </p:txBody>
      </p:sp>
      <p:cxnSp>
        <p:nvCxnSpPr>
          <p:cNvPr id="17466" name="Connector 17465"/>
          <p:cNvCxnSpPr/>
          <p:nvPr/>
        </p:nvCxnSpPr>
        <p:spPr>
          <a:xfrm>
            <a:off x="9864089.833333334" y="5257800.0"/>
            <a:ext cx="73152.0" cy="0.0"/>
          </a:xfrm>
          <a:prstGeom prst="line">
            <a:avLst/>
          </a:prstGeom>
          <a:ln w="254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7" name="Rectangle 17466"/>
          <p:cNvSpPr/>
          <p:nvPr/>
        </p:nvSpPr>
        <p:spPr>
          <a:xfrm>
            <a:off x="9937241" y="5029200"/>
            <a:ext cx="752322" cy="457200"/>
          </a:xfrm>
          <a:prstGeom prst="rect">
            <a:avLst/>
          </a:prstGeom>
          <a:solidFill>
            <a:srgbClr val="04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9937241" y="5029200"/>
            <a:ext cx="75232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  <a:latin typeface="Calibri"/>
              </a:rPr>
              <a:t>region</a:t>
            </a:r>
          </a:p>
        </p:txBody>
      </p:sp>
      <p:cxnSp>
        <p:nvCxnSpPr>
          <p:cNvPr id="17469" name="Connector 17468"/>
          <p:cNvCxnSpPr/>
          <p:nvPr/>
        </p:nvCxnSpPr>
        <p:spPr>
          <a:xfrm>
            <a:off x="10689564.416666668" y="5257800.0"/>
            <a:ext cx="73152.0" cy="0.0"/>
          </a:xfrm>
          <a:prstGeom prst="line">
            <a:avLst/>
          </a:prstGeom>
          <a:ln w="254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0" name="Rectangle 17469"/>
          <p:cNvSpPr/>
          <p:nvPr/>
        </p:nvSpPr>
        <p:spPr>
          <a:xfrm>
            <a:off x="10762716" y="5029200"/>
            <a:ext cx="752322" cy="457200"/>
          </a:xfrm>
          <a:prstGeom prst="rect">
            <a:avLst/>
          </a:prstGeom>
          <a:solidFill>
            <a:srgbClr val="04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1" name="TextBox 17470"/>
          <p:cNvSpPr txBox="1"/>
          <p:nvPr/>
        </p:nvSpPr>
        <p:spPr>
          <a:xfrm>
            <a:off x="10762716" y="5029200"/>
            <a:ext cx="75232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8FAFC"/>
                </a:solidFill>
                <a:latin typeface="Calibri"/>
              </a:rPr>
              <a:t>coastline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2800" b="1" i="0">
                <a:solidFill>
                  <a:srgbClr val="14B8A6"/>
                </a:solidFill>
                <a:latin typeface="Calibri"/>
              </a:rPr>
              <a:t>IMPACT AND BENEFITS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Target audience · Social / Economic / Environmental / Strategic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5090007" y="3246119"/>
            <a:ext cx="2011680" cy="1005840"/>
          </a:xfrm>
          <a:prstGeom prst="rect">
            <a:avLst/>
          </a:prstGeom>
          <a:solidFill>
            <a:srgbClr val="041020"/>
          </a:solidFill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090007" y="3246119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4B8A6"/>
                </a:solidFill>
                <a:latin typeface="Calibri"/>
              </a:rPr>
              <a:t>ORCA 4.0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090007" y="3657599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F8FAFC"/>
                </a:solidFill>
                <a:latin typeface="Calibri"/>
              </a:rPr>
              <a:t>voyage-level
decision intelligence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5090007" y="1730501"/>
            <a:ext cx="2011680" cy="10058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5090007" y="1730501"/>
            <a:ext cx="91440" cy="10058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5272887" y="1821941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4B8A6"/>
                </a:solidFill>
                <a:latin typeface="Calibri"/>
              </a:rPr>
              <a:t>FISHERS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272887" y="2141981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  <a:latin typeface="Calibri"/>
              </a:rPr>
              <a:t>safer departures
vessel-specific risk</a:t>
            </a:r>
          </a:p>
        </p:txBody>
      </p:sp>
      <p:cxnSp>
        <p:nvCxnSpPr>
          <p:cNvPr id="17418" name="Connector 17417"/>
          <p:cNvCxnSpPr/>
          <p:nvPr/>
        </p:nvCxnSpPr>
        <p:spPr>
          <a:xfrm flipV="1">
            <a:off x="6095847" y="2233421.0"/>
            <a:ext cx="0.0" cy="1515618.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ectangle 17418"/>
          <p:cNvSpPr/>
          <p:nvPr/>
        </p:nvSpPr>
        <p:spPr>
          <a:xfrm>
            <a:off x="7109335" y="2488310"/>
            <a:ext cx="2011680" cy="10058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ectangle 17419"/>
          <p:cNvSpPr/>
          <p:nvPr/>
        </p:nvSpPr>
        <p:spPr>
          <a:xfrm>
            <a:off x="7109335" y="2488310"/>
            <a:ext cx="91440" cy="10058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7292215" y="257975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4B8A6"/>
                </a:solidFill>
                <a:latin typeface="Calibri"/>
              </a:rPr>
              <a:t>FLEETS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292215" y="289979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  <a:latin typeface="Calibri"/>
              </a:rPr>
              <a:t>central risk panel
reduced incident rate</a:t>
            </a:r>
          </a:p>
        </p:txBody>
      </p:sp>
      <p:cxnSp>
        <p:nvCxnSpPr>
          <p:cNvPr id="17423" name="Connector 17422"/>
          <p:cNvCxnSpPr/>
          <p:nvPr/>
        </p:nvCxnSpPr>
        <p:spPr>
          <a:xfrm flipV="1">
            <a:off x="6095847" y="2991230.0"/>
            <a:ext cx="2019328.7545122514" cy="757809.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ectangle 17423"/>
          <p:cNvSpPr/>
          <p:nvPr/>
        </p:nvSpPr>
        <p:spPr>
          <a:xfrm>
            <a:off x="7109335" y="4003928"/>
            <a:ext cx="2011680" cy="10058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ectangle 17424"/>
          <p:cNvSpPr/>
          <p:nvPr/>
        </p:nvSpPr>
        <p:spPr>
          <a:xfrm>
            <a:off x="7109335" y="4003928"/>
            <a:ext cx="91440" cy="10058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7292215" y="4095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4B8A6"/>
                </a:solidFill>
                <a:latin typeface="Calibri"/>
              </a:rPr>
              <a:t>COASTAL AUTHORITIES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292215" y="4415408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  <a:latin typeface="Calibri"/>
              </a:rPr>
              <a:t>geospatial risk layer
faster triage</a:t>
            </a:r>
          </a:p>
        </p:txBody>
      </p:sp>
      <p:cxnSp>
        <p:nvCxnSpPr>
          <p:cNvPr id="17428" name="Connector 17427"/>
          <p:cNvCxnSpPr/>
          <p:nvPr/>
        </p:nvCxnSpPr>
        <p:spPr>
          <a:xfrm>
            <a:off x="6095847" y="3749039"/>
            <a:ext cx="2019328.7545122514" cy="757809.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Rectangle 17428"/>
          <p:cNvSpPr/>
          <p:nvPr/>
        </p:nvSpPr>
        <p:spPr>
          <a:xfrm>
            <a:off x="5090007" y="4761737"/>
            <a:ext cx="2011680" cy="10058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ectangle 17429"/>
          <p:cNvSpPr/>
          <p:nvPr/>
        </p:nvSpPr>
        <p:spPr>
          <a:xfrm>
            <a:off x="5090007" y="4761737"/>
            <a:ext cx="91440" cy="10058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5272887" y="4853177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4B8A6"/>
                </a:solidFill>
                <a:latin typeface="Calibri"/>
              </a:rPr>
              <a:t>PORTS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5272887" y="5173217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  <a:latin typeface="Calibri"/>
              </a:rPr>
              <a:t>harbour decisions
arrival risk scored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6095847" y="3749039"/>
            <a:ext cx="0.0" cy="1515618.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4" name="Rectangle 17433"/>
          <p:cNvSpPr/>
          <p:nvPr/>
        </p:nvSpPr>
        <p:spPr>
          <a:xfrm>
            <a:off x="3070678" y="4003928"/>
            <a:ext cx="2011680" cy="10058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ectangle 17434"/>
          <p:cNvSpPr/>
          <p:nvPr/>
        </p:nvSpPr>
        <p:spPr>
          <a:xfrm>
            <a:off x="3070678" y="4003928"/>
            <a:ext cx="91440" cy="10058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3253558" y="4095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4B8A6"/>
                </a:solidFill>
                <a:latin typeface="Calibri"/>
              </a:rPr>
              <a:t>DISASTER RESPONSE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3253558" y="4415408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  <a:latin typeface="Calibri"/>
              </a:rPr>
              <a:t>1 000-particle SAR drift
(risk_engine/sar_drift)</a:t>
            </a:r>
          </a:p>
        </p:txBody>
      </p:sp>
      <p:cxnSp>
        <p:nvCxnSpPr>
          <p:cNvPr id="17438" name="Connector 17437"/>
          <p:cNvCxnSpPr/>
          <p:nvPr/>
        </p:nvCxnSpPr>
        <p:spPr>
          <a:xfrm flipH="1">
            <a:off x="4076518.2454877486" y="3749039"/>
            <a:ext cx="2019328.7545122514" cy="757809.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Rectangle 17438"/>
          <p:cNvSpPr/>
          <p:nvPr/>
        </p:nvSpPr>
        <p:spPr>
          <a:xfrm>
            <a:off x="3070678" y="2488310"/>
            <a:ext cx="2011680" cy="10058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Rectangle 17439"/>
          <p:cNvSpPr/>
          <p:nvPr/>
        </p:nvSpPr>
        <p:spPr>
          <a:xfrm>
            <a:off x="3070678" y="2488310"/>
            <a:ext cx="91440" cy="10058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3253558" y="257975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4B8A6"/>
                </a:solidFill>
                <a:latin typeface="Calibri"/>
              </a:rPr>
              <a:t>OCEAN RESEARCH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3253558" y="289979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  <a:latin typeface="Calibri"/>
              </a:rPr>
              <a:t>normalized environmental
state, provenance</a:t>
            </a:r>
          </a:p>
        </p:txBody>
      </p:sp>
      <p:cxnSp>
        <p:nvCxnSpPr>
          <p:cNvPr id="17443" name="Connector 17442"/>
          <p:cNvCxnSpPr/>
          <p:nvPr/>
        </p:nvCxnSpPr>
        <p:spPr>
          <a:xfrm flipH="1" flipV="1">
            <a:off x="4076518.2454877486" y="2991230.0"/>
            <a:ext cx="2019328.7545122514" cy="757809.0"/>
          </a:xfrm>
          <a:prstGeom prst="line">
            <a:avLst/>
          </a:prstGeom>
          <a:ln w="1270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Rectangle 17443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solidFill>
            <a:srgbClr val="041020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8FAFC"/>
                </a:solidFill>
                <a:latin typeface="Calibri"/>
              </a:rPr>
              <a:t>LIVE CONDITIONS  →  VESSEL-SPECIFIC RISK  →  EARLIER AWARENESS  →  BETTER DEPARTURE DECISION  →  REDUCED EXPOSURE TO HAZARD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2800" b="1" i="0">
                <a:solidFill>
                  <a:srgbClr val="14B8A6"/>
                </a:solidFill>
                <a:latin typeface="Calibri"/>
              </a:rPr>
              <a:t>RESEARCH AND REFERENCES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  <a:p>
            <a:pPr algn="l"/>
            <a:r>
              <a:rPr sz="1400" b="0" i="1">
                <a:solidFill>
                  <a:srgbClr val="CBD5E1"/>
                </a:solidFill>
                <a:latin typeface="Calibri"/>
              </a:rPr>
              <a:t>Every formula ORCA uses has a real, citable source.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457200" y="1280160"/>
            <a:ext cx="7315200" cy="105156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457200" y="1280160"/>
            <a:ext cx="91440" cy="10515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640080" y="1335024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  <a:latin typeface="Calibri"/>
              </a:rPr>
              <a:t>Kijima et al. (1990)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40080" y="1572768"/>
            <a:ext cx="7040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Encounter-period formula for ship–wave interaction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40080" y="1847088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8FAFC"/>
                </a:solidFill>
                <a:latin typeface="Calibri"/>
              </a:rPr>
              <a:t>→ used in wave_vessel_interaction_hazard()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457200" y="2423160"/>
            <a:ext cx="7315200" cy="105156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ectangle 17416"/>
          <p:cNvSpPr/>
          <p:nvPr/>
        </p:nvSpPr>
        <p:spPr>
          <a:xfrm>
            <a:off x="457200" y="2423160"/>
            <a:ext cx="91440" cy="10515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640080" y="2478024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  <a:latin typeface="Calibri"/>
              </a:rPr>
              <a:t>FAO small-craft rule of thumb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40080" y="2715768"/>
            <a:ext cx="7040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GM ≈ 0.05 × beam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40080" y="2990088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8FAFC"/>
                </a:solidFill>
                <a:latin typeface="Calibri"/>
              </a:rPr>
              <a:t>→ default GM in vessel.py when operator omits it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457200" y="3566160"/>
            <a:ext cx="7315200" cy="105156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ectangle 17421"/>
          <p:cNvSpPr/>
          <p:nvPr/>
        </p:nvSpPr>
        <p:spPr>
          <a:xfrm>
            <a:off x="457200" y="3566160"/>
            <a:ext cx="91440" cy="10515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640080" y="3621024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  <a:latin typeface="Calibri"/>
              </a:rPr>
              <a:t>ORCA spec §1.5  ·  capsize threshold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40080" y="3858768"/>
            <a:ext cx="7040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H_crit = 0.6 · L · sin(θ) for the dominant sea state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40080" y="4133088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8FAFC"/>
                </a:solidFill>
                <a:latin typeface="Calibri"/>
              </a:rPr>
              <a:t>→ drives max_safe_wave_height_m and CB-WAV-001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457200" y="4709160"/>
            <a:ext cx="7315200" cy="105156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ectangle 17426"/>
          <p:cNvSpPr/>
          <p:nvPr/>
        </p:nvSpPr>
        <p:spPr>
          <a:xfrm>
            <a:off x="457200" y="4709160"/>
            <a:ext cx="91440" cy="10515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640080" y="4764024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  <a:latin typeface="Calibri"/>
              </a:rPr>
              <a:t>Open-Meteo / ERA5 / ECMWF IFS  +  NOAA NDBC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40080" y="5001768"/>
            <a:ext cx="7040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global NWP at 0.25° + in-situ buoys, no credentials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40080" y="5276088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8FAFC"/>
                </a:solidFill>
                <a:latin typeface="Calibri"/>
              </a:rPr>
              <a:t>→ 5 live provider paths via canonical layer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7955279" y="1280160"/>
            <a:ext cx="3931920" cy="4937760"/>
          </a:xfrm>
          <a:prstGeom prst="rect">
            <a:avLst/>
          </a:prstGeom>
          <a:solidFill>
            <a:srgbClr val="041020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7955279" y="137160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REFERENCES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8138159" y="1783080"/>
            <a:ext cx="3566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14B8A6"/>
                </a:solidFill>
                <a:latin typeface="Calibri"/>
              </a:rPr>
              <a:t>  </a:t>
            </a:r>
            <a:r>
              <a:rPr sz="900">
                <a:solidFill>
                  <a:srgbClr val="F8FAFC"/>
                </a:solidFill>
                <a:latin typeface="Calibri"/>
              </a:rPr>
              <a:t>[1]  Kijima, K. et al.  (1990)  — On the prediction method of ship manoeuvring motion.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14B8A6"/>
                </a:solidFill>
                <a:latin typeface="Calibri"/>
              </a:rPr>
              <a:t>  </a:t>
            </a:r>
            <a:r>
              <a:rPr sz="900">
                <a:solidFill>
                  <a:srgbClr val="F8FAFC"/>
                </a:solidFill>
                <a:latin typeface="Calibri"/>
              </a:rPr>
              <a:t>[2]  ORCA 4.0 Risk Spec §1.5  —  capsize threshold.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14B8A6"/>
                </a:solidFill>
                <a:latin typeface="Calibri"/>
              </a:rPr>
              <a:t>  </a:t>
            </a:r>
            <a:r>
              <a:rPr sz="900">
                <a:solidFill>
                  <a:srgbClr val="F8FAFC"/>
                </a:solidFill>
                <a:latin typeface="Calibri"/>
              </a:rPr>
              <a:t>[3]  FAO  —  small-craft stability rule of thumb (GM).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14B8A6"/>
                </a:solidFill>
                <a:latin typeface="Calibri"/>
              </a:rPr>
              <a:t>  </a:t>
            </a:r>
            <a:r>
              <a:rPr sz="900">
                <a:solidFill>
                  <a:srgbClr val="F8FAFC"/>
                </a:solidFill>
                <a:latin typeface="Calibri"/>
              </a:rPr>
              <a:t>[4]  Open-Meteo Marine API  —  ERA5 + NWP.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14B8A6"/>
                </a:solidFill>
                <a:latin typeface="Calibri"/>
              </a:rPr>
              <a:t>  </a:t>
            </a:r>
            <a:r>
              <a:rPr sz="900">
                <a:solidFill>
                  <a:srgbClr val="F8FAFC"/>
                </a:solidFill>
                <a:latin typeface="Calibri"/>
              </a:rPr>
              <a:t>[5]  MET Norway (yr.no)  —  Locationforecast 2.0.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14B8A6"/>
                </a:solidFill>
                <a:latin typeface="Calibri"/>
              </a:rPr>
              <a:t>  </a:t>
            </a:r>
            <a:r>
              <a:rPr sz="900">
                <a:solidFill>
                  <a:srgbClr val="F8FAFC"/>
                </a:solidFill>
                <a:latin typeface="Calibri"/>
              </a:rPr>
              <a:t>[6]  NOAA NDBC  —  realtime buoy network.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14B8A6"/>
                </a:solidFill>
                <a:latin typeface="Calibri"/>
              </a:rPr>
              <a:t>  </a:t>
            </a:r>
            <a:r>
              <a:rPr sz="900">
                <a:solidFill>
                  <a:srgbClr val="F8FAFC"/>
                </a:solidFill>
                <a:latin typeface="Calibri"/>
              </a:rPr>
              <a:t>[7]  Copernicus Marine Service  —  global ocean model.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14B8A6"/>
                </a:solidFill>
                <a:latin typeface="Calibri"/>
              </a:rPr>
              <a:t>  </a:t>
            </a:r>
            <a:r>
              <a:rPr sz="900">
                <a:solidFill>
                  <a:srgbClr val="F8FAFC"/>
                </a:solidFill>
                <a:latin typeface="Calibri"/>
              </a:rPr>
              <a:t>[8]  IMO Resolution A.601(15)  —  stability documentation.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14B8A6"/>
                </a:solidFill>
                <a:latin typeface="Calibri"/>
              </a:rPr>
              <a:t>  </a:t>
            </a:r>
            <a:r>
              <a:rPr sz="900">
                <a:solidFill>
                  <a:srgbClr val="F8FAFC"/>
                </a:solidFill>
                <a:latin typeface="Calibri"/>
              </a:rPr>
              <a:t>[9]  INCOIS  —  Indian Ocean operational forecasts.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14B8A6"/>
                </a:solidFill>
                <a:latin typeface="Calibri"/>
              </a:rPr>
              <a:t>  </a:t>
            </a:r>
            <a:r>
              <a:rPr sz="900">
                <a:solidFill>
                  <a:srgbClr val="F8FAFC"/>
                </a:solidFill>
                <a:latin typeface="Calibri"/>
              </a:rPr>
              <a:t>[10] PHASE16_KANYAKUMARI_AUDIT.md  —  live validation log.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14B8A6"/>
                </a:solidFill>
                <a:latin typeface="Calibri"/>
              </a:rPr>
              <a:t>  </a:t>
            </a:r>
            <a:r>
              <a:rPr sz="900">
                <a:solidFill>
                  <a:srgbClr val="F8FAFC"/>
                </a:solidFill>
                <a:latin typeface="Calibri"/>
              </a:rPr>
              <a:t>[11] risk_engine/  —  hazards.py · circuit_breaker.py · engine.py (in-repo).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