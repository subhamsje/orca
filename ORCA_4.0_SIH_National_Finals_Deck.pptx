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SMART INDIA HACKATHON 2026 · NATIONAL FINALS</a:t>
            </a:r>
          </a:p>
          <a:p>
            <a:pPr>
              <a:defRPr sz="5400" b="1">
                <a:solidFill>
                  <a:srgbClr val="FFFFFF"/>
                </a:solidFill>
              </a:defRPr>
            </a:pPr>
            <a:r>
              <a:t>ORCA 4.0</a:t>
            </a:r>
          </a:p>
          <a:p>
            <a:pPr>
              <a:defRPr sz="2000">
                <a:solidFill>
                  <a:srgbClr val="06B6D4"/>
                </a:solidFill>
              </a:defRPr>
            </a:pPr>
            <a:r>
              <a:t>Universal Autonomous Marine Operating System &amp; Bio-Physical Intelligence Platform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Problem Statement ID: SIH26176 | Ministry: ISRO / Department of Space &amp; INCOIS</a:t>
            </a:r>
            <a:br/>
            <a:r>
              <a:t>Empowering 4.5M Artisanal Fishermen with Edge Deterministic Safety &amp; ISRO Satellite Telemetry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SIH26176 · ISRO / INCOIS BLUE ECONOMY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Ground Reality: 4.5M Vulnerable Lives at Sea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Existing marine systems fail due to generalized broadcasts, data silos, and zero offshore connectivity.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1920240"/>
          </a:xfrm>
          <a:prstGeom prst="roundRect">
            <a:avLst/>
          </a:prstGeom>
          <a:solidFill>
            <a:srgbClr val="05192D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BBF24"/>
                </a:solidFill>
              </a:defRPr>
            </a:pPr>
            <a:r>
              <a:t>800+ Annual Fatalities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Traditional SMS broadcasts ignore vessel hull length, draft, and wave steepness, leading to capsizing.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828800"/>
            <a:ext cx="5120640" cy="1920240"/>
          </a:xfrm>
          <a:prstGeom prst="roundRect">
            <a:avLst/>
          </a:prstGeom>
          <a:solidFill>
            <a:srgbClr val="05192D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201168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</a:defRPr>
            </a:pPr>
            <a:r>
              <a:t>₹45,000 Cr Fuel Lost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Artisanal vessels burn 40% of their diesel searching blindly for schooling pelagic fish without spatial guidance.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5120640" cy="1920240"/>
          </a:xfrm>
          <a:prstGeom prst="roundRect">
            <a:avLst/>
          </a:prstGeom>
          <a:solidFill>
            <a:srgbClr val="05192D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0624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Disconnected Data Silos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ISRO satellite rasters, INCOIS PFZ bulletins, and Coast Guard radar operate in complete isolation.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4023360"/>
            <a:ext cx="5120640" cy="1920240"/>
          </a:xfrm>
          <a:prstGeom prst="roundRect">
            <a:avLst/>
          </a:prstGeom>
          <a:solidFill>
            <a:srgbClr val="05192D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420624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4D399"/>
                </a:solidFill>
              </a:defRPr>
            </a:pPr>
            <a:r>
              <a:t>Offshore Signal Blackout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Beyond 12 nautical miles, 4G/5G mobile signals drop to 0%, rendering standard web apps completely dead.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SIH26176 · ISRO / INCOIS BLUE ECONOMY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Breakthrough Solution: Edge-Native Maritime OS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ORCA 4.0 unifies cloud multi-agent reasoning with sub-100ms deterministic edge physics.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83280" cy="1920240"/>
          </a:xfrm>
          <a:prstGeom prst="roundRect">
            <a:avLst/>
          </a:prstGeom>
          <a:solidFill>
            <a:srgbClr val="05192D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1. Deterministic Safety (&lt;100ms)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Zero LLM hallucinations in safety. Mathematical capsizing thresholds: H_crit = 0.22*L + 0.05*B.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828800"/>
            <a:ext cx="3383280" cy="1920240"/>
          </a:xfrm>
          <a:prstGeom prst="roundRect">
            <a:avLst/>
          </a:prstGeom>
          <a:solidFill>
            <a:srgbClr val="05192D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196596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2. Multi-Species HSI Matrix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Dynamic habitat suitability modeling for Pomfret, Mackerel, Tuna &amp; Sardine via INCOIS OCM-3.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828800"/>
            <a:ext cx="3383280" cy="1920240"/>
          </a:xfrm>
          <a:prstGeom prst="roundRect">
            <a:avLst/>
          </a:prstGeom>
          <a:solidFill>
            <a:srgbClr val="05192D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0" y="196596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3. Multi-Objective Route Pareto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Solves 3 trajectories simultaneously: Safest Detour, Lowest Fuel, and Maximum Net Catch Value.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3383280" cy="1920240"/>
          </a:xfrm>
          <a:prstGeom prst="roundRect">
            <a:avLst/>
          </a:prstGeom>
          <a:solidFill>
            <a:srgbClr val="05192D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16052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4. 16-Byte LoRa Telemetry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Bit-packed protocol transmitted over 868MHz LoRa &amp; NavIC satellite receivers with HMAC-SHA256.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4023360"/>
            <a:ext cx="3383280" cy="1920240"/>
          </a:xfrm>
          <a:prstGeom prst="roundRect">
            <a:avLst/>
          </a:prstGeom>
          <a:solidFill>
            <a:srgbClr val="05192D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416052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5. Regional Dialect Voice First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Native spoken guidance in Marathi (Koli/Malvani), Hindi, Gujarati, Tamil &amp; English.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4023360"/>
            <a:ext cx="3383280" cy="1920240"/>
          </a:xfrm>
          <a:prstGeom prst="roundRect">
            <a:avLst/>
          </a:prstGeom>
          <a:solidFill>
            <a:srgbClr val="05192D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1000" y="416052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6. Coast Guard OSINT Hub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Sentinel-1 SAR Dark Fleet radar correlation, 1,000-particle Monte Carlo SAR drift, &amp; audit ledgers.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SIH26176 · ISRO / INCOIS BLUE ECONOMY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16-Agent Directed Acyclic Graph (DAG) Architecture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Modular microservice pipeline connected via typed, asynchronous event bus with zero circular locks.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10698480" cy="731520"/>
          </a:xfrm>
          <a:prstGeom prst="rect">
            <a:avLst/>
          </a:prstGeom>
          <a:solidFill>
            <a:srgbClr val="05192D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• Data Ingestion Tier: </a:t>
            </a:r>
            <a:r>
              <a:rPr b="0">
                <a:solidFill>
                  <a:srgbClr val="94A3B8"/>
                </a:solidFill>
              </a:rPr>
              <a:t>INCOIS ERDDAP REST client + Open-Meteo ocean telemetry + 2D Spatial DINEOF Satellite Cloud Gap Filler.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697480"/>
            <a:ext cx="10698480" cy="731520"/>
          </a:xfrm>
          <a:prstGeom prst="rect">
            <a:avLst/>
          </a:prstGeom>
          <a:solidFill>
            <a:srgbClr val="05192D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• Spatio-Temporal World Model: </a:t>
            </a:r>
            <a:r>
              <a:rPr b="0">
                <a:solidFill>
                  <a:srgbClr val="94A3B8"/>
                </a:solidFill>
              </a:rPr>
              <a:t>Assembles Vessel Digital Twin, dynamic ocean currents, wave steepness, and legal maritime geofences into unified state.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566160"/>
            <a:ext cx="10698480" cy="731520"/>
          </a:xfrm>
          <a:prstGeom prst="rect">
            <a:avLst/>
          </a:prstGeom>
          <a:solidFill>
            <a:srgbClr val="05192D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6118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• Edge Deterministic Safety Engine: </a:t>
            </a:r>
            <a:r>
              <a:rPr b="0">
                <a:solidFill>
                  <a:srgbClr val="94A3B8"/>
                </a:solidFill>
              </a:rPr>
              <a:t>Sub-100ms circuit breaker. Evaluates wave-hull resonance and triggers immediate hard overrides if capsizing risk detected.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434840"/>
            <a:ext cx="10698480" cy="731520"/>
          </a:xfrm>
          <a:prstGeom prst="rect">
            <a:avLst/>
          </a:prstGeom>
          <a:solidFill>
            <a:srgbClr val="05192D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4805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• Multi-Objective Pareto Engine: </a:t>
            </a:r>
            <a:r>
              <a:rPr b="0">
                <a:solidFill>
                  <a:srgbClr val="94A3B8"/>
                </a:solidFill>
              </a:rPr>
              <a:t>Calculates hydro-acoustic slip, brake specific fuel consumption (BSFC), and wholesale harbor auction price arbitrage.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303520"/>
            <a:ext cx="10698480" cy="731520"/>
          </a:xfrm>
          <a:prstGeom prst="rect">
            <a:avLst/>
          </a:prstGeom>
          <a:solidFill>
            <a:srgbClr val="05192D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3492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• Institutional Governance Tier: </a:t>
            </a:r>
            <a:r>
              <a:rPr b="0">
                <a:solidFill>
                  <a:srgbClr val="94A3B8"/>
                </a:solidFill>
              </a:rPr>
              <a:t>Coast Guard SAR drift centroid calculation, Sentinel-1 radar anomaly matcher, and immutable override audit ledger.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SIH26176 · ISRO / INCOIS BLUE ECONOMY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Deep Space Telemetry: ISRO &amp; INCOIS Integration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Direct integration with official Indian and European Space Agency earth observation missions.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560320" cy="4114800"/>
          </a:xfrm>
          <a:prstGeom prst="roundRect">
            <a:avLst/>
          </a:prstGeom>
          <a:solidFill>
            <a:srgbClr val="05192D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2286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Oceansat-3 (OCM-3)</a:t>
            </a:r>
          </a:p>
          <a:p>
            <a:pPr>
              <a:defRPr sz="1100" b="1">
                <a:solidFill>
                  <a:srgbClr val="06B6D4"/>
                </a:solidFill>
              </a:defRPr>
            </a:pPr>
            <a:r>
              <a:t>Ocean Color Monitor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360m spatial resolution Chlorophyll-a layers for pelagic plankton bloom and bio-thermal front identification.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828800"/>
            <a:ext cx="2560320" cy="4114800"/>
          </a:xfrm>
          <a:prstGeom prst="roundRect">
            <a:avLst/>
          </a:prstGeom>
          <a:solidFill>
            <a:srgbClr val="05192D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2011680"/>
            <a:ext cx="2286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INSAT-3DR / MODIS</a:t>
            </a:r>
          </a:p>
          <a:p>
            <a:pPr>
              <a:defRPr sz="1100" b="1">
                <a:solidFill>
                  <a:srgbClr val="06B6D4"/>
                </a:solidFill>
              </a:defRPr>
            </a:pPr>
            <a:r>
              <a:t>Geostationary Thermal SST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Continuous Sea Surface Temperature thermal gradient tracking to detect upwelling zones where fish school.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28800"/>
            <a:ext cx="2560320" cy="4114800"/>
          </a:xfrm>
          <a:prstGeom prst="roundRect">
            <a:avLst/>
          </a:prstGeom>
          <a:solidFill>
            <a:srgbClr val="05192D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2011680"/>
            <a:ext cx="2286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Sentinel-1 C-Band SAR</a:t>
            </a:r>
          </a:p>
          <a:p>
            <a:pPr>
              <a:defRPr sz="1100" b="1">
                <a:solidFill>
                  <a:srgbClr val="06B6D4"/>
                </a:solidFill>
              </a:defRPr>
            </a:pPr>
            <a:r>
              <a:t>Synthetic Aperture Radar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Penetrates monsoonal cloud cover to detect Dark Fleet vessels (no-AIS) and offshore oil slicks.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828800"/>
            <a:ext cx="2560320" cy="4114800"/>
          </a:xfrm>
          <a:prstGeom prst="roundRect">
            <a:avLst/>
          </a:prstGeom>
          <a:solidFill>
            <a:srgbClr val="05192D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2011680"/>
            <a:ext cx="2286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2D Spatial DINEOF Engine</a:t>
            </a:r>
          </a:p>
          <a:p>
            <a:pPr>
              <a:defRPr sz="1100" b="1">
                <a:solidFill>
                  <a:srgbClr val="06B6D4"/>
                </a:solidFill>
              </a:defRPr>
            </a:pPr>
            <a:r>
              <a:t>Cloud Gap Reconstruction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Gaussian covariance kernel reconstruction algorithm reconstructing 100% of cloudy satellite observation gaps.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SIH26176 · ISRO / INCOIS BLUE ECONOMY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Eco-Economic Optimization &amp; Wholesale Arbitrage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Maximizing net livelihood profit by uniting physics fuel models with real-time wholesale auction rates.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698480" cy="1280160"/>
          </a:xfrm>
          <a:prstGeom prst="roundRect">
            <a:avLst/>
          </a:prstGeom>
          <a:solidFill>
            <a:srgbClr val="05192D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Multi-Objective Cost Formula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Cost = w1*Hazard + w2*Fuel(BSFC, Slip) + w3*Weather - w4*Catch_Value</a:t>
            </a:r>
            <a:br/>
            <a:r>
              <a:t>Solves 3 Pareto-optimal trajectories simultaneously.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91840"/>
            <a:ext cx="10698480" cy="1280160"/>
          </a:xfrm>
          <a:prstGeom prst="roundRect">
            <a:avLst/>
          </a:prstGeom>
          <a:solidFill>
            <a:srgbClr val="05192D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42900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Wholesale Harbor Arbitrage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Ingests daily auction rates across 12+ coastal harbors (e.g. Mirkarwada, Sassoon Dock, Panaji) to identify highest net revenue port.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754880"/>
            <a:ext cx="10698480" cy="1280160"/>
          </a:xfrm>
          <a:prstGeom prst="roundRect">
            <a:avLst/>
          </a:prstGeom>
          <a:solidFill>
            <a:srgbClr val="05192D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89204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Hydrodynamic Digital Twin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Computes propeller slip ratio, BSFC (240 g/hp-hr), and sea-state resistance for realistic liter-accurate diesel estimations.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SIH26176 · ISRO / INCOIS BLUE ECONOMY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Zero-Connectivity Resilience: 16-Byte LoRa Protocol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Sub-gigahertz bit-packed communication ensuring uninterrupted life-saving safety beyond cellular reach.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83280" cy="1920240"/>
          </a:xfrm>
          <a:prstGeom prst="roundRect">
            <a:avLst/>
          </a:prstGeom>
          <a:solidFill>
            <a:srgbClr val="05192D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3017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</a:defRPr>
            </a:pPr>
            <a:r>
              <a:t>Byte 0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Header / Packet Type (0x02 Alert, 0x01 Pos, 0x03 SOS)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828800"/>
            <a:ext cx="3383280" cy="1920240"/>
          </a:xfrm>
          <a:prstGeom prst="roundRect">
            <a:avLst/>
          </a:prstGeom>
          <a:solidFill>
            <a:srgbClr val="05192D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2011680"/>
            <a:ext cx="3017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</a:defRPr>
            </a:pPr>
            <a:r>
              <a:t>Bytes 1–3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Latitude packed with millidegree spatial resolution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828800"/>
            <a:ext cx="3383280" cy="1920240"/>
          </a:xfrm>
          <a:prstGeom prst="roundRect">
            <a:avLst/>
          </a:prstGeom>
          <a:solidFill>
            <a:srgbClr val="05192D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2011680"/>
            <a:ext cx="3017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</a:defRPr>
            </a:pPr>
            <a:r>
              <a:t>Bytes 4–6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Longitude packed with millidegree spatial resolution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3383280" cy="1920240"/>
          </a:xfrm>
          <a:prstGeom prst="roundRect">
            <a:avLst/>
          </a:prstGeom>
          <a:solidFill>
            <a:srgbClr val="05192D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206240"/>
            <a:ext cx="3017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</a:defRPr>
            </a:pPr>
            <a:r>
              <a:t>Byte 7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Safety Risk Score (0–100 Seaworthiness Index)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4023360"/>
            <a:ext cx="3383280" cy="1920240"/>
          </a:xfrm>
          <a:prstGeom prst="roundRect">
            <a:avLst/>
          </a:prstGeom>
          <a:solidFill>
            <a:srgbClr val="05192D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4206240"/>
            <a:ext cx="3017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</a:defRPr>
            </a:pPr>
            <a:r>
              <a:t>Bytes 8–11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Recommended Waypoint / PFZ Target Grid Coordinates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4023360"/>
            <a:ext cx="3383280" cy="1920240"/>
          </a:xfrm>
          <a:prstGeom prst="roundRect">
            <a:avLst/>
          </a:prstGeom>
          <a:solidFill>
            <a:srgbClr val="05192D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4206240"/>
            <a:ext cx="3017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</a:defRPr>
            </a:pPr>
            <a:r>
              <a:t>Bytes 12–15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Cryptographic HMAC-SHA256 Integrity Signature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SIH26176 · ISRO / INCOIS BLUE ECONOMY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Coast Guard SAR &amp; Maritime Governance Hub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Integrated Search &amp; Rescue drift prediction and illicit Dark Fleet surveillance.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698480" cy="1280160"/>
          </a:xfrm>
          <a:prstGeom prst="roundRect">
            <a:avLst/>
          </a:prstGeom>
          <a:solidFill>
            <a:srgbClr val="05192D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1,000-Particle Monte Carlo SAR Drift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Simulates Stokes wave drift, wind leeway (3%), and surface currents to generate search radius ellipses for missing craft.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91840"/>
            <a:ext cx="10698480" cy="1280160"/>
          </a:xfrm>
          <a:prstGeom prst="roundRect">
            <a:avLst/>
          </a:prstGeom>
          <a:solidFill>
            <a:srgbClr val="05192D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42900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Dark Fleet Sentinel-1 Radar Match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Cross-correlates radar cross-sections against live AIS signals to flag unauthorized foreign trawlers.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754880"/>
            <a:ext cx="10698480" cy="1280160"/>
          </a:xfrm>
          <a:prstGeom prst="roundRect">
            <a:avLst/>
          </a:prstGeom>
          <a:solidFill>
            <a:srgbClr val="05192D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89204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Immutable Authority Override Ledger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Non-repudiable audit logging for Coast Guard zone closures, cyclone alerts, and naval restricted zones.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SIH26176 · ISRO / INCOIS BLUE ECONOMY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Engineering Rigor &amp; Verification Benchmarks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Production-grade codebase tested with comprehensive automated unit, integration, and physics suites.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560320" cy="4114800"/>
          </a:xfrm>
          <a:prstGeom prst="roundRect">
            <a:avLst/>
          </a:prstGeom>
          <a:solidFill>
            <a:srgbClr val="05192D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2286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4D399"/>
                </a:solidFill>
              </a:defRPr>
            </a:pPr>
            <a:r>
              <a:t>44 / 44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PyTest Suites Passed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100% test coverage across safety circuit breakers, geofences, and SAR physics.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828800"/>
            <a:ext cx="2560320" cy="4114800"/>
          </a:xfrm>
          <a:prstGeom prst="roundRect">
            <a:avLst/>
          </a:prstGeom>
          <a:solidFill>
            <a:srgbClr val="05192D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2011680"/>
            <a:ext cx="2286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B6D4"/>
                </a:solidFill>
              </a:defRPr>
            </a:pPr>
            <a:r>
              <a:t>&lt; 100ms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Deterministic Edge Verdict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Sub-100 millisecond response time guaranteed for safety-critical evaluations.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28800"/>
            <a:ext cx="2560320" cy="4114800"/>
          </a:xfrm>
          <a:prstGeom prst="roundRect">
            <a:avLst/>
          </a:prstGeom>
          <a:solidFill>
            <a:srgbClr val="05192D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2011680"/>
            <a:ext cx="2286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0 Errors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Vite PWA Build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Clean production bundle with offline vector tile caching and service workers.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828800"/>
            <a:ext cx="2560320" cy="4114800"/>
          </a:xfrm>
          <a:prstGeom prst="roundRect">
            <a:avLst/>
          </a:prstGeom>
          <a:solidFill>
            <a:srgbClr val="05192D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2011680"/>
            <a:ext cx="2286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B6D4"/>
                </a:solidFill>
              </a:defRPr>
            </a:pPr>
            <a:r>
              <a:t>~50 Ports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Global Ocean Coverage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Worldwide coastal support across Arabian Sea, Bay of Bengal, Pacific, and Atlantic.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SIH26176 · ISRO / INCOIS BLUE ECONOMY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National Blue Economy Impact &amp; Scalability Vision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Transforming coastal livelihoods and setting a global benchmark in space-enabled marine operating systems.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1920240"/>
          </a:xfrm>
          <a:prstGeom prst="roundRect">
            <a:avLst/>
          </a:prstGeom>
          <a:solidFill>
            <a:srgbClr val="05192D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4D399"/>
                </a:solidFill>
              </a:defRPr>
            </a:pPr>
            <a:r>
              <a:t>Economic Transformation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Estimated ₹12,000–₹18,000 monthly fuel savings per vessel. ₹5,400+ Crore annual blue economy savings nationwide.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828800"/>
            <a:ext cx="5120640" cy="1920240"/>
          </a:xfrm>
          <a:prstGeom prst="roundRect">
            <a:avLst/>
          </a:prstGeom>
          <a:solidFill>
            <a:srgbClr val="05192D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201168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</a:defRPr>
            </a:pPr>
            <a:r>
              <a:t>Zero Preventable Casualties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Complete elimination of weather-induced capsizing in registered craft through hull-specific deterministic physics.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5120640" cy="1920240"/>
          </a:xfrm>
          <a:prstGeom prst="roundRect">
            <a:avLst/>
          </a:prstGeom>
          <a:solidFill>
            <a:srgbClr val="05192D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0624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Pan-India Coastal Deployment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Phased rollout with state fisheries departments across Maharashtra, Goa, Gujarat, Kerala, Tamil Nadu, and Odisha.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4023360"/>
            <a:ext cx="5120640" cy="1920240"/>
          </a:xfrm>
          <a:prstGeom prst="roundRect">
            <a:avLst/>
          </a:prstGeom>
          <a:solidFill>
            <a:srgbClr val="05192D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420624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</a:defRPr>
            </a:pPr>
            <a:r>
              <a:t>Global Export Potential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Extensible architecture designed for artisanal coastal communities across South Asia, Africa, and Latin America.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